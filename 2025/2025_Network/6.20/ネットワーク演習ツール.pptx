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8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23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63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58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01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47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95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502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50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24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18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9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C9120-AABE-41BC-9EB8-45A6EC3AAC1B}" type="datetimeFigureOut">
              <a:rPr kumimoji="1" lang="ja-JP" altLang="en-US" smtClean="0"/>
              <a:t>2025/6/20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79EA4-F9A1-431D-A522-99C403AB7E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92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96286" y="478172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192.168.101.11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696285" y="2065089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192.168.102.11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696285" y="3652006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192.168.103.11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96284" y="5238923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192.168.104.11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043182" y="478172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192.168.101.12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043181" y="2065089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192.168.102.12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5043181" y="3652006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192.168.103.12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5043180" y="5238923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IPv4</a:t>
            </a:r>
            <a:r>
              <a:rPr kumimoji="1" lang="ja-JP" altLang="en-US" dirty="0">
                <a:solidFill>
                  <a:schemeClr val="tx1"/>
                </a:solidFill>
              </a:rPr>
              <a:t>アドレス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192.168.104.12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サブネットマスク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255.255.255.0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60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96286" y="478172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MAC</a:t>
            </a:r>
            <a:r>
              <a:rPr kumimoji="1" lang="ja-JP" altLang="en-US" sz="2800" dirty="0">
                <a:solidFill>
                  <a:schemeClr val="tx1"/>
                </a:solidFill>
              </a:rPr>
              <a:t>アドレス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CD:BC:49:0A:00:01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696285" y="2065089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CD:BC:49:0A:00:02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696285" y="3652006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CD:BC:49:0A:00:03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96284" y="5238923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CD:BC:49:0A:00:04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613633" y="478172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MAC</a:t>
            </a:r>
            <a:r>
              <a:rPr kumimoji="1" lang="ja-JP" altLang="en-US" sz="2800" dirty="0">
                <a:solidFill>
                  <a:schemeClr val="tx1"/>
                </a:solidFill>
              </a:rPr>
              <a:t>アドレス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CD:BC:49:0A:00:05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613632" y="2065089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CD:BC:49:0A:00:06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5613632" y="3652006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CD:BC:49:0A:00:07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5613631" y="5238923"/>
            <a:ext cx="3934437" cy="125834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MAC</a:t>
            </a:r>
            <a:r>
              <a:rPr lang="ja-JP" altLang="en-US" sz="2800" dirty="0">
                <a:solidFill>
                  <a:schemeClr val="tx1"/>
                </a:solidFill>
              </a:rPr>
              <a:t>アドレス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CD:BC:49:0A:00:08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66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96286" y="478172"/>
            <a:ext cx="3934437" cy="587229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>
                <a:solidFill>
                  <a:schemeClr val="tx1"/>
                </a:solidFill>
              </a:rPr>
              <a:t>宛先</a:t>
            </a:r>
            <a:r>
              <a:rPr kumimoji="1" lang="en-US" altLang="ja-JP" b="1" dirty="0">
                <a:solidFill>
                  <a:schemeClr val="tx1"/>
                </a:solidFill>
              </a:rPr>
              <a:t>MAC</a:t>
            </a:r>
            <a:r>
              <a:rPr kumimoji="1" lang="ja-JP" altLang="en-US" b="1" dirty="0">
                <a:solidFill>
                  <a:schemeClr val="tx1"/>
                </a:solidFill>
              </a:rPr>
              <a:t>アドレス</a:t>
            </a:r>
            <a:endParaRPr kumimoji="1" lang="en-US" altLang="ja-JP" b="1" dirty="0">
              <a:solidFill>
                <a:schemeClr val="tx1"/>
              </a:solidFill>
            </a:endParaRPr>
          </a:p>
          <a:p>
            <a:r>
              <a:rPr kumimoji="1" lang="ja-JP" altLang="en-US" b="1" dirty="0">
                <a:solidFill>
                  <a:schemeClr val="tx1"/>
                </a:solidFill>
              </a:rPr>
              <a:t>□</a:t>
            </a:r>
            <a:r>
              <a:rPr kumimoji="1" lang="en-US" altLang="ja-JP" b="1" dirty="0">
                <a:solidFill>
                  <a:schemeClr val="tx1"/>
                </a:solidFill>
              </a:rPr>
              <a:t>CD:BC:49:0A:00:</a:t>
            </a:r>
          </a:p>
          <a:p>
            <a:r>
              <a:rPr lang="ja-JP" altLang="en-US" b="1" dirty="0">
                <a:solidFill>
                  <a:schemeClr val="tx1"/>
                </a:solidFill>
              </a:rPr>
              <a:t>□</a:t>
            </a:r>
            <a:r>
              <a:rPr lang="en-US" altLang="ja-JP" b="1" dirty="0">
                <a:solidFill>
                  <a:schemeClr val="tx1"/>
                </a:solidFill>
              </a:rPr>
              <a:t>FF:FF:FF:FF:FF:FF</a:t>
            </a:r>
          </a:p>
          <a:p>
            <a:r>
              <a:rPr lang="ja-JP" altLang="en-US" b="1" dirty="0">
                <a:solidFill>
                  <a:schemeClr val="tx1"/>
                </a:solidFill>
              </a:rPr>
              <a:t>送信元</a:t>
            </a:r>
            <a:r>
              <a:rPr lang="en-US" altLang="ja-JP" b="1" dirty="0">
                <a:solidFill>
                  <a:schemeClr val="tx1"/>
                </a:solidFill>
              </a:rPr>
              <a:t>MAC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■</a:t>
            </a:r>
            <a:r>
              <a:rPr lang="en-US" altLang="ja-JP" b="1" dirty="0">
                <a:solidFill>
                  <a:schemeClr val="tx1"/>
                </a:solidFill>
              </a:rPr>
              <a:t>CD:BC:49:0A:00:</a:t>
            </a: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宛先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</a:t>
            </a:r>
            <a:r>
              <a:rPr lang="ja-JP" altLang="en-US" b="1" dirty="0">
                <a:solidFill>
                  <a:schemeClr val="tx1"/>
                </a:solidFill>
              </a:rPr>
              <a:t>　　　　　　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                     </a:t>
            </a:r>
            <a:r>
              <a:rPr lang="ja-JP" altLang="en-US" b="1" dirty="0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972499" y="2367094"/>
            <a:ext cx="1448500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972499" y="1280719"/>
            <a:ext cx="1448500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1816217" y="4004345"/>
            <a:ext cx="1077985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3248637" y="4004345"/>
            <a:ext cx="1077985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1816217" y="5143849"/>
            <a:ext cx="1077985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3248637" y="5143849"/>
            <a:ext cx="1077985" cy="720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5429074" y="483764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</a:t>
            </a:r>
            <a:r>
              <a:rPr lang="ja-JP" altLang="en-US" b="1" dirty="0">
                <a:solidFill>
                  <a:schemeClr val="tx1"/>
                </a:solidFill>
              </a:rPr>
              <a:t>　　　　　　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                     </a:t>
            </a:r>
            <a:r>
              <a:rPr lang="ja-JP" altLang="en-US" b="1" dirty="0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6549005" y="1216543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7981425" y="1216543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549005" y="2356047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7981425" y="2356047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5429074" y="3604609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</a:t>
            </a:r>
            <a:r>
              <a:rPr lang="ja-JP" altLang="en-US" b="1" dirty="0">
                <a:solidFill>
                  <a:schemeClr val="tx1"/>
                </a:solidFill>
              </a:rPr>
              <a:t>　　　　　　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</a:t>
            </a:r>
            <a:r>
              <a:rPr lang="en-US" altLang="ja-JP" b="1" dirty="0">
                <a:solidFill>
                  <a:schemeClr val="tx1"/>
                </a:solidFill>
              </a:rPr>
              <a:t>IP</a:t>
            </a:r>
            <a:r>
              <a:rPr lang="ja-JP" altLang="en-US" b="1" dirty="0">
                <a:solidFill>
                  <a:schemeClr val="tx1"/>
                </a:solidFill>
              </a:rPr>
              <a:t>アドレス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en-US" altLang="ja-JP" b="1" dirty="0">
                <a:solidFill>
                  <a:schemeClr val="tx1"/>
                </a:solidFill>
              </a:rPr>
              <a:t>192.168.                     </a:t>
            </a:r>
            <a:r>
              <a:rPr lang="ja-JP" altLang="en-US" b="1" dirty="0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.</a:t>
            </a:r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4" name="正方形/長方形 33"/>
          <p:cNvSpPr/>
          <p:nvPr/>
        </p:nvSpPr>
        <p:spPr>
          <a:xfrm>
            <a:off x="6549005" y="4337388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7981425" y="4337388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6549005" y="5476892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7981425" y="5476892"/>
            <a:ext cx="1077985" cy="54654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97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/>
          <p:cNvSpPr/>
          <p:nvPr/>
        </p:nvSpPr>
        <p:spPr>
          <a:xfrm>
            <a:off x="823518" y="441820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宛先ポート番号　　</a:t>
            </a:r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送信元ポート番号</a:t>
            </a:r>
          </a:p>
        </p:txBody>
      </p:sp>
      <p:sp>
        <p:nvSpPr>
          <p:cNvPr id="35" name="正方形/長方形 34"/>
          <p:cNvSpPr/>
          <p:nvPr/>
        </p:nvSpPr>
        <p:spPr>
          <a:xfrm>
            <a:off x="3021434" y="818888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3021434" y="1908250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823518" y="3547144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宛先ポート番号　　</a:t>
            </a:r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送信元ポート番号</a:t>
            </a:r>
          </a:p>
        </p:txBody>
      </p:sp>
      <p:sp>
        <p:nvSpPr>
          <p:cNvPr id="28" name="正方形/長方形 27"/>
          <p:cNvSpPr/>
          <p:nvPr/>
        </p:nvSpPr>
        <p:spPr>
          <a:xfrm>
            <a:off x="3021434" y="3924212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29" name="正方形/長方形 28"/>
          <p:cNvSpPr/>
          <p:nvPr/>
        </p:nvSpPr>
        <p:spPr>
          <a:xfrm>
            <a:off x="3021434" y="5013574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6193870" y="441820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宛先ポート番号　　</a:t>
            </a:r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送信元ポート番号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8391786" y="818888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8391786" y="1908250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6193870" y="3547144"/>
            <a:ext cx="3934437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b="1" dirty="0">
                <a:solidFill>
                  <a:schemeClr val="tx1"/>
                </a:solidFill>
              </a:rPr>
              <a:t>宛先ポート番号　　</a:t>
            </a:r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送信元ポート番号</a:t>
            </a:r>
          </a:p>
        </p:txBody>
      </p:sp>
      <p:sp>
        <p:nvSpPr>
          <p:cNvPr id="39" name="正方形/長方形 38"/>
          <p:cNvSpPr/>
          <p:nvPr/>
        </p:nvSpPr>
        <p:spPr>
          <a:xfrm>
            <a:off x="8391786" y="3924212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8391786" y="5013574"/>
            <a:ext cx="1231784" cy="7122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9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/>
          <p:cNvSpPr/>
          <p:nvPr/>
        </p:nvSpPr>
        <p:spPr>
          <a:xfrm>
            <a:off x="823518" y="441820"/>
            <a:ext cx="4865615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</a:rPr>
              <a:t>NIC</a:t>
            </a:r>
            <a:r>
              <a:rPr lang="ja-JP" altLang="en-US" b="1" dirty="0">
                <a:solidFill>
                  <a:schemeClr val="tx1"/>
                </a:solidFill>
              </a:rPr>
              <a:t>の</a:t>
            </a:r>
            <a:r>
              <a:rPr lang="en-US" altLang="ja-JP" b="1" dirty="0">
                <a:solidFill>
                  <a:schemeClr val="tx1"/>
                </a:solidFill>
              </a:rPr>
              <a:t>MAC</a:t>
            </a:r>
            <a:r>
              <a:rPr lang="ja-JP" altLang="en-US" b="1" dirty="0">
                <a:solidFill>
                  <a:schemeClr val="tx1"/>
                </a:solidFill>
              </a:rPr>
              <a:t>アドレス　　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□</a:t>
            </a:r>
            <a:r>
              <a:rPr lang="en-US" altLang="ja-JP" b="1" dirty="0">
                <a:solidFill>
                  <a:schemeClr val="tx1"/>
                </a:solidFill>
              </a:rPr>
              <a:t>CD:BC:49:0A:00:</a:t>
            </a:r>
          </a:p>
        </p:txBody>
      </p:sp>
      <p:sp>
        <p:nvSpPr>
          <p:cNvPr id="34" name="正方形/長方形 33"/>
          <p:cNvSpPr/>
          <p:nvPr/>
        </p:nvSpPr>
        <p:spPr>
          <a:xfrm>
            <a:off x="3231158" y="1043377"/>
            <a:ext cx="2095850" cy="136429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823518" y="3698146"/>
            <a:ext cx="4865615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</a:rPr>
              <a:t>NIC</a:t>
            </a:r>
            <a:r>
              <a:rPr lang="ja-JP" altLang="en-US" b="1" dirty="0">
                <a:solidFill>
                  <a:schemeClr val="tx1"/>
                </a:solidFill>
              </a:rPr>
              <a:t>の</a:t>
            </a:r>
            <a:r>
              <a:rPr lang="en-US" altLang="ja-JP" b="1" dirty="0">
                <a:solidFill>
                  <a:schemeClr val="tx1"/>
                </a:solidFill>
              </a:rPr>
              <a:t>MAC</a:t>
            </a:r>
            <a:r>
              <a:rPr lang="ja-JP" altLang="en-US" b="1" dirty="0">
                <a:solidFill>
                  <a:schemeClr val="tx1"/>
                </a:solidFill>
              </a:rPr>
              <a:t>アドレス　　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□</a:t>
            </a:r>
            <a:r>
              <a:rPr lang="en-US" altLang="ja-JP" b="1" dirty="0">
                <a:solidFill>
                  <a:schemeClr val="tx1"/>
                </a:solidFill>
              </a:rPr>
              <a:t>CD:BC:49:0A:00:</a:t>
            </a:r>
          </a:p>
        </p:txBody>
      </p:sp>
      <p:sp>
        <p:nvSpPr>
          <p:cNvPr id="37" name="正方形/長方形 36"/>
          <p:cNvSpPr/>
          <p:nvPr/>
        </p:nvSpPr>
        <p:spPr>
          <a:xfrm>
            <a:off x="3231158" y="4299703"/>
            <a:ext cx="2095850" cy="136429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6445540" y="441820"/>
            <a:ext cx="4865615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</a:rPr>
              <a:t>NIC</a:t>
            </a:r>
            <a:r>
              <a:rPr lang="ja-JP" altLang="en-US" b="1" dirty="0">
                <a:solidFill>
                  <a:schemeClr val="tx1"/>
                </a:solidFill>
              </a:rPr>
              <a:t>の</a:t>
            </a:r>
            <a:r>
              <a:rPr lang="en-US" altLang="ja-JP" b="1" dirty="0">
                <a:solidFill>
                  <a:schemeClr val="tx1"/>
                </a:solidFill>
              </a:rPr>
              <a:t>MAC</a:t>
            </a:r>
            <a:r>
              <a:rPr lang="ja-JP" altLang="en-US" b="1" dirty="0">
                <a:solidFill>
                  <a:schemeClr val="tx1"/>
                </a:solidFill>
              </a:rPr>
              <a:t>アドレス　　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□</a:t>
            </a:r>
            <a:r>
              <a:rPr lang="en-US" altLang="ja-JP" b="1" dirty="0">
                <a:solidFill>
                  <a:schemeClr val="tx1"/>
                </a:solidFill>
              </a:rPr>
              <a:t>CD:BC:49:0A:00: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8853180" y="1043377"/>
            <a:ext cx="2095850" cy="136429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6512652" y="3698146"/>
            <a:ext cx="4865615" cy="25278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</a:rPr>
              <a:t>NIC</a:t>
            </a:r>
            <a:r>
              <a:rPr lang="ja-JP" altLang="en-US" b="1" dirty="0">
                <a:solidFill>
                  <a:schemeClr val="tx1"/>
                </a:solidFill>
              </a:rPr>
              <a:t>の</a:t>
            </a:r>
            <a:r>
              <a:rPr lang="en-US" altLang="ja-JP" b="1" dirty="0">
                <a:solidFill>
                  <a:schemeClr val="tx1"/>
                </a:solidFill>
              </a:rPr>
              <a:t>MAC</a:t>
            </a:r>
            <a:r>
              <a:rPr lang="ja-JP" altLang="en-US" b="1" dirty="0">
                <a:solidFill>
                  <a:schemeClr val="tx1"/>
                </a:solidFill>
              </a:rPr>
              <a:t>アドレス　　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□</a:t>
            </a:r>
            <a:r>
              <a:rPr lang="en-US" altLang="ja-JP" b="1" dirty="0">
                <a:solidFill>
                  <a:schemeClr val="tx1"/>
                </a:solidFill>
              </a:rPr>
              <a:t>CD:BC:49:0A:00:</a:t>
            </a:r>
          </a:p>
        </p:txBody>
      </p:sp>
      <p:sp>
        <p:nvSpPr>
          <p:cNvPr id="44" name="正方形/長方形 43"/>
          <p:cNvSpPr/>
          <p:nvPr/>
        </p:nvSpPr>
        <p:spPr>
          <a:xfrm>
            <a:off x="8920292" y="4299703"/>
            <a:ext cx="2095850" cy="136429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3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F0C0AF2-D65D-46D3-9F41-126E91BBB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8087"/>
            <a:ext cx="10515600" cy="2418245"/>
          </a:xfr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C4D24169-AC6F-4746-BFC3-BFD00B6E83BC}"/>
              </a:ext>
            </a:extLst>
          </p:cNvPr>
          <p:cNvSpPr/>
          <p:nvPr/>
        </p:nvSpPr>
        <p:spPr>
          <a:xfrm>
            <a:off x="8002438" y="2950174"/>
            <a:ext cx="2547667" cy="1000664"/>
          </a:xfrm>
          <a:prstGeom prst="wedgeRectCallout">
            <a:avLst>
              <a:gd name="adj1" fmla="val -94248"/>
              <a:gd name="adj2" fmla="val -146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インターネットにつながる</a:t>
            </a:r>
            <a:r>
              <a:rPr kumimoji="1" lang="en-US" altLang="ja-JP" dirty="0"/>
              <a:t>IP</a:t>
            </a:r>
            <a:r>
              <a:rPr kumimoji="1" lang="ja-JP" altLang="en-US" dirty="0"/>
              <a:t>アドレス</a:t>
            </a:r>
            <a:endParaRPr kumimoji="1" lang="en-US" altLang="ja-JP" dirty="0"/>
          </a:p>
          <a:p>
            <a:pPr algn="ctr"/>
            <a:r>
              <a:rPr lang="ja-JP" altLang="en-US" dirty="0"/>
              <a:t>学校の</a:t>
            </a:r>
            <a:r>
              <a:rPr lang="en-US" altLang="ja-JP" dirty="0"/>
              <a:t>LAN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A952E9B-0848-42CA-A29D-5FB76D37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82" y="4202354"/>
            <a:ext cx="4177735" cy="888617"/>
          </a:xfrm>
          <a:prstGeom prst="rect">
            <a:avLst/>
          </a:prstGeom>
        </p:spPr>
      </p:pic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A620751-A5E6-407B-B184-AFA41DAE6B01}"/>
              </a:ext>
            </a:extLst>
          </p:cNvPr>
          <p:cNvSpPr/>
          <p:nvPr/>
        </p:nvSpPr>
        <p:spPr>
          <a:xfrm>
            <a:off x="5124092" y="2723012"/>
            <a:ext cx="2096218" cy="3646070"/>
          </a:xfrm>
          <a:prstGeom prst="wedgeRectCallout">
            <a:avLst>
              <a:gd name="adj1" fmla="val -89206"/>
              <a:gd name="adj2" fmla="val -786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dirty="0"/>
              <a:t>IP</a:t>
            </a:r>
            <a:r>
              <a:rPr kumimoji="1" lang="ja-JP" altLang="en-US" dirty="0"/>
              <a:t>アドレス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FCAA5276-0033-4F1A-A48C-2F0AADA2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68962"/>
              </p:ext>
            </p:extLst>
          </p:nvPr>
        </p:nvGraphicFramePr>
        <p:xfrm>
          <a:off x="5391509" y="3088257"/>
          <a:ext cx="1549400" cy="30802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139506423"/>
                    </a:ext>
                  </a:extLst>
                </a:gridCol>
              </a:tblGrid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192.168.101.254/24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4938336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192.168.102.254/24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96533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192.168.103.254/24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488062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192.168.104.254/24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24395584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192.168.105.254/24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52039708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192.168.106.254/24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1943270"/>
                  </a:ext>
                </a:extLst>
              </a:tr>
              <a:tr h="43181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192.168.107.254/24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4075240"/>
                  </a:ext>
                </a:extLst>
              </a:tr>
              <a:tr h="3166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192.168.108.254/254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9057184"/>
                  </a:ext>
                </a:extLst>
              </a:tr>
              <a:tr h="21590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>
                          <a:effectLst/>
                        </a:rPr>
                        <a:t>192.168.109.254/24</a:t>
                      </a:r>
                      <a:endParaRPr lang="en-US" altLang="ja-JP" sz="1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78588496"/>
                  </a:ext>
                </a:extLst>
              </a:tr>
              <a:tr h="21590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u="none" strike="noStrike" dirty="0">
                          <a:effectLst/>
                        </a:rPr>
                        <a:t>192.168.100.254/24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6215375"/>
                  </a:ext>
                </a:extLst>
              </a:tr>
            </a:tbl>
          </a:graphicData>
        </a:graphic>
      </p:graphicFrame>
      <p:pic>
        <p:nvPicPr>
          <p:cNvPr id="15" name="図 14">
            <a:extLst>
              <a:ext uri="{FF2B5EF4-FFF2-40B4-BE49-F238E27FC236}">
                <a16:creationId xmlns:a16="http://schemas.microsoft.com/office/drawing/2014/main" id="{1E6ADAC4-EF29-4CBF-989E-BA9F005E3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28" y="2813597"/>
            <a:ext cx="701233" cy="127551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A568D3E-715A-43AF-B094-A5D246E6C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02" y="5303756"/>
            <a:ext cx="701233" cy="1275519"/>
          </a:xfrm>
          <a:prstGeom prst="rect">
            <a:avLst/>
          </a:prstGeom>
        </p:spPr>
      </p:pic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0BCA768C-FAB9-4102-9400-6593C90DC0E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293961" y="3451357"/>
            <a:ext cx="1806881" cy="1094690"/>
          </a:xfrm>
          <a:prstGeom prst="bentConnector3">
            <a:avLst>
              <a:gd name="adj1" fmla="val 98901"/>
            </a:avLst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96D8E3DE-861A-48DF-B55A-4F37B314F39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255935" y="4495357"/>
            <a:ext cx="2052344" cy="1446159"/>
          </a:xfrm>
          <a:prstGeom prst="bentConnector3">
            <a:avLst>
              <a:gd name="adj1" fmla="val 101062"/>
            </a:avLst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11BCD8C4-4D53-407E-ADE1-F4391CF3BF1D}"/>
              </a:ext>
            </a:extLst>
          </p:cNvPr>
          <p:cNvCxnSpPr>
            <a:cxnSpLocks/>
          </p:cNvCxnSpPr>
          <p:nvPr/>
        </p:nvCxnSpPr>
        <p:spPr>
          <a:xfrm rot="5400000">
            <a:off x="2935087" y="3196858"/>
            <a:ext cx="2651969" cy="46410"/>
          </a:xfrm>
          <a:prstGeom prst="bentConnector3">
            <a:avLst/>
          </a:prstGeom>
          <a:ln w="857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楕円 34">
            <a:extLst>
              <a:ext uri="{FF2B5EF4-FFF2-40B4-BE49-F238E27FC236}">
                <a16:creationId xmlns:a16="http://schemas.microsoft.com/office/drawing/2014/main" id="{3B659832-EAFD-48C2-9A07-379BBB828BA6}"/>
              </a:ext>
            </a:extLst>
          </p:cNvPr>
          <p:cNvSpPr/>
          <p:nvPr/>
        </p:nvSpPr>
        <p:spPr>
          <a:xfrm>
            <a:off x="416120" y="780836"/>
            <a:ext cx="4428571" cy="6349429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94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280</Words>
  <Application>Microsoft Office PowerPoint</Application>
  <PresentationFormat>ワイド画面</PresentationFormat>
  <Paragraphs>115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cre</cp:lastModifiedBy>
  <cp:revision>6</cp:revision>
  <cp:lastPrinted>2025-06-20T00:37:50Z</cp:lastPrinted>
  <dcterms:created xsi:type="dcterms:W3CDTF">2025-06-19T22:37:11Z</dcterms:created>
  <dcterms:modified xsi:type="dcterms:W3CDTF">2025-06-20T00:38:43Z</dcterms:modified>
</cp:coreProperties>
</file>