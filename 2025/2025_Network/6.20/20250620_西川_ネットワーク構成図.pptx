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58BE0-A358-48E1-9C67-1D4338834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BD0B26-0C2B-40F7-AEF8-33D2E7765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0102C-B418-4238-B159-4A58C994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FB12D-E49E-4EFD-9863-0CC4D046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66E1EE-A29A-4D51-BDAD-90DE58D4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78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2D1DD-27D1-4E3F-A8E7-01BE7B0B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E6EC38-705D-4456-951B-BBF7D9678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026D11-36F4-47A6-A882-864E559C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099D88-41CF-4388-B5A6-3CE0C336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62C8F0-18E7-4EF9-AFCB-38F73021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39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F8EFDE-1DF9-41AA-84FF-C66A2DB1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674872-AAA8-474A-B6D0-5AEB4BAA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927EB7-49D0-4FB0-9B78-6D90BE94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B20EFC-18D7-47A8-9E18-80CF3C91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AE9E88-CF13-4338-8120-A6935F00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54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4B02D7-C63C-4817-9A22-36B2FF91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63148B-ABB4-4A90-B19B-7F24D4FBF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97EDB9-8CA9-476F-967A-6E6278949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E786CB-AF0C-414E-838A-EBF69DD6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7B9A7A-3C32-4DA9-BECC-C7B4F6CC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301FD9-E27B-44FF-A946-29846366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7C5D5-131E-4033-BA54-AE705DBF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715EF5-F971-4CFD-9702-D02DE45A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3F4713-EFBF-4A15-A205-70903F51B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2B7D3A-9E91-46FF-A6BF-21B8C4AB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DCA9A1-6D10-4D12-9EAD-43F5CCC72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B52F31-F12F-484B-846C-8BF92B92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C381ED-8335-4863-A7B3-78336860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AC4337-BD45-4316-AF26-6786E038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00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C552B-85D2-4118-A137-BD8DC5D4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EDE0F5-C6F3-443B-AB5B-6550E536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FA9BF0-9664-4D30-AFFA-404007F0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51C459-BD1B-4FB7-AD67-CA427DAB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72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55EC79D-EFAE-48D1-A7E6-12CA341E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18FE39-45F6-41A1-9C2E-50644878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7BA184-DBA3-4246-8646-1EB0A7D8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02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5CB5F-75E8-47E2-857C-78F08D77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52AE39-4353-455D-B72E-EBB9396A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527169-F1AD-4D06-A1E3-E75562706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178147-482D-4F6D-9CAF-B145D1EE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F2AFB9-DA3A-4773-A216-DECC13D7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0A371D-168E-44C5-A554-796F9314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70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26986F-9904-4662-AC7B-CD1D29FF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72AF87-E483-4703-813F-144CD6F09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8A7A78-D032-4AA9-94A1-22BF76B3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32CDA7-A8D6-41AA-B0D6-AF3BCCBC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556790-13E2-4CB9-AE8C-D468B4A1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3E4AFF-E912-404F-BC6F-3AB08EC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00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E655A-05D4-4719-82ED-0380E00E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F6EBE0-FC11-4074-9BB3-127290542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35D5C7-F97F-47E3-8FC1-8A1478F8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6C8D53-238A-4513-95E9-669D0756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3C5923-E78A-4988-ABD6-43C8A4C6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19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567F99-AA55-4710-9496-6FB24E279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7F6183-5DFB-419E-A781-E7F99AE1D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CE7C79-73D9-463A-AA03-C73F1978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83A8B-7AFB-4841-9F79-D446C78D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C9AD96-3E1C-4117-9799-95855D0D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88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AD2A4EB-2E71-4DC1-9D16-583EFC38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56C880-EEE1-4186-A0E8-CAF16E352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DD95F3-2455-4EBF-AAE0-FD10FF4D5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702C4-7DE7-4EF1-80FF-257583789106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27117-BF56-4768-9C7D-A5B3722F0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7DAF2F-F5DC-40AF-9580-53B518B37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160D9-7025-476A-A57B-01B7046D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6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コンテンツ プレースホルダー 4">
            <a:extLst>
              <a:ext uri="{FF2B5EF4-FFF2-40B4-BE49-F238E27FC236}">
                <a16:creationId xmlns:a16="http://schemas.microsoft.com/office/drawing/2014/main" id="{C1A78E96-BAD1-44A6-9D02-A05FEDB93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131" y="1082621"/>
            <a:ext cx="1647423" cy="37885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758C454-9A1C-4F16-8EF9-5852823ED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7" y="1754273"/>
            <a:ext cx="1613665" cy="343231"/>
          </a:xfrm>
          <a:prstGeom prst="rect">
            <a:avLst/>
          </a:prstGeom>
        </p:spPr>
      </p:pic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28090690-3CA8-4142-A59C-DE7AF3ED979A}"/>
              </a:ext>
            </a:extLst>
          </p:cNvPr>
          <p:cNvCxnSpPr>
            <a:cxnSpLocks/>
          </p:cNvCxnSpPr>
          <p:nvPr/>
        </p:nvCxnSpPr>
        <p:spPr>
          <a:xfrm>
            <a:off x="2832663" y="1075602"/>
            <a:ext cx="0" cy="1500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8EFC84E6-87F9-41C5-9C74-51952FE7AB97}"/>
              </a:ext>
            </a:extLst>
          </p:cNvPr>
          <p:cNvCxnSpPr>
            <a:cxnSpLocks/>
          </p:cNvCxnSpPr>
          <p:nvPr/>
        </p:nvCxnSpPr>
        <p:spPr>
          <a:xfrm>
            <a:off x="3748396" y="2556731"/>
            <a:ext cx="0" cy="9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3357D03-7EB5-48C4-AF4F-455E2A678154}"/>
              </a:ext>
            </a:extLst>
          </p:cNvPr>
          <p:cNvCxnSpPr>
            <a:cxnSpLocks/>
          </p:cNvCxnSpPr>
          <p:nvPr/>
        </p:nvCxnSpPr>
        <p:spPr>
          <a:xfrm flipV="1">
            <a:off x="2034134" y="2306227"/>
            <a:ext cx="0" cy="156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図 52">
            <a:extLst>
              <a:ext uri="{FF2B5EF4-FFF2-40B4-BE49-F238E27FC236}">
                <a16:creationId xmlns:a16="http://schemas.microsoft.com/office/drawing/2014/main" id="{29CE700D-A91A-48FD-B1C8-2EEE2ACB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85" y="2101258"/>
            <a:ext cx="3290832" cy="699969"/>
          </a:xfrm>
          <a:prstGeom prst="rect">
            <a:avLst/>
          </a:prstGeom>
        </p:spPr>
      </p:pic>
      <p:pic>
        <p:nvPicPr>
          <p:cNvPr id="48" name="コンテンツ プレースホルダー 4">
            <a:extLst>
              <a:ext uri="{FF2B5EF4-FFF2-40B4-BE49-F238E27FC236}">
                <a16:creationId xmlns:a16="http://schemas.microsoft.com/office/drawing/2014/main" id="{F81A8888-97DD-4EC3-BF84-07DE987D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02" y="651829"/>
            <a:ext cx="3359677" cy="772617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8444CFC1-5C1C-464D-BF7A-C03A8F36C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199" y="3379024"/>
            <a:ext cx="1497952" cy="2724726"/>
          </a:xfrm>
          <a:prstGeom prst="rect">
            <a:avLst/>
          </a:prstGeom>
        </p:spPr>
      </p:pic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9F9DBEE-0428-4EA8-94F4-1187B53F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621990"/>
              </p:ext>
            </p:extLst>
          </p:nvPr>
        </p:nvGraphicFramePr>
        <p:xfrm>
          <a:off x="10333567" y="3429000"/>
          <a:ext cx="1549400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3227233689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192.168.101.254/24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948723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192.168.102.254/24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2347423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192.168.103.254/24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6248758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192.168.104.254/24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577636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192.168.105.254/24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471602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192.168.106.254/24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38589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192.168.107.254/24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995439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192.168.108.254/254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78086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192.168.109.254/24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85836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192.168.100.254/24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8718555"/>
                  </a:ext>
                </a:extLst>
              </a:tr>
            </a:tbl>
          </a:graphicData>
        </a:graphic>
      </p:graphicFrame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59D7DD31-1889-47F4-8521-18753A9FF80B}"/>
              </a:ext>
            </a:extLst>
          </p:cNvPr>
          <p:cNvSpPr txBox="1"/>
          <p:nvPr/>
        </p:nvSpPr>
        <p:spPr>
          <a:xfrm>
            <a:off x="2842511" y="1386846"/>
            <a:ext cx="3685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altLang="ja-JP" sz="1800" u="none" strike="noStrike" dirty="0">
                <a:effectLst/>
              </a:rPr>
              <a:t>LAN1.1</a:t>
            </a:r>
            <a:r>
              <a:rPr lang="ja-JP" altLang="en-US" sz="1800" u="none" strike="noStrike" dirty="0">
                <a:effectLst/>
              </a:rPr>
              <a:t>　</a:t>
            </a:r>
            <a:r>
              <a:rPr lang="en-US" altLang="ja-JP" sz="1800" u="none" strike="noStrike" dirty="0">
                <a:effectLst/>
              </a:rPr>
              <a:t>192.168.101.254/24</a:t>
            </a:r>
            <a:endParaRPr lang="en-US" altLang="ja-JP" sz="1800" b="0" i="0" u="none" strike="noStrike" dirty="0">
              <a:solidFill>
                <a:srgbClr val="0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475247BC-820E-4FA7-8B05-680562658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585" y="3379024"/>
            <a:ext cx="1497952" cy="2724726"/>
          </a:xfrm>
          <a:prstGeom prst="rect">
            <a:avLst/>
          </a:prstGeom>
        </p:spPr>
      </p:pic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C3BE780-4476-45BB-87C7-EF7E2D4F70FA}"/>
              </a:ext>
            </a:extLst>
          </p:cNvPr>
          <p:cNvSpPr txBox="1"/>
          <p:nvPr/>
        </p:nvSpPr>
        <p:spPr>
          <a:xfrm>
            <a:off x="884494" y="6029972"/>
            <a:ext cx="2252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u="none" strike="noStrike" dirty="0">
                <a:effectLst/>
              </a:rPr>
              <a:t>192.168.101.10/24</a:t>
            </a:r>
            <a:endParaRPr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2BE6308-F549-4826-B567-667035E7C992}"/>
              </a:ext>
            </a:extLst>
          </p:cNvPr>
          <p:cNvSpPr txBox="1"/>
          <p:nvPr/>
        </p:nvSpPr>
        <p:spPr>
          <a:xfrm>
            <a:off x="3263400" y="6029972"/>
            <a:ext cx="2252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u="none" strike="noStrike" dirty="0">
                <a:effectLst/>
              </a:rPr>
              <a:t>192.168.101.11/24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979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8EFC84E6-87F9-41C5-9C74-51952FE7AB97}"/>
              </a:ext>
            </a:extLst>
          </p:cNvPr>
          <p:cNvCxnSpPr>
            <a:cxnSpLocks/>
          </p:cNvCxnSpPr>
          <p:nvPr/>
        </p:nvCxnSpPr>
        <p:spPr>
          <a:xfrm flipH="1">
            <a:off x="8534374" y="2584893"/>
            <a:ext cx="3055776" cy="2154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3357D03-7EB5-48C4-AF4F-455E2A678154}"/>
              </a:ext>
            </a:extLst>
          </p:cNvPr>
          <p:cNvCxnSpPr>
            <a:cxnSpLocks/>
          </p:cNvCxnSpPr>
          <p:nvPr/>
        </p:nvCxnSpPr>
        <p:spPr>
          <a:xfrm flipV="1">
            <a:off x="1299352" y="1081792"/>
            <a:ext cx="192599" cy="2793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図 52">
            <a:extLst>
              <a:ext uri="{FF2B5EF4-FFF2-40B4-BE49-F238E27FC236}">
                <a16:creationId xmlns:a16="http://schemas.microsoft.com/office/drawing/2014/main" id="{29CE700D-A91A-48FD-B1C8-2EEE2ACB2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36" y="4502852"/>
            <a:ext cx="3290832" cy="699969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8444CFC1-5C1C-464D-BF7A-C03A8F36C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199" y="3379024"/>
            <a:ext cx="1497952" cy="2724726"/>
          </a:xfrm>
          <a:prstGeom prst="rect">
            <a:avLst/>
          </a:prstGeom>
        </p:spPr>
      </p:pic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9F9DBEE-0428-4EA8-94F4-1187B53FDACE}"/>
              </a:ext>
            </a:extLst>
          </p:cNvPr>
          <p:cNvGraphicFramePr>
            <a:graphicFrameLocks noGrp="1"/>
          </p:cNvGraphicFramePr>
          <p:nvPr/>
        </p:nvGraphicFramePr>
        <p:xfrm>
          <a:off x="10333567" y="3429000"/>
          <a:ext cx="1549400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3227233689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192.168.101.254/24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948723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192.168.102.254/24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2347423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192.168.103.254/24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6248758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192.168.104.254/24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577636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192.168.105.254/24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471602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192.168.106.254/24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38589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192.168.107.254/24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995439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192.168.108.254/254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78086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192.168.109.254/24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85836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192.168.100.254/24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8718555"/>
                  </a:ext>
                </a:extLst>
              </a:tr>
            </a:tbl>
          </a:graphicData>
        </a:graphic>
      </p:graphicFrame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59D7DD31-1889-47F4-8521-18753A9FF80B}"/>
              </a:ext>
            </a:extLst>
          </p:cNvPr>
          <p:cNvSpPr txBox="1"/>
          <p:nvPr/>
        </p:nvSpPr>
        <p:spPr>
          <a:xfrm>
            <a:off x="384093" y="331141"/>
            <a:ext cx="3685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altLang="ja-JP" sz="1800" u="none" strike="noStrike" dirty="0">
                <a:effectLst/>
              </a:rPr>
              <a:t>LAN1.1</a:t>
            </a:r>
            <a:r>
              <a:rPr lang="ja-JP" altLang="en-US" sz="1800" u="none" strike="noStrike" dirty="0">
                <a:effectLst/>
              </a:rPr>
              <a:t>　</a:t>
            </a:r>
            <a:r>
              <a:rPr lang="en-US" altLang="ja-JP" sz="1800" u="none" strike="noStrike" dirty="0">
                <a:effectLst/>
              </a:rPr>
              <a:t>192.168.10x.254/24</a:t>
            </a:r>
            <a:endParaRPr lang="en-US" altLang="ja-JP" sz="1800" b="0" i="0" u="none" strike="noStrike" dirty="0">
              <a:solidFill>
                <a:srgbClr val="0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475247BC-820E-4FA7-8B05-68056265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09" y="1754651"/>
            <a:ext cx="1497952" cy="2724726"/>
          </a:xfrm>
          <a:prstGeom prst="rect">
            <a:avLst/>
          </a:prstGeom>
        </p:spPr>
      </p:pic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C3BE780-4476-45BB-87C7-EF7E2D4F70FA}"/>
              </a:ext>
            </a:extLst>
          </p:cNvPr>
          <p:cNvSpPr txBox="1"/>
          <p:nvPr/>
        </p:nvSpPr>
        <p:spPr>
          <a:xfrm>
            <a:off x="489578" y="4430733"/>
            <a:ext cx="2126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u="none" strike="noStrike" dirty="0">
                <a:effectLst/>
              </a:rPr>
              <a:t>192.168.10</a:t>
            </a:r>
            <a:r>
              <a:rPr lang="en-US" altLang="ja-JP" dirty="0"/>
              <a:t>x</a:t>
            </a:r>
            <a:r>
              <a:rPr lang="en-US" altLang="ja-JP" sz="1800" u="none" strike="noStrike" dirty="0">
                <a:effectLst/>
              </a:rPr>
              <a:t>.2/24</a:t>
            </a:r>
            <a:endParaRPr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2BE6308-F549-4826-B567-667035E7C992}"/>
              </a:ext>
            </a:extLst>
          </p:cNvPr>
          <p:cNvSpPr txBox="1"/>
          <p:nvPr/>
        </p:nvSpPr>
        <p:spPr>
          <a:xfrm>
            <a:off x="3263400" y="6029972"/>
            <a:ext cx="2252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u="none" strike="noStrike" dirty="0">
                <a:effectLst/>
              </a:rPr>
              <a:t>192.168.101.11/24</a:t>
            </a:r>
            <a:endParaRPr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74DCED-3C1A-4F5E-97EC-2EFABC800153}"/>
              </a:ext>
            </a:extLst>
          </p:cNvPr>
          <p:cNvSpPr txBox="1"/>
          <p:nvPr/>
        </p:nvSpPr>
        <p:spPr>
          <a:xfrm>
            <a:off x="5042181" y="2987519"/>
            <a:ext cx="48154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ja-JP" altLang="en-US" sz="1800" u="none" strike="noStrike" dirty="0">
                <a:effectLst/>
              </a:rPr>
              <a:t>★ヤマハの機器の初期設定値</a:t>
            </a:r>
            <a:endParaRPr lang="en-US" altLang="ja-JP" sz="1800" u="none" strike="noStrike" dirty="0">
              <a:effectLst/>
            </a:endParaRPr>
          </a:p>
          <a:p>
            <a:pPr algn="l" fontAlgn="ctr"/>
            <a:r>
              <a:rPr lang="ja-JP" altLang="en-US" b="0" i="0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ルータ：</a:t>
            </a:r>
            <a:r>
              <a:rPr lang="en-US" altLang="ja-JP" b="0" i="0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192.168.100.1/255.255.255.0</a:t>
            </a:r>
          </a:p>
          <a:p>
            <a:pPr algn="l" fontAlgn="ctr"/>
            <a:r>
              <a:rPr lang="en-US" altLang="ja-JP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L2SW</a:t>
            </a:r>
            <a:r>
              <a:rPr lang="ja-JP" altLang="en-US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：</a:t>
            </a:r>
            <a:r>
              <a:rPr lang="en-US" altLang="ja-JP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192.168.100.200/255.255.255.0</a:t>
            </a:r>
          </a:p>
          <a:p>
            <a:pPr algn="l" fontAlgn="ctr"/>
            <a:endParaRPr lang="en-US" altLang="ja-JP" b="0" i="0" dirty="0">
              <a:solidFill>
                <a:srgbClr val="00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l" fontAlgn="ctr"/>
            <a:r>
              <a:rPr lang="ja-JP" altLang="en-US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初期設定をはじめて行う場合は、</a:t>
            </a:r>
            <a:r>
              <a:rPr lang="en-US" altLang="ja-JP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PC</a:t>
            </a:r>
            <a:r>
              <a:rPr lang="ja-JP" altLang="en-US" sz="180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側</a:t>
            </a:r>
            <a:r>
              <a:rPr lang="ja-JP" altLang="en-US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のネットワークインターフェースは</a:t>
            </a:r>
            <a:r>
              <a:rPr lang="en-US" altLang="ja-JP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DHCP</a:t>
            </a:r>
            <a:r>
              <a:rPr lang="ja-JP" altLang="en-US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有効にしておく</a:t>
            </a:r>
            <a:endParaRPr lang="en-US" altLang="ja-JP" sz="1800" b="0" i="0" u="none" strike="noStrike" dirty="0">
              <a:solidFill>
                <a:srgbClr val="0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C0F8416-9CA7-4543-9EC7-EC28A769954C}"/>
              </a:ext>
            </a:extLst>
          </p:cNvPr>
          <p:cNvSpPr txBox="1"/>
          <p:nvPr/>
        </p:nvSpPr>
        <p:spPr>
          <a:xfrm>
            <a:off x="5112813" y="5155076"/>
            <a:ext cx="4082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★</a:t>
            </a:r>
            <a:r>
              <a:rPr lang="en-US" altLang="ja-JP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DHCP</a:t>
            </a:r>
            <a:r>
              <a:rPr lang="ja-JP" altLang="en-US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：</a:t>
            </a:r>
            <a:r>
              <a:rPr lang="en-US" altLang="ja-JP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IP</a:t>
            </a:r>
            <a:r>
              <a:rPr lang="ja-JP" altLang="en-US" dirty="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構成の自動設定機能</a:t>
            </a:r>
            <a:endParaRPr lang="ja-JP" altLang="en-US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03E8642-894C-43AC-9345-4EC005487BCE}"/>
              </a:ext>
            </a:extLst>
          </p:cNvPr>
          <p:cNvCxnSpPr>
            <a:cxnSpLocks/>
          </p:cNvCxnSpPr>
          <p:nvPr/>
        </p:nvCxnSpPr>
        <p:spPr>
          <a:xfrm flipV="1">
            <a:off x="2985063" y="1101812"/>
            <a:ext cx="3819110" cy="12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コンテンツ プレースホルダー 4">
            <a:extLst>
              <a:ext uri="{FF2B5EF4-FFF2-40B4-BE49-F238E27FC236}">
                <a16:creationId xmlns:a16="http://schemas.microsoft.com/office/drawing/2014/main" id="{17083D07-099A-404B-A238-D4CE2D558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402" y="651829"/>
            <a:ext cx="3359677" cy="772617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04839E-B806-41DA-AD63-6EB1BED0C2EE}"/>
              </a:ext>
            </a:extLst>
          </p:cNvPr>
          <p:cNvSpPr txBox="1"/>
          <p:nvPr/>
        </p:nvSpPr>
        <p:spPr>
          <a:xfrm>
            <a:off x="6421976" y="4827610"/>
            <a:ext cx="3685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altLang="ja-JP" sz="1800" u="none" strike="noStrike" dirty="0">
                <a:effectLst/>
              </a:rPr>
              <a:t>WAN</a:t>
            </a:r>
            <a:r>
              <a:rPr lang="ja-JP" altLang="en-US" sz="1800" u="none" strike="noStrike" dirty="0">
                <a:effectLst/>
              </a:rPr>
              <a:t>　</a:t>
            </a:r>
            <a:r>
              <a:rPr lang="en-US" altLang="ja-JP" sz="1800" u="none" strike="noStrike" dirty="0">
                <a:effectLst/>
              </a:rPr>
              <a:t>172.22.24.141-149/16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320BD5-8747-48DA-904C-BA94BA1C1390}"/>
              </a:ext>
            </a:extLst>
          </p:cNvPr>
          <p:cNvSpPr txBox="1"/>
          <p:nvPr/>
        </p:nvSpPr>
        <p:spPr>
          <a:xfrm>
            <a:off x="6927494" y="731849"/>
            <a:ext cx="4944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altLang="ja-JP" sz="1800" u="none" strike="noStrike" dirty="0">
                <a:effectLst/>
              </a:rPr>
              <a:t>Default Gateway=</a:t>
            </a:r>
            <a:r>
              <a:rPr lang="ja-JP" altLang="en-US" sz="1800" u="none" strike="noStrike" dirty="0">
                <a:effectLst/>
              </a:rPr>
              <a:t>インターネットの出口としてよく設定されています。</a:t>
            </a:r>
            <a:endParaRPr lang="en-US" altLang="ja-JP" sz="1800" u="none" strike="noStrike" dirty="0">
              <a:effectLst/>
            </a:endParaRPr>
          </a:p>
          <a:p>
            <a:pPr algn="l" fontAlgn="ctr"/>
            <a:r>
              <a:rPr lang="en-US" altLang="ja-JP" sz="1800" b="0" i="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172.22.24.251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567AAED-8D7B-490D-BB06-1FAB95F58580}"/>
              </a:ext>
            </a:extLst>
          </p:cNvPr>
          <p:cNvSpPr txBox="1"/>
          <p:nvPr/>
        </p:nvSpPr>
        <p:spPr>
          <a:xfrm>
            <a:off x="2347710" y="1387498"/>
            <a:ext cx="282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altLang="ja-JP" sz="1800" u="none" strike="noStrike" dirty="0">
                <a:effectLst/>
              </a:rPr>
              <a:t>LAN2</a:t>
            </a:r>
            <a:r>
              <a:rPr lang="ja-JP" altLang="en-US" sz="1800" u="none" strike="noStrike" dirty="0">
                <a:effectLst/>
              </a:rPr>
              <a:t>　</a:t>
            </a:r>
            <a:r>
              <a:rPr lang="en-US" altLang="ja-JP" sz="1800" u="none" strike="noStrike" dirty="0">
                <a:effectLst/>
              </a:rPr>
              <a:t>172.22.24.150/16</a:t>
            </a:r>
            <a:endParaRPr lang="en-US" altLang="ja-JP" sz="1800" b="0" i="0" u="none" strike="noStrike" dirty="0">
              <a:solidFill>
                <a:srgbClr val="0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849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90</Words>
  <Application>Microsoft Office PowerPoint</Application>
  <PresentationFormat>ワイド画面</PresentationFormat>
  <Paragraphs>36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cre</dc:creator>
  <cp:lastModifiedBy>cre</cp:lastModifiedBy>
  <cp:revision>7</cp:revision>
  <dcterms:created xsi:type="dcterms:W3CDTF">2025-06-20T00:39:44Z</dcterms:created>
  <dcterms:modified xsi:type="dcterms:W3CDTF">2025-06-20T02:02:53Z</dcterms:modified>
</cp:coreProperties>
</file>