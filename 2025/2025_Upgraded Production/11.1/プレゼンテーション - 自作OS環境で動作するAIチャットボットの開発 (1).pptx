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2" r:id="rId9"/>
    <p:sldId id="264" r:id="rId10"/>
    <p:sldId id="265" r:id="rId11"/>
  </p:sldIdLst>
  <p:sldSz cx="18288000" cy="10287000"/>
  <p:notesSz cx="6858000" cy="9144000"/>
  <p:embeddedFontLst>
    <p:embeddedFont>
      <p:font typeface="ＭＳ Ｐゴシック" panose="020B0600070205080204" pitchFamily="34" charset="-128"/>
      <p:regular r:id="rId12"/>
    </p:embeddedFont>
    <p:embeddedFont>
      <p:font typeface="Work Sans" pitchFamily="2" charset="0"/>
      <p:regular r:id="rId13"/>
      <p:bold r:id="rId14"/>
      <p:italic r:id="rId15"/>
      <p:boldItalic r:id="rId16"/>
    </p:embeddedFont>
    <p:embeddedFont>
      <p:font typeface="Work Sans Bold" pitchFamily="2" charset="0"/>
      <p:regular r:id="rId17"/>
      <p:bold r:id="rId18"/>
    </p:embeddedFont>
    <p:embeddedFont>
      <p:font typeface="Work Sans Semi-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A94DF1-B057-8F89-F5A9-FD2CDEC02F17}" v="212" dt="2025-11-01T14:14:42.655"/>
    <p1510:client id="{B1470677-74C5-429B-B05C-18C2343A4617}" v="2" dt="2025-11-01T13:46:33.112"/>
    <p1510:client id="{CBAA952C-5F35-8772-A3E4-C0D97BE7FB58}" v="8" dt="2025-11-01T13:44:33.7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C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1"/>
            </a:xfrm>
            <a:custGeom>
              <a:avLst/>
              <a:gdLst/>
              <a:ahLst/>
              <a:cxnLst/>
              <a:rect l="l" t="t" r="r" b="b"/>
              <a:pathLst>
                <a:path w="4987156" h="790101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34675" y="7834471"/>
            <a:ext cx="6886575" cy="1785779"/>
            <a:chOff x="0" y="0"/>
            <a:chExt cx="1813748" cy="4703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13748" cy="470329"/>
            </a:xfrm>
            <a:custGeom>
              <a:avLst/>
              <a:gdLst/>
              <a:ahLst/>
              <a:cxnLst/>
              <a:rect l="l" t="t" r="r" b="b"/>
              <a:pathLst>
                <a:path w="1813748" h="470329">
                  <a:moveTo>
                    <a:pt x="44968" y="0"/>
                  </a:moveTo>
                  <a:lnTo>
                    <a:pt x="1768780" y="0"/>
                  </a:lnTo>
                  <a:cubicBezTo>
                    <a:pt x="1780706" y="0"/>
                    <a:pt x="1792144" y="4738"/>
                    <a:pt x="1800577" y="13171"/>
                  </a:cubicBezTo>
                  <a:cubicBezTo>
                    <a:pt x="1809011" y="21604"/>
                    <a:pt x="1813748" y="33042"/>
                    <a:pt x="1813748" y="44968"/>
                  </a:cubicBezTo>
                  <a:lnTo>
                    <a:pt x="1813748" y="425360"/>
                  </a:lnTo>
                  <a:cubicBezTo>
                    <a:pt x="1813748" y="437287"/>
                    <a:pt x="1809011" y="448724"/>
                    <a:pt x="1800577" y="457158"/>
                  </a:cubicBezTo>
                  <a:cubicBezTo>
                    <a:pt x="1792144" y="465591"/>
                    <a:pt x="1780706" y="470329"/>
                    <a:pt x="1768780" y="470329"/>
                  </a:cubicBezTo>
                  <a:lnTo>
                    <a:pt x="44968" y="470329"/>
                  </a:lnTo>
                  <a:cubicBezTo>
                    <a:pt x="33042" y="470329"/>
                    <a:pt x="21604" y="465591"/>
                    <a:pt x="13171" y="457158"/>
                  </a:cubicBezTo>
                  <a:cubicBezTo>
                    <a:pt x="4738" y="448724"/>
                    <a:pt x="0" y="437287"/>
                    <a:pt x="0" y="425360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813748" cy="5274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734675" y="3657600"/>
            <a:ext cx="6886575" cy="3872071"/>
            <a:chOff x="0" y="0"/>
            <a:chExt cx="1066911" cy="5998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6911" cy="599885"/>
            </a:xfrm>
            <a:custGeom>
              <a:avLst/>
              <a:gdLst/>
              <a:ahLst/>
              <a:cxnLst/>
              <a:rect l="l" t="t" r="r" b="b"/>
              <a:pathLst>
                <a:path w="1066911" h="599885">
                  <a:moveTo>
                    <a:pt x="44968" y="0"/>
                  </a:moveTo>
                  <a:lnTo>
                    <a:pt x="1021942" y="0"/>
                  </a:lnTo>
                  <a:cubicBezTo>
                    <a:pt x="1033869" y="0"/>
                    <a:pt x="1045307" y="4738"/>
                    <a:pt x="1053740" y="13171"/>
                  </a:cubicBezTo>
                  <a:cubicBezTo>
                    <a:pt x="1062173" y="21604"/>
                    <a:pt x="1066911" y="33042"/>
                    <a:pt x="1066911" y="44968"/>
                  </a:cubicBezTo>
                  <a:lnTo>
                    <a:pt x="1066911" y="554917"/>
                  </a:lnTo>
                  <a:cubicBezTo>
                    <a:pt x="1066911" y="566843"/>
                    <a:pt x="1062173" y="578281"/>
                    <a:pt x="1053740" y="586714"/>
                  </a:cubicBezTo>
                  <a:cubicBezTo>
                    <a:pt x="1045307" y="595147"/>
                    <a:pt x="1033869" y="599885"/>
                    <a:pt x="1021942" y="599885"/>
                  </a:cubicBezTo>
                  <a:lnTo>
                    <a:pt x="44968" y="599885"/>
                  </a:lnTo>
                  <a:cubicBezTo>
                    <a:pt x="33042" y="599885"/>
                    <a:pt x="21604" y="595147"/>
                    <a:pt x="13171" y="586714"/>
                  </a:cubicBezTo>
                  <a:cubicBezTo>
                    <a:pt x="4738" y="578281"/>
                    <a:pt x="0" y="566843"/>
                    <a:pt x="0" y="554917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202" r="-202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3657600"/>
            <a:ext cx="9763125" cy="5962650"/>
            <a:chOff x="0" y="0"/>
            <a:chExt cx="4083676" cy="2494030"/>
          </a:xfrm>
        </p:grpSpPr>
        <p:sp>
          <p:nvSpPr>
            <p:cNvPr id="10" name="Freeform 10"/>
            <p:cNvSpPr/>
            <p:nvPr/>
          </p:nvSpPr>
          <p:spPr>
            <a:xfrm>
              <a:off x="54483" y="50038"/>
              <a:ext cx="3974583" cy="2394589"/>
            </a:xfrm>
            <a:custGeom>
              <a:avLst/>
              <a:gdLst/>
              <a:ahLst/>
              <a:cxnLst/>
              <a:rect l="l" t="t" r="r" b="b"/>
              <a:pathLst>
                <a:path w="3974583" h="2394589">
                  <a:moveTo>
                    <a:pt x="3886953" y="2394589"/>
                  </a:moveTo>
                  <a:lnTo>
                    <a:pt x="87757" y="2394589"/>
                  </a:lnTo>
                  <a:cubicBezTo>
                    <a:pt x="39370" y="2394589"/>
                    <a:pt x="0" y="2355346"/>
                    <a:pt x="0" y="2306832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886826" y="0"/>
                  </a:lnTo>
                  <a:cubicBezTo>
                    <a:pt x="3935213" y="0"/>
                    <a:pt x="3974583" y="39243"/>
                    <a:pt x="3974583" y="87757"/>
                  </a:cubicBezTo>
                  <a:lnTo>
                    <a:pt x="3974583" y="2306832"/>
                  </a:lnTo>
                  <a:cubicBezTo>
                    <a:pt x="3974583" y="2355219"/>
                    <a:pt x="3935340" y="2394589"/>
                    <a:pt x="3886826" y="2394589"/>
                  </a:cubicBezTo>
                  <a:close/>
                </a:path>
              </a:pathLst>
            </a:custGeom>
            <a:blipFill>
              <a:blip r:embed="rId3"/>
              <a:stretch>
                <a:fillRect t="-209" b="-209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4083549" cy="2493903"/>
            </a:xfrm>
            <a:custGeom>
              <a:avLst/>
              <a:gdLst/>
              <a:ahLst/>
              <a:cxnLst/>
              <a:rect l="l" t="t" r="r" b="b"/>
              <a:pathLst>
                <a:path w="4083549" h="2493903">
                  <a:moveTo>
                    <a:pt x="0" y="91567"/>
                  </a:moveTo>
                  <a:lnTo>
                    <a:pt x="0" y="2402337"/>
                  </a:lnTo>
                  <a:cubicBezTo>
                    <a:pt x="0" y="2452882"/>
                    <a:pt x="41021" y="2493903"/>
                    <a:pt x="91567" y="2493903"/>
                  </a:cubicBezTo>
                  <a:lnTo>
                    <a:pt x="3991982" y="2493903"/>
                  </a:lnTo>
                  <a:cubicBezTo>
                    <a:pt x="4042528" y="2493903"/>
                    <a:pt x="4083549" y="2452882"/>
                    <a:pt x="4083549" y="2402337"/>
                  </a:cubicBezTo>
                  <a:lnTo>
                    <a:pt x="4083549" y="91567"/>
                  </a:lnTo>
                  <a:cubicBezTo>
                    <a:pt x="4083549" y="41021"/>
                    <a:pt x="4042528" y="0"/>
                    <a:pt x="3991982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3241793" y="331724"/>
                  </a:moveTo>
                  <a:lnTo>
                    <a:pt x="3900923" y="331724"/>
                  </a:lnTo>
                  <a:cubicBezTo>
                    <a:pt x="3951469" y="331724"/>
                    <a:pt x="3992490" y="372745"/>
                    <a:pt x="3992490" y="423291"/>
                  </a:cubicBezTo>
                  <a:lnTo>
                    <a:pt x="3992490" y="2311277"/>
                  </a:lnTo>
                  <a:cubicBezTo>
                    <a:pt x="3992490" y="2361823"/>
                    <a:pt x="3951469" y="2402844"/>
                    <a:pt x="3900923" y="2402844"/>
                  </a:cubicBezTo>
                  <a:lnTo>
                    <a:pt x="182753" y="2402844"/>
                  </a:lnTo>
                  <a:cubicBezTo>
                    <a:pt x="132207" y="2402844"/>
                    <a:pt x="91186" y="2361823"/>
                    <a:pt x="91186" y="2311277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944740" y="91186"/>
                  </a:lnTo>
                  <a:cubicBezTo>
                    <a:pt x="2970775" y="91186"/>
                    <a:pt x="2995667" y="102235"/>
                    <a:pt x="3013066" y="121666"/>
                  </a:cubicBezTo>
                  <a:lnTo>
                    <a:pt x="3173721" y="301244"/>
                  </a:lnTo>
                  <a:cubicBezTo>
                    <a:pt x="3191120" y="320675"/>
                    <a:pt x="3215885" y="331724"/>
                    <a:pt x="3242047" y="331724"/>
                  </a:cubicBezTo>
                  <a:lnTo>
                    <a:pt x="3241793" y="331724"/>
                  </a:lnTo>
                  <a:close/>
                </a:path>
              </a:pathLst>
            </a:custGeom>
            <a:solidFill>
              <a:srgbClr val="2E5E7E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220953" y="1376364"/>
            <a:ext cx="1266822" cy="1266822"/>
          </a:xfrm>
          <a:custGeom>
            <a:avLst/>
            <a:gdLst/>
            <a:ahLst/>
            <a:cxnLst/>
            <a:rect l="l" t="t" r="r" b="b"/>
            <a:pathLst>
              <a:path w="1266822" h="1266822">
                <a:moveTo>
                  <a:pt x="0" y="0"/>
                </a:moveTo>
                <a:lnTo>
                  <a:pt x="1266822" y="0"/>
                </a:lnTo>
                <a:lnTo>
                  <a:pt x="1266822" y="1266822"/>
                </a:lnTo>
                <a:lnTo>
                  <a:pt x="0" y="126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1796687" y="1333877"/>
            <a:ext cx="13424266" cy="1485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77"/>
              </a:lnSpc>
            </a:pPr>
            <a:r>
              <a:rPr lang="en-US" sz="5976" b="1" spc="-328" err="1">
                <a:solidFill>
                  <a:srgbClr val="2E5E7E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自作OS環境で動作する</a:t>
            </a:r>
            <a:endParaRPr lang="en-US" sz="5976" b="1" spc="-328">
              <a:solidFill>
                <a:srgbClr val="2E5E7E"/>
              </a:solidFill>
              <a:latin typeface="Work Sans Semi-Bold"/>
              <a:ea typeface="Work Sans Semi-Bold"/>
              <a:cs typeface="Work Sans Semi-Bold"/>
              <a:sym typeface="Work Sans Semi-Bold"/>
            </a:endParaRPr>
          </a:p>
          <a:p>
            <a:pPr marL="0" lvl="0" indent="0" algn="l">
              <a:lnSpc>
                <a:spcPts val="5677"/>
              </a:lnSpc>
            </a:pPr>
            <a:r>
              <a:rPr lang="en-US" sz="5950" b="1" spc="-328">
                <a:solidFill>
                  <a:srgbClr val="2E5E7E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　　　　　AI</a:t>
            </a:r>
            <a:r>
              <a:rPr lang="ja-JP" altLang="en-US" sz="5950" b="1" spc="-328">
                <a:solidFill>
                  <a:srgbClr val="2E5E7E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チャットボットの開発</a:t>
            </a:r>
            <a:endParaRPr lang="en-US" sz="5976" b="1" spc="-328">
              <a:solidFill>
                <a:srgbClr val="2E5E7E"/>
              </a:solidFill>
              <a:latin typeface="Work Sans Semi-Bold"/>
              <a:ea typeface="Work Sans Semi-Bold"/>
              <a:cs typeface="Work Sans Semi-Bold"/>
              <a:sym typeface="Work Sans Semi-Bold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11314617" y="7920166"/>
            <a:ext cx="5676952" cy="1495190"/>
            <a:chOff x="0" y="0"/>
            <a:chExt cx="7569269" cy="199358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47625"/>
              <a:ext cx="7569269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b="1" spc="-165">
                  <a:solidFill>
                    <a:srgbClr val="2E5E7E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チームメンバー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675962"/>
              <a:ext cx="7569269" cy="1317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0"/>
                </a:lnSpc>
              </a:pPr>
              <a:r>
                <a:rPr lang="en-US" sz="3000" spc="-165">
                  <a:solidFill>
                    <a:srgbClr val="2E5E7E"/>
                  </a:solidFill>
                  <a:latin typeface="Work Sans"/>
                  <a:ea typeface="Work Sans"/>
                  <a:cs typeface="Work Sans"/>
                  <a:sym typeface="Work Sans"/>
                </a:rPr>
                <a:t>梅津亮介、岡本篤希</a:t>
              </a:r>
            </a:p>
            <a:p>
              <a:pPr marL="0" lvl="0" indent="0" algn="ctr">
                <a:lnSpc>
                  <a:spcPts val="3900"/>
                </a:lnSpc>
              </a:pPr>
              <a:r>
                <a:rPr lang="en-US" sz="3000" spc="-165">
                  <a:solidFill>
                    <a:srgbClr val="2E5E7E"/>
                  </a:solidFill>
                  <a:latin typeface="Work Sans"/>
                  <a:ea typeface="Work Sans"/>
                  <a:cs typeface="Work Sans"/>
                  <a:sym typeface="Work Sans"/>
                </a:rPr>
                <a:t>北野善聖、辻本悠仁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1"/>
            </a:xfrm>
            <a:custGeom>
              <a:avLst/>
              <a:gdLst/>
              <a:ahLst/>
              <a:cxnLst/>
              <a:rect l="l" t="t" r="r" b="b"/>
              <a:pathLst>
                <a:path w="4987156" h="790101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A9CC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105025" y="1641475"/>
            <a:ext cx="12639675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49"/>
              </a:lnSpc>
            </a:pPr>
            <a:r>
              <a:rPr lang="en-US" sz="6999" b="1" u="none" strike="noStrike" spc="-384">
                <a:solidFill>
                  <a:srgbClr val="2E5E7E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AIチャットボットの目的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419850" y="3657600"/>
            <a:ext cx="5448300" cy="5962650"/>
            <a:chOff x="0" y="0"/>
            <a:chExt cx="1434943" cy="15704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1570410"/>
            </a:xfrm>
            <a:custGeom>
              <a:avLst/>
              <a:gdLst/>
              <a:ahLst/>
              <a:cxnLst/>
              <a:rect l="l" t="t" r="r" b="b"/>
              <a:pathLst>
                <a:path w="1434943" h="1570410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13571"/>
                  </a:lnTo>
                  <a:cubicBezTo>
                    <a:pt x="1434943" y="1544962"/>
                    <a:pt x="1409495" y="1570410"/>
                    <a:pt x="1378104" y="1570410"/>
                  </a:cubicBezTo>
                  <a:lnTo>
                    <a:pt x="56839" y="1570410"/>
                  </a:lnTo>
                  <a:cubicBezTo>
                    <a:pt x="25448" y="1570410"/>
                    <a:pt x="0" y="1544962"/>
                    <a:pt x="0" y="1513571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A9CCE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34943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3657600"/>
            <a:ext cx="5448300" cy="5962650"/>
            <a:chOff x="0" y="0"/>
            <a:chExt cx="1434943" cy="15704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1570410"/>
            </a:xfrm>
            <a:custGeom>
              <a:avLst/>
              <a:gdLst/>
              <a:ahLst/>
              <a:cxnLst/>
              <a:rect l="l" t="t" r="r" b="b"/>
              <a:pathLst>
                <a:path w="1434943" h="1570410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13571"/>
                  </a:lnTo>
                  <a:cubicBezTo>
                    <a:pt x="1434943" y="1544962"/>
                    <a:pt x="1409495" y="1570410"/>
                    <a:pt x="1378104" y="1570410"/>
                  </a:cubicBezTo>
                  <a:lnTo>
                    <a:pt x="56839" y="1570410"/>
                  </a:lnTo>
                  <a:cubicBezTo>
                    <a:pt x="25448" y="1570410"/>
                    <a:pt x="0" y="1544962"/>
                    <a:pt x="0" y="1513571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A9CCE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434943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890206" y="3855499"/>
            <a:ext cx="3977944" cy="1245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67"/>
              </a:lnSpc>
              <a:spcBef>
                <a:spcPct val="0"/>
              </a:spcBef>
            </a:pPr>
            <a:r>
              <a:rPr lang="en-US" sz="4056" b="1" u="none" strike="noStrike" spc="-223">
                <a:solidFill>
                  <a:srgbClr val="577DAC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アプリケーション</a:t>
            </a:r>
          </a:p>
          <a:p>
            <a:pPr marL="0" lvl="0" indent="0" algn="l">
              <a:lnSpc>
                <a:spcPts val="4867"/>
              </a:lnSpc>
              <a:spcBef>
                <a:spcPct val="0"/>
              </a:spcBef>
            </a:pPr>
            <a:r>
              <a:rPr lang="en-US" sz="4056" b="1" u="none" strike="noStrike" spc="-223">
                <a:solidFill>
                  <a:srgbClr val="577DAC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シナリオ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37768" y="5500688"/>
            <a:ext cx="5330382" cy="968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05"/>
              </a:lnSpc>
            </a:pPr>
            <a:r>
              <a:rPr lang="en-US" sz="3170" spc="-174">
                <a:solidFill>
                  <a:srgbClr val="2E5E7E"/>
                </a:solidFill>
                <a:latin typeface="Work Sans"/>
                <a:ea typeface="Work Sans"/>
                <a:cs typeface="Work Sans"/>
                <a:sym typeface="Work Sans"/>
              </a:rPr>
              <a:t>反応的なQ&amp;Aで学校の詳細を</a:t>
            </a:r>
          </a:p>
          <a:p>
            <a:pPr marL="0" lvl="0" indent="0" algn="l">
              <a:lnSpc>
                <a:spcPts val="3805"/>
              </a:lnSpc>
            </a:pPr>
            <a:r>
              <a:rPr lang="en-US" sz="3170" spc="-174">
                <a:solidFill>
                  <a:srgbClr val="2E5E7E"/>
                </a:solidFill>
                <a:latin typeface="Work Sans"/>
                <a:ea typeface="Work Sans"/>
                <a:cs typeface="Work Sans"/>
                <a:sym typeface="Work Sans"/>
              </a:rPr>
              <a:t>提供。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88341" y="4196417"/>
            <a:ext cx="3450459" cy="774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95"/>
              </a:lnSpc>
              <a:spcBef>
                <a:spcPct val="0"/>
              </a:spcBef>
            </a:pPr>
            <a:r>
              <a:rPr lang="en-US" sz="5079" b="1" u="none" strike="noStrike" spc="-279">
                <a:solidFill>
                  <a:srgbClr val="577DAC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目的と利点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638800"/>
            <a:ext cx="5509068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2"/>
              </a:lnSpc>
            </a:pPr>
            <a:r>
              <a:rPr lang="en-US" sz="3277" spc="-180">
                <a:solidFill>
                  <a:srgbClr val="2E5E7E"/>
                </a:solidFill>
                <a:latin typeface="Work Sans"/>
                <a:ea typeface="Work Sans"/>
                <a:cs typeface="Work Sans"/>
                <a:sym typeface="Work Sans"/>
              </a:rPr>
              <a:t>学生が学校情報を簡単に</a:t>
            </a:r>
          </a:p>
          <a:p>
            <a:pPr marL="0" lvl="0" indent="0" algn="l">
              <a:lnSpc>
                <a:spcPts val="3932"/>
              </a:lnSpc>
            </a:pPr>
            <a:r>
              <a:rPr lang="en-US" sz="3277" spc="-180">
                <a:solidFill>
                  <a:srgbClr val="2E5E7E"/>
                </a:solidFill>
                <a:latin typeface="Work Sans"/>
                <a:ea typeface="Work Sans"/>
                <a:cs typeface="Work Sans"/>
                <a:sym typeface="Work Sans"/>
              </a:rPr>
              <a:t>取得するため。</a:t>
            </a:r>
          </a:p>
        </p:txBody>
      </p:sp>
      <p:sp>
        <p:nvSpPr>
          <p:cNvPr id="15" name="Freeform 15"/>
          <p:cNvSpPr/>
          <p:nvPr/>
        </p:nvSpPr>
        <p:spPr>
          <a:xfrm>
            <a:off x="6713819" y="4065561"/>
            <a:ext cx="1047035" cy="1047035"/>
          </a:xfrm>
          <a:custGeom>
            <a:avLst/>
            <a:gdLst/>
            <a:ahLst/>
            <a:cxnLst/>
            <a:rect l="l" t="t" r="r" b="b"/>
            <a:pathLst>
              <a:path w="1047035" h="1047035">
                <a:moveTo>
                  <a:pt x="0" y="0"/>
                </a:moveTo>
                <a:lnTo>
                  <a:pt x="1047035" y="0"/>
                </a:lnTo>
                <a:lnTo>
                  <a:pt x="1047035" y="1047035"/>
                </a:lnTo>
                <a:lnTo>
                  <a:pt x="0" y="1047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6" name="Freeform 16"/>
          <p:cNvSpPr/>
          <p:nvPr/>
        </p:nvSpPr>
        <p:spPr>
          <a:xfrm>
            <a:off x="1069209" y="4065561"/>
            <a:ext cx="1035816" cy="1035816"/>
          </a:xfrm>
          <a:custGeom>
            <a:avLst/>
            <a:gdLst/>
            <a:ahLst/>
            <a:cxnLst/>
            <a:rect l="l" t="t" r="r" b="b"/>
            <a:pathLst>
              <a:path w="1035816" h="1035816">
                <a:moveTo>
                  <a:pt x="0" y="0"/>
                </a:moveTo>
                <a:lnTo>
                  <a:pt x="1035816" y="0"/>
                </a:lnTo>
                <a:lnTo>
                  <a:pt x="1035816" y="1035817"/>
                </a:lnTo>
                <a:lnTo>
                  <a:pt x="0" y="10358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2172950" y="3657600"/>
            <a:ext cx="5448300" cy="5962650"/>
            <a:chOff x="0" y="0"/>
            <a:chExt cx="1434943" cy="157041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34943" cy="1570410"/>
            </a:xfrm>
            <a:custGeom>
              <a:avLst/>
              <a:gdLst/>
              <a:ahLst/>
              <a:cxnLst/>
              <a:rect l="l" t="t" r="r" b="b"/>
              <a:pathLst>
                <a:path w="1434943" h="1570410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13571"/>
                  </a:lnTo>
                  <a:cubicBezTo>
                    <a:pt x="1434943" y="1544962"/>
                    <a:pt x="1409495" y="1570410"/>
                    <a:pt x="1378104" y="1570410"/>
                  </a:cubicBezTo>
                  <a:lnTo>
                    <a:pt x="56839" y="1570410"/>
                  </a:lnTo>
                  <a:cubicBezTo>
                    <a:pt x="25448" y="1570410"/>
                    <a:pt x="0" y="1544962"/>
                    <a:pt x="0" y="1513571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A9CCE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434943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3987401" y="3670012"/>
            <a:ext cx="3271899" cy="181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45"/>
              </a:lnSpc>
              <a:spcBef>
                <a:spcPct val="0"/>
              </a:spcBef>
            </a:pPr>
            <a:r>
              <a:rPr lang="en-US" sz="3954" b="1" u="none" strike="noStrike" spc="-217">
                <a:solidFill>
                  <a:srgbClr val="577DAC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ユーザー</a:t>
            </a:r>
          </a:p>
          <a:p>
            <a:pPr marL="0" lvl="0" indent="0" algn="l">
              <a:lnSpc>
                <a:spcPts val="4745"/>
              </a:lnSpc>
              <a:spcBef>
                <a:spcPct val="0"/>
              </a:spcBef>
            </a:pPr>
            <a:r>
              <a:rPr lang="en-US" sz="3954" b="1" u="none" strike="noStrike" spc="-217">
                <a:solidFill>
                  <a:srgbClr val="577DAC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フレンドリーな情報取得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97821" y="5648325"/>
            <a:ext cx="4761479" cy="888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23"/>
              </a:lnSpc>
            </a:pPr>
            <a:r>
              <a:rPr lang="en-US" sz="2936" spc="-161">
                <a:solidFill>
                  <a:srgbClr val="2E5E7E"/>
                </a:solidFill>
                <a:latin typeface="Work Sans"/>
                <a:ea typeface="Work Sans"/>
                <a:cs typeface="Work Sans"/>
                <a:sym typeface="Work Sans"/>
              </a:rPr>
              <a:t>柔軟で使いやすい情報提供を目指す。</a:t>
            </a:r>
          </a:p>
        </p:txBody>
      </p:sp>
      <p:sp>
        <p:nvSpPr>
          <p:cNvPr id="22" name="Freeform 22"/>
          <p:cNvSpPr/>
          <p:nvPr/>
        </p:nvSpPr>
        <p:spPr>
          <a:xfrm>
            <a:off x="12497821" y="4065561"/>
            <a:ext cx="1113404" cy="1113404"/>
          </a:xfrm>
          <a:custGeom>
            <a:avLst/>
            <a:gdLst/>
            <a:ahLst/>
            <a:cxnLst/>
            <a:rect l="l" t="t" r="r" b="b"/>
            <a:pathLst>
              <a:path w="1113404" h="1113404">
                <a:moveTo>
                  <a:pt x="0" y="0"/>
                </a:moveTo>
                <a:lnTo>
                  <a:pt x="1113404" y="0"/>
                </a:lnTo>
                <a:lnTo>
                  <a:pt x="1113404" y="1113404"/>
                </a:lnTo>
                <a:lnTo>
                  <a:pt x="0" y="1113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C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3299803" cy="1742593"/>
          </a:xfrm>
        </p:grpSpPr>
        <p:sp>
          <p:nvSpPr>
            <p:cNvPr id="3" name="Freeform 3"/>
            <p:cNvSpPr/>
            <p:nvPr/>
          </p:nvSpPr>
          <p:spPr>
            <a:xfrm>
              <a:off x="0" y="-1"/>
              <a:ext cx="3299803" cy="1742589"/>
            </a:xfrm>
            <a:custGeom>
              <a:avLst/>
              <a:gdLst/>
              <a:ahLst/>
              <a:cxnLst/>
              <a:rect l="l" t="t" r="r" b="b"/>
              <a:pathLst>
                <a:path w="3299803" h="1742589">
                  <a:moveTo>
                    <a:pt x="965120" y="1606278"/>
                  </a:moveTo>
                  <a:cubicBezTo>
                    <a:pt x="983327" y="1585925"/>
                    <a:pt x="1009342" y="1574292"/>
                    <a:pt x="1036650" y="1574292"/>
                  </a:cubicBezTo>
                  <a:lnTo>
                    <a:pt x="3213538" y="1574627"/>
                  </a:lnTo>
                  <a:cubicBezTo>
                    <a:pt x="3236413" y="1574640"/>
                    <a:pt x="3258355" y="1565562"/>
                    <a:pt x="3274534" y="1549391"/>
                  </a:cubicBezTo>
                  <a:cubicBezTo>
                    <a:pt x="3290713" y="1533221"/>
                    <a:pt x="3299803" y="1511284"/>
                    <a:pt x="3299803" y="1488409"/>
                  </a:cubicBezTo>
                  <a:lnTo>
                    <a:pt x="3299803" y="86220"/>
                  </a:lnTo>
                  <a:cubicBezTo>
                    <a:pt x="3299803" y="63353"/>
                    <a:pt x="3290719" y="41423"/>
                    <a:pt x="3274550" y="25254"/>
                  </a:cubicBezTo>
                  <a:cubicBezTo>
                    <a:pt x="3258381" y="9085"/>
                    <a:pt x="3236451" y="1"/>
                    <a:pt x="3213584" y="1"/>
                  </a:cubicBezTo>
                  <a:lnTo>
                    <a:pt x="303022" y="1"/>
                  </a:lnTo>
                  <a:cubicBezTo>
                    <a:pt x="278489" y="0"/>
                    <a:pt x="255117" y="10451"/>
                    <a:pt x="238760" y="28736"/>
                  </a:cubicBezTo>
                  <a:lnTo>
                    <a:pt x="21960" y="271093"/>
                  </a:lnTo>
                  <a:cubicBezTo>
                    <a:pt x="7818" y="286901"/>
                    <a:pt x="0" y="307367"/>
                    <a:pt x="0" y="328577"/>
                  </a:cubicBezTo>
                  <a:lnTo>
                    <a:pt x="0" y="1656376"/>
                  </a:lnTo>
                  <a:cubicBezTo>
                    <a:pt x="4" y="1703991"/>
                    <a:pt x="38604" y="1742588"/>
                    <a:pt x="86219" y="1742588"/>
                  </a:cubicBezTo>
                  <a:lnTo>
                    <a:pt x="804624" y="1742588"/>
                  </a:lnTo>
                  <a:cubicBezTo>
                    <a:pt x="829157" y="1742589"/>
                    <a:pt x="852529" y="1732138"/>
                    <a:pt x="868886" y="1713854"/>
                  </a:cubicBezTo>
                  <a:lnTo>
                    <a:pt x="965120" y="1606278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429875" y="4944226"/>
            <a:ext cx="6829425" cy="3429622"/>
            <a:chOff x="0" y="0"/>
            <a:chExt cx="2088339" cy="1048728"/>
          </a:xfrm>
        </p:grpSpPr>
        <p:sp>
          <p:nvSpPr>
            <p:cNvPr id="5" name="Freeform 5"/>
            <p:cNvSpPr/>
            <p:nvPr/>
          </p:nvSpPr>
          <p:spPr>
            <a:xfrm>
              <a:off x="0" y="-1"/>
              <a:ext cx="2088339" cy="1048730"/>
            </a:xfrm>
            <a:custGeom>
              <a:avLst/>
              <a:gdLst/>
              <a:ahLst/>
              <a:cxnLst/>
              <a:rect l="l" t="t" r="r" b="b"/>
              <a:pathLst>
                <a:path w="2088339" h="1048730">
                  <a:moveTo>
                    <a:pt x="0" y="124381"/>
                  </a:moveTo>
                  <a:lnTo>
                    <a:pt x="0" y="652572"/>
                  </a:lnTo>
                  <a:cubicBezTo>
                    <a:pt x="0" y="721265"/>
                    <a:pt x="55687" y="776952"/>
                    <a:pt x="124380" y="776952"/>
                  </a:cubicBezTo>
                  <a:lnTo>
                    <a:pt x="267087" y="776952"/>
                  </a:lnTo>
                  <a:cubicBezTo>
                    <a:pt x="303063" y="776952"/>
                    <a:pt x="337276" y="792528"/>
                    <a:pt x="360898" y="819662"/>
                  </a:cubicBezTo>
                  <a:lnTo>
                    <a:pt x="523133" y="1006018"/>
                  </a:lnTo>
                  <a:cubicBezTo>
                    <a:pt x="546755" y="1033152"/>
                    <a:pt x="580969" y="1048729"/>
                    <a:pt x="616944" y="1048729"/>
                  </a:cubicBezTo>
                  <a:lnTo>
                    <a:pt x="1794478" y="1048729"/>
                  </a:lnTo>
                  <a:cubicBezTo>
                    <a:pt x="1830387" y="1048729"/>
                    <a:pt x="1864542" y="1033210"/>
                    <a:pt x="1888162" y="1006164"/>
                  </a:cubicBezTo>
                  <a:lnTo>
                    <a:pt x="2047353" y="823882"/>
                  </a:lnTo>
                  <a:cubicBezTo>
                    <a:pt x="2073777" y="793625"/>
                    <a:pt x="2088338" y="754816"/>
                    <a:pt x="2088339" y="714644"/>
                  </a:cubicBezTo>
                  <a:lnTo>
                    <a:pt x="2088339" y="124381"/>
                  </a:lnTo>
                  <a:cubicBezTo>
                    <a:pt x="2088339" y="91392"/>
                    <a:pt x="2075234" y="59755"/>
                    <a:pt x="2051907" y="36429"/>
                  </a:cubicBezTo>
                  <a:cubicBezTo>
                    <a:pt x="2028580" y="13103"/>
                    <a:pt x="1996942" y="0"/>
                    <a:pt x="1963954" y="1"/>
                  </a:cubicBezTo>
                  <a:lnTo>
                    <a:pt x="124380" y="1"/>
                  </a:lnTo>
                  <a:cubicBezTo>
                    <a:pt x="55687" y="1"/>
                    <a:pt x="0" y="55688"/>
                    <a:pt x="0" y="124381"/>
                  </a:cubicBezTo>
                  <a:close/>
                </a:path>
              </a:pathLst>
            </a:custGeom>
            <a:blipFill>
              <a:blip r:embed="rId2"/>
              <a:stretch>
                <a:fillRect l="-597" r="-597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29875" y="1028700"/>
            <a:ext cx="6829425" cy="3672574"/>
            <a:chOff x="0" y="0"/>
            <a:chExt cx="3482081" cy="1872515"/>
          </a:xfrm>
        </p:grpSpPr>
        <p:sp>
          <p:nvSpPr>
            <p:cNvPr id="7" name="Freeform 7"/>
            <p:cNvSpPr/>
            <p:nvPr/>
          </p:nvSpPr>
          <p:spPr>
            <a:xfrm>
              <a:off x="54483" y="50038"/>
              <a:ext cx="3372988" cy="1773074"/>
            </a:xfrm>
            <a:custGeom>
              <a:avLst/>
              <a:gdLst/>
              <a:ahLst/>
              <a:cxnLst/>
              <a:rect l="l" t="t" r="r" b="b"/>
              <a:pathLst>
                <a:path w="3372988" h="1773074">
                  <a:moveTo>
                    <a:pt x="3285358" y="1773074"/>
                  </a:moveTo>
                  <a:lnTo>
                    <a:pt x="87757" y="1773074"/>
                  </a:lnTo>
                  <a:cubicBezTo>
                    <a:pt x="39370" y="1773074"/>
                    <a:pt x="0" y="1733831"/>
                    <a:pt x="0" y="1685317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285231" y="0"/>
                  </a:lnTo>
                  <a:cubicBezTo>
                    <a:pt x="3333618" y="0"/>
                    <a:pt x="3372988" y="39243"/>
                    <a:pt x="3372988" y="87757"/>
                  </a:cubicBezTo>
                  <a:lnTo>
                    <a:pt x="3372988" y="1685317"/>
                  </a:lnTo>
                  <a:cubicBezTo>
                    <a:pt x="3372988" y="1733704"/>
                    <a:pt x="3333745" y="1773074"/>
                    <a:pt x="3285231" y="1773074"/>
                  </a:cubicBezTo>
                  <a:close/>
                </a:path>
              </a:pathLst>
            </a:custGeom>
            <a:blipFill>
              <a:blip r:embed="rId3"/>
              <a:stretch>
                <a:fillRect t="-1006" b="-1006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3481954" cy="1872388"/>
            </a:xfrm>
            <a:custGeom>
              <a:avLst/>
              <a:gdLst/>
              <a:ahLst/>
              <a:cxnLst/>
              <a:rect l="l" t="t" r="r" b="b"/>
              <a:pathLst>
                <a:path w="3481954" h="1872388">
                  <a:moveTo>
                    <a:pt x="0" y="91567"/>
                  </a:moveTo>
                  <a:lnTo>
                    <a:pt x="0" y="1780821"/>
                  </a:lnTo>
                  <a:cubicBezTo>
                    <a:pt x="0" y="1831367"/>
                    <a:pt x="41021" y="1872388"/>
                    <a:pt x="91567" y="1872388"/>
                  </a:cubicBezTo>
                  <a:lnTo>
                    <a:pt x="3390387" y="1872388"/>
                  </a:lnTo>
                  <a:cubicBezTo>
                    <a:pt x="3440933" y="1872388"/>
                    <a:pt x="3481954" y="1831367"/>
                    <a:pt x="3481954" y="1780821"/>
                  </a:cubicBezTo>
                  <a:lnTo>
                    <a:pt x="3481954" y="91567"/>
                  </a:lnTo>
                  <a:cubicBezTo>
                    <a:pt x="3481954" y="41021"/>
                    <a:pt x="3440933" y="0"/>
                    <a:pt x="3390387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2640198" y="331724"/>
                  </a:moveTo>
                  <a:lnTo>
                    <a:pt x="3299328" y="331724"/>
                  </a:lnTo>
                  <a:cubicBezTo>
                    <a:pt x="3349874" y="331724"/>
                    <a:pt x="3390895" y="372745"/>
                    <a:pt x="3390895" y="423291"/>
                  </a:cubicBezTo>
                  <a:lnTo>
                    <a:pt x="3390895" y="1689762"/>
                  </a:lnTo>
                  <a:cubicBezTo>
                    <a:pt x="3390895" y="1740308"/>
                    <a:pt x="3349874" y="1781329"/>
                    <a:pt x="3299328" y="1781329"/>
                  </a:cubicBezTo>
                  <a:lnTo>
                    <a:pt x="182753" y="1781329"/>
                  </a:lnTo>
                  <a:cubicBezTo>
                    <a:pt x="132207" y="1781329"/>
                    <a:pt x="91186" y="1740308"/>
                    <a:pt x="91186" y="1689762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343145" y="91186"/>
                  </a:lnTo>
                  <a:cubicBezTo>
                    <a:pt x="2369180" y="91186"/>
                    <a:pt x="2394072" y="102235"/>
                    <a:pt x="2411471" y="121666"/>
                  </a:cubicBezTo>
                  <a:lnTo>
                    <a:pt x="2572126" y="301244"/>
                  </a:lnTo>
                  <a:cubicBezTo>
                    <a:pt x="2589525" y="320675"/>
                    <a:pt x="2614290" y="331724"/>
                    <a:pt x="2640452" y="331724"/>
                  </a:cubicBezTo>
                  <a:lnTo>
                    <a:pt x="2640198" y="331724"/>
                  </a:lnTo>
                  <a:close/>
                </a:path>
              </a:pathLst>
            </a:custGeom>
            <a:solidFill>
              <a:srgbClr val="2E5E7E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2862035"/>
            <a:ext cx="6965632" cy="4373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ja-JP" altLang="en-US" sz="3500" spc="-194">
                <a:solidFill>
                  <a:srgbClr val="2E5E7E"/>
                </a:solidFill>
                <a:ea typeface="+mn-lt"/>
                <a:cs typeface="+mn-lt"/>
              </a:rPr>
              <a:t>学校情報へのアクセスを簡単にするチャットボット</a:t>
            </a:r>
            <a:endParaRPr lang="en-US" altLang="ja-JP"/>
          </a:p>
          <a:p>
            <a:pPr marL="285750" indent="-285750">
              <a:buFont typeface="Arial"/>
              <a:buChar char="•"/>
            </a:pPr>
            <a:r>
              <a:rPr lang="ja-JP" altLang="en-US" sz="3500" spc="-194">
                <a:solidFill>
                  <a:srgbClr val="2E5E7E"/>
                </a:solidFill>
                <a:ea typeface="+mn-lt"/>
                <a:cs typeface="+mn-lt"/>
              </a:rPr>
              <a:t>新入生にとって使いやすい体験を提供</a:t>
            </a:r>
            <a:endParaRPr lang="en-US" altLang="ja-JP"/>
          </a:p>
          <a:p>
            <a:pPr marL="285750" indent="-285750">
              <a:buFont typeface="Arial"/>
              <a:buChar char="•"/>
            </a:pPr>
            <a:r>
              <a:rPr lang="ja-JP" altLang="en-US" sz="3500" spc="-194" dirty="0" err="1">
                <a:solidFill>
                  <a:srgbClr val="2E5E7E"/>
                </a:solidFill>
                <a:ea typeface="+mn-lt"/>
                <a:cs typeface="+mn-lt"/>
              </a:rPr>
              <a:t>教育に関する問い合わせのコミュニケーションを強化</a:t>
            </a:r>
            <a:endParaRPr lang="en-US" altLang="ja-JP" dirty="0" err="1"/>
          </a:p>
          <a:p>
            <a:pPr marL="285750" indent="-285750">
              <a:buFont typeface="Arial"/>
              <a:buChar char="•"/>
            </a:pPr>
            <a:r>
              <a:rPr lang="ja-JP" altLang="en-US" sz="3500" spc="-194" dirty="0" err="1">
                <a:solidFill>
                  <a:srgbClr val="2E5E7E"/>
                </a:solidFill>
                <a:ea typeface="+mn-lt"/>
                <a:cs typeface="+mn-lt"/>
              </a:rPr>
              <a:t>情報検索の効率と利便性を向上</a:t>
            </a:r>
            <a:endParaRPr lang="en-US" dirty="0" err="1"/>
          </a:p>
          <a:p>
            <a:pPr marL="0" lvl="0" indent="0" algn="l">
              <a:lnSpc>
                <a:spcPts val="4249"/>
              </a:lnSpc>
            </a:pPr>
            <a:endParaRPr lang="en-US" sz="3500" spc="-194" dirty="0">
              <a:solidFill>
                <a:srgbClr val="2E5E7E"/>
              </a:solidFill>
              <a:latin typeface="Work Sans"/>
              <a:ea typeface="Work Sans"/>
              <a:cs typeface="Work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92078" y="1406125"/>
            <a:ext cx="8505036" cy="115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45"/>
              </a:lnSpc>
            </a:pPr>
            <a:r>
              <a:rPr lang="en-US" sz="8645" b="1" u="none" strike="noStrike" spc="-475">
                <a:solidFill>
                  <a:srgbClr val="2E5E7E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AI Chatbot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1"/>
            </a:xfrm>
            <a:custGeom>
              <a:avLst/>
              <a:gdLst/>
              <a:ahLst/>
              <a:cxnLst/>
              <a:rect l="l" t="t" r="r" b="b"/>
              <a:pathLst>
                <a:path w="4987156" h="790101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A9CC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3657600"/>
            <a:ext cx="16954500" cy="5962650"/>
            <a:chOff x="0" y="0"/>
            <a:chExt cx="4465383" cy="15704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65383" cy="1570410"/>
            </a:xfrm>
            <a:custGeom>
              <a:avLst/>
              <a:gdLst/>
              <a:ahLst/>
              <a:cxnLst/>
              <a:rect l="l" t="t" r="r" b="b"/>
              <a:pathLst>
                <a:path w="4465383" h="1570410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1552145"/>
                  </a:lnTo>
                  <a:cubicBezTo>
                    <a:pt x="4465383" y="1562232"/>
                    <a:pt x="4457205" y="1570410"/>
                    <a:pt x="4447118" y="1570410"/>
                  </a:cubicBezTo>
                  <a:lnTo>
                    <a:pt x="18265" y="1570410"/>
                  </a:lnTo>
                  <a:cubicBezTo>
                    <a:pt x="8178" y="1570410"/>
                    <a:pt x="0" y="1562232"/>
                    <a:pt x="0" y="1552145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EAF2F8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465383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105025" y="1641475"/>
            <a:ext cx="14077950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49"/>
              </a:lnSpc>
            </a:pPr>
            <a:r>
              <a:rPr lang="en-US" sz="6999" b="1" spc="-384">
                <a:solidFill>
                  <a:srgbClr val="2E5E7E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タイムライン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105025" y="6032373"/>
            <a:ext cx="2571750" cy="2013204"/>
            <a:chOff x="0" y="0"/>
            <a:chExt cx="3429000" cy="2684272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3429000" cy="1406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3499" b="1" spc="-192">
                  <a:solidFill>
                    <a:srgbClr val="577DAC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ウェブスクレイピング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836547"/>
              <a:ext cx="3429000" cy="847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spc="-115">
                  <a:solidFill>
                    <a:srgbClr val="2E5E7E"/>
                  </a:solidFill>
                  <a:latin typeface="Work Sans"/>
                  <a:ea typeface="Work Sans"/>
                  <a:cs typeface="Work Sans"/>
                  <a:sym typeface="Work Sans"/>
                </a:rPr>
                <a:t>データ収集を自動化する。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80665" y="6032373"/>
            <a:ext cx="2549210" cy="1489329"/>
            <a:chOff x="0" y="0"/>
            <a:chExt cx="3398946" cy="1985772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3398946" cy="708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3499" b="1" spc="-192">
                  <a:solidFill>
                    <a:srgbClr val="577DAC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自動分類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138047"/>
              <a:ext cx="3398946" cy="847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spc="-115">
                  <a:solidFill>
                    <a:srgbClr val="2E5E7E"/>
                  </a:solidFill>
                  <a:latin typeface="Work Sans"/>
                  <a:ea typeface="Work Sans"/>
                  <a:cs typeface="Work Sans"/>
                  <a:sym typeface="Work Sans"/>
                </a:rPr>
                <a:t>情報を整理して分類する。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611225" y="6032373"/>
            <a:ext cx="2571750" cy="1489329"/>
            <a:chOff x="0" y="0"/>
            <a:chExt cx="3429000" cy="1985772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9525"/>
              <a:ext cx="3429000" cy="708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3499" b="1" spc="-192">
                  <a:solidFill>
                    <a:srgbClr val="577DAC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データ保存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138047"/>
              <a:ext cx="3429000" cy="847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spc="-115">
                  <a:solidFill>
                    <a:srgbClr val="2E5E7E"/>
                  </a:solidFill>
                  <a:latin typeface="Work Sans"/>
                  <a:ea typeface="Work Sans"/>
                  <a:cs typeface="Work Sans"/>
                  <a:sym typeface="Work Sans"/>
                </a:rPr>
                <a:t>効率的な検索のために。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2294176" y="5146318"/>
            <a:ext cx="15327074" cy="0"/>
          </a:xfrm>
          <a:prstGeom prst="line">
            <a:avLst/>
          </a:prstGeom>
          <a:ln w="38100" cap="flat">
            <a:solidFill>
              <a:srgbClr val="2E5E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18" name="Group 18"/>
          <p:cNvGrpSpPr/>
          <p:nvPr/>
        </p:nvGrpSpPr>
        <p:grpSpPr>
          <a:xfrm>
            <a:off x="7858125" y="4984393"/>
            <a:ext cx="323850" cy="323850"/>
            <a:chOff x="0" y="0"/>
            <a:chExt cx="635000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5E7E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611225" y="4984393"/>
            <a:ext cx="323850" cy="323850"/>
            <a:chOff x="0" y="0"/>
            <a:chExt cx="6350000" cy="6350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5E7E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105025" y="4984393"/>
            <a:ext cx="323850" cy="323850"/>
            <a:chOff x="0" y="0"/>
            <a:chExt cx="6350000" cy="6350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5E7E"/>
            </a:solidFill>
          </p:spPr>
          <p:txBody>
            <a:bodyPr/>
            <a:lstStyle/>
            <a:p>
              <a:endParaRPr lang="ja-JP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3299803" cy="1742593"/>
          </a:xfrm>
        </p:grpSpPr>
        <p:sp>
          <p:nvSpPr>
            <p:cNvPr id="3" name="Freeform 3"/>
            <p:cNvSpPr/>
            <p:nvPr/>
          </p:nvSpPr>
          <p:spPr>
            <a:xfrm>
              <a:off x="0" y="-1"/>
              <a:ext cx="3299803" cy="1742589"/>
            </a:xfrm>
            <a:custGeom>
              <a:avLst/>
              <a:gdLst/>
              <a:ahLst/>
              <a:cxnLst/>
              <a:rect l="l" t="t" r="r" b="b"/>
              <a:pathLst>
                <a:path w="3299803" h="1742589">
                  <a:moveTo>
                    <a:pt x="965120" y="1606278"/>
                  </a:moveTo>
                  <a:cubicBezTo>
                    <a:pt x="983327" y="1585925"/>
                    <a:pt x="1009342" y="1574292"/>
                    <a:pt x="1036650" y="1574292"/>
                  </a:cubicBezTo>
                  <a:lnTo>
                    <a:pt x="3213538" y="1574627"/>
                  </a:lnTo>
                  <a:cubicBezTo>
                    <a:pt x="3236413" y="1574640"/>
                    <a:pt x="3258355" y="1565562"/>
                    <a:pt x="3274534" y="1549391"/>
                  </a:cubicBezTo>
                  <a:cubicBezTo>
                    <a:pt x="3290713" y="1533221"/>
                    <a:pt x="3299803" y="1511284"/>
                    <a:pt x="3299803" y="1488409"/>
                  </a:cubicBezTo>
                  <a:lnTo>
                    <a:pt x="3299803" y="86220"/>
                  </a:lnTo>
                  <a:cubicBezTo>
                    <a:pt x="3299803" y="63353"/>
                    <a:pt x="3290719" y="41423"/>
                    <a:pt x="3274550" y="25254"/>
                  </a:cubicBezTo>
                  <a:cubicBezTo>
                    <a:pt x="3258381" y="9085"/>
                    <a:pt x="3236451" y="1"/>
                    <a:pt x="3213584" y="1"/>
                  </a:cubicBezTo>
                  <a:lnTo>
                    <a:pt x="303022" y="1"/>
                  </a:lnTo>
                  <a:cubicBezTo>
                    <a:pt x="278489" y="0"/>
                    <a:pt x="255117" y="10451"/>
                    <a:pt x="238760" y="28736"/>
                  </a:cubicBezTo>
                  <a:lnTo>
                    <a:pt x="21960" y="271093"/>
                  </a:lnTo>
                  <a:cubicBezTo>
                    <a:pt x="7818" y="286901"/>
                    <a:pt x="0" y="307367"/>
                    <a:pt x="0" y="328577"/>
                  </a:cubicBezTo>
                  <a:lnTo>
                    <a:pt x="0" y="1656376"/>
                  </a:lnTo>
                  <a:cubicBezTo>
                    <a:pt x="4" y="1703991"/>
                    <a:pt x="38604" y="1742588"/>
                    <a:pt x="86219" y="1742588"/>
                  </a:cubicBezTo>
                  <a:lnTo>
                    <a:pt x="804624" y="1742588"/>
                  </a:lnTo>
                  <a:cubicBezTo>
                    <a:pt x="829157" y="1742589"/>
                    <a:pt x="852529" y="1732138"/>
                    <a:pt x="868886" y="1713854"/>
                  </a:cubicBezTo>
                  <a:lnTo>
                    <a:pt x="965120" y="1606278"/>
                  </a:lnTo>
                  <a:close/>
                </a:path>
              </a:pathLst>
            </a:custGeom>
            <a:solidFill>
              <a:srgbClr val="A9CCE3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911842" y="1163057"/>
            <a:ext cx="7653807" cy="6154935"/>
            <a:chOff x="-257577" y="-768172"/>
            <a:chExt cx="10205076" cy="2163168"/>
          </a:xfrm>
        </p:grpSpPr>
        <p:sp>
          <p:nvSpPr>
            <p:cNvPr id="5" name="TextBox 5"/>
            <p:cNvSpPr txBox="1"/>
            <p:nvPr/>
          </p:nvSpPr>
          <p:spPr>
            <a:xfrm>
              <a:off x="-257577" y="-135689"/>
              <a:ext cx="10205076" cy="15306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3200" spc="-115" dirty="0">
                  <a:solidFill>
                    <a:srgbClr val="2E5E7E"/>
                  </a:solidFill>
                  <a:ea typeface="+mn-lt"/>
                  <a:cs typeface="+mn-lt"/>
                </a:rPr>
                <a:t>Debian</a:t>
              </a:r>
              <a:r>
                <a:rPr lang="ja-JP" altLang="en-US" sz="3200" spc="-115">
                  <a:solidFill>
                    <a:srgbClr val="2E5E7E"/>
                  </a:solidFill>
                  <a:ea typeface="+mn-lt"/>
                  <a:cs typeface="+mn-lt"/>
                </a:rPr>
                <a:t>系</a:t>
              </a:r>
              <a:r>
                <a:rPr lang="en-US" sz="3200" spc="-115" dirty="0">
                  <a:solidFill>
                    <a:srgbClr val="2E5E7E"/>
                  </a:solidFill>
                  <a:ea typeface="+mn-lt"/>
                  <a:cs typeface="+mn-lt"/>
                </a:rPr>
                <a:t>Linux</a:t>
              </a:r>
              <a:r>
                <a:rPr lang="ja-JP" altLang="en-US" sz="3200" spc="-115">
                  <a:solidFill>
                    <a:srgbClr val="2E5E7E"/>
                  </a:solidFill>
                  <a:ea typeface="+mn-lt"/>
                  <a:cs typeface="+mn-lt"/>
                </a:rPr>
                <a:t>上に構築されたカスタム</a:t>
              </a:r>
              <a:r>
                <a:rPr lang="en-US" sz="3200" spc="-115" dirty="0">
                  <a:solidFill>
                    <a:srgbClr val="2E5E7E"/>
                  </a:solidFill>
                  <a:ea typeface="+mn-lt"/>
                  <a:cs typeface="+mn-lt"/>
                </a:rPr>
                <a:t>OS</a:t>
              </a:r>
              <a:endParaRPr lang="en-US" altLang="ja-JP" sz="3200">
                <a:ea typeface="ＭＳ Ｐゴシック"/>
                <a:cs typeface="Calibri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ja-JP" altLang="en-US" sz="3200" spc="-115">
                  <a:solidFill>
                    <a:srgbClr val="2E5E7E"/>
                  </a:solidFill>
                  <a:ea typeface="+mn-lt"/>
                  <a:cs typeface="+mn-lt"/>
                </a:rPr>
                <a:t>ログイン機能と</a:t>
              </a:r>
              <a:r>
                <a:rPr lang="en-US" sz="3200" spc="-115" dirty="0">
                  <a:solidFill>
                    <a:srgbClr val="2E5E7E"/>
                  </a:solidFill>
                  <a:ea typeface="+mn-lt"/>
                  <a:cs typeface="+mn-lt"/>
                </a:rPr>
                <a:t>Windows</a:t>
              </a:r>
              <a:r>
                <a:rPr lang="ja-JP" altLang="en-US" sz="3200" spc="-115">
                  <a:solidFill>
                    <a:srgbClr val="2E5E7E"/>
                  </a:solidFill>
                  <a:ea typeface="+mn-lt"/>
                  <a:cs typeface="+mn-lt"/>
                </a:rPr>
                <a:t>風</a:t>
              </a:r>
              <a:r>
                <a:rPr lang="en-US" sz="3200" spc="-115" dirty="0">
                  <a:solidFill>
                    <a:srgbClr val="2E5E7E"/>
                  </a:solidFill>
                  <a:ea typeface="+mn-lt"/>
                  <a:cs typeface="+mn-lt"/>
                </a:rPr>
                <a:t>GUI</a:t>
              </a:r>
              <a:r>
                <a:rPr lang="ja-JP" altLang="en-US" sz="3200" spc="-115">
                  <a:solidFill>
                    <a:srgbClr val="2E5E7E"/>
                  </a:solidFill>
                  <a:ea typeface="+mn-lt"/>
                  <a:cs typeface="+mn-lt"/>
                </a:rPr>
                <a:t>を搭載</a:t>
              </a:r>
              <a:endParaRPr lang="en-US" altLang="ja-JP" sz="3200">
                <a:ea typeface="ＭＳ Ｐゴシック"/>
                <a:cs typeface="Calibri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ja-JP" altLang="en-US" sz="3200" spc="-115">
                  <a:solidFill>
                    <a:srgbClr val="2E5E7E"/>
                  </a:solidFill>
                  <a:ea typeface="+mn-lt"/>
                  <a:cs typeface="+mn-lt"/>
                </a:rPr>
                <a:t>権限制限や</a:t>
              </a:r>
              <a:r>
                <a:rPr lang="en-US" sz="3200" spc="-115" dirty="0">
                  <a:solidFill>
                    <a:srgbClr val="2E5E7E"/>
                  </a:solidFill>
                  <a:ea typeface="+mn-lt"/>
                  <a:cs typeface="+mn-lt"/>
                </a:rPr>
                <a:t>AI</a:t>
              </a:r>
              <a:r>
                <a:rPr lang="ja-JP" altLang="en-US" sz="3200" spc="-115">
                  <a:solidFill>
                    <a:srgbClr val="2E5E7E"/>
                  </a:solidFill>
                  <a:ea typeface="+mn-lt"/>
                  <a:cs typeface="+mn-lt"/>
                </a:rPr>
                <a:t>アプリ単体実行の問題があり、改善を目指している</a:t>
              </a:r>
              <a:endParaRPr lang="en-US" sz="3200"/>
            </a:p>
            <a:p>
              <a:pPr marL="0" lvl="0" indent="0" algn="l">
                <a:lnSpc>
                  <a:spcPts val="2520"/>
                </a:lnSpc>
              </a:pPr>
              <a:endParaRPr lang="en-US" sz="2100" spc="-115" dirty="0">
                <a:solidFill>
                  <a:srgbClr val="2E5E7E"/>
                </a:solidFill>
                <a:latin typeface="Work Sans"/>
                <a:ea typeface="Work Sans"/>
                <a:cs typeface="Work San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93183" y="-768172"/>
              <a:ext cx="9182100" cy="315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999"/>
                </a:lnSpc>
              </a:pPr>
              <a:r>
                <a:rPr lang="en-US" sz="6950" b="1" u="none" strike="noStrike" spc="-384" dirty="0">
                  <a:solidFill>
                    <a:srgbClr val="2E5E7E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OS </a:t>
              </a:r>
              <a:r>
                <a:rPr lang="ja-JP" altLang="en-US" sz="6950" b="1" spc="-384">
                  <a:solidFill>
                    <a:srgbClr val="2E5E7E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開発</a:t>
              </a:r>
              <a:endParaRPr lang="en-US" sz="6999" b="1" u="none" strike="noStrike" spc="-384" dirty="0">
                <a:solidFill>
                  <a:srgbClr val="2E5E7E"/>
                </a:solidFill>
                <a:latin typeface="Work Sans Semi-Bold"/>
                <a:ea typeface="Work Sans Semi-Bold"/>
                <a:cs typeface="Work Sans Semi-Bold"/>
                <a:sym typeface="Work Sans Semi-Bold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312605" y="981075"/>
            <a:ext cx="6946695" cy="7471274"/>
            <a:chOff x="0" y="0"/>
            <a:chExt cx="3482081" cy="3745030"/>
          </a:xfrm>
        </p:grpSpPr>
        <p:sp>
          <p:nvSpPr>
            <p:cNvPr id="8" name="Freeform 8"/>
            <p:cNvSpPr/>
            <p:nvPr/>
          </p:nvSpPr>
          <p:spPr>
            <a:xfrm>
              <a:off x="54483" y="50038"/>
              <a:ext cx="3372988" cy="3645589"/>
            </a:xfrm>
            <a:custGeom>
              <a:avLst/>
              <a:gdLst/>
              <a:ahLst/>
              <a:cxnLst/>
              <a:rect l="l" t="t" r="r" b="b"/>
              <a:pathLst>
                <a:path w="3372988" h="3645589">
                  <a:moveTo>
                    <a:pt x="3285358" y="3645589"/>
                  </a:moveTo>
                  <a:lnTo>
                    <a:pt x="87757" y="3645589"/>
                  </a:lnTo>
                  <a:cubicBezTo>
                    <a:pt x="39370" y="3645589"/>
                    <a:pt x="0" y="3606346"/>
                    <a:pt x="0" y="3557832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285231" y="0"/>
                  </a:lnTo>
                  <a:cubicBezTo>
                    <a:pt x="3333618" y="0"/>
                    <a:pt x="3372988" y="39243"/>
                    <a:pt x="3372988" y="87757"/>
                  </a:cubicBezTo>
                  <a:lnTo>
                    <a:pt x="3372988" y="3557832"/>
                  </a:lnTo>
                  <a:cubicBezTo>
                    <a:pt x="3372988" y="3606219"/>
                    <a:pt x="3333745" y="3645589"/>
                    <a:pt x="3285231" y="3645589"/>
                  </a:cubicBezTo>
                  <a:close/>
                </a:path>
              </a:pathLst>
            </a:custGeom>
            <a:blipFill>
              <a:blip r:embed="rId2"/>
              <a:stretch>
                <a:fillRect t="-12" b="-12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3481954" cy="3744903"/>
            </a:xfrm>
            <a:custGeom>
              <a:avLst/>
              <a:gdLst/>
              <a:ahLst/>
              <a:cxnLst/>
              <a:rect l="l" t="t" r="r" b="b"/>
              <a:pathLst>
                <a:path w="3481954" h="3744903">
                  <a:moveTo>
                    <a:pt x="0" y="91567"/>
                  </a:moveTo>
                  <a:lnTo>
                    <a:pt x="0" y="3653336"/>
                  </a:lnTo>
                  <a:cubicBezTo>
                    <a:pt x="0" y="3703882"/>
                    <a:pt x="41021" y="3744903"/>
                    <a:pt x="91567" y="3744903"/>
                  </a:cubicBezTo>
                  <a:lnTo>
                    <a:pt x="3390387" y="3744903"/>
                  </a:lnTo>
                  <a:cubicBezTo>
                    <a:pt x="3440933" y="3744903"/>
                    <a:pt x="3481954" y="3703882"/>
                    <a:pt x="3481954" y="3653336"/>
                  </a:cubicBezTo>
                  <a:lnTo>
                    <a:pt x="3481954" y="91567"/>
                  </a:lnTo>
                  <a:cubicBezTo>
                    <a:pt x="3481954" y="41021"/>
                    <a:pt x="3440933" y="0"/>
                    <a:pt x="3390387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2640198" y="331724"/>
                  </a:moveTo>
                  <a:lnTo>
                    <a:pt x="3299328" y="331724"/>
                  </a:lnTo>
                  <a:cubicBezTo>
                    <a:pt x="3349874" y="331724"/>
                    <a:pt x="3390895" y="372745"/>
                    <a:pt x="3390895" y="423291"/>
                  </a:cubicBezTo>
                  <a:lnTo>
                    <a:pt x="3390895" y="3562277"/>
                  </a:lnTo>
                  <a:cubicBezTo>
                    <a:pt x="3390895" y="3612823"/>
                    <a:pt x="3349874" y="3653844"/>
                    <a:pt x="3299328" y="3653844"/>
                  </a:cubicBezTo>
                  <a:lnTo>
                    <a:pt x="182753" y="3653844"/>
                  </a:lnTo>
                  <a:cubicBezTo>
                    <a:pt x="132207" y="3653844"/>
                    <a:pt x="91186" y="3612823"/>
                    <a:pt x="91186" y="3562277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343145" y="91186"/>
                  </a:lnTo>
                  <a:cubicBezTo>
                    <a:pt x="2369180" y="91186"/>
                    <a:pt x="2394072" y="102235"/>
                    <a:pt x="2411471" y="121666"/>
                  </a:cubicBezTo>
                  <a:lnTo>
                    <a:pt x="2572126" y="301244"/>
                  </a:lnTo>
                  <a:cubicBezTo>
                    <a:pt x="2589525" y="320675"/>
                    <a:pt x="2614290" y="331724"/>
                    <a:pt x="2640452" y="331724"/>
                  </a:cubicBezTo>
                  <a:lnTo>
                    <a:pt x="2640198" y="331724"/>
                  </a:lnTo>
                  <a:close/>
                </a:path>
              </a:pathLst>
            </a:custGeom>
            <a:solidFill>
              <a:srgbClr val="2E5E7E"/>
            </a:solidFill>
          </p:spPr>
          <p:txBody>
            <a:bodyPr/>
            <a:lstStyle/>
            <a:p>
              <a:endParaRPr lang="ja-JP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C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1"/>
            </a:xfrm>
            <a:custGeom>
              <a:avLst/>
              <a:gdLst/>
              <a:ahLst/>
              <a:cxnLst/>
              <a:rect l="l" t="t" r="r" b="b"/>
              <a:pathLst>
                <a:path w="4987156" h="790101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105025" y="1641475"/>
            <a:ext cx="12639675" cy="856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48"/>
              </a:lnSpc>
            </a:pPr>
            <a:r>
              <a:rPr lang="ja-JP" altLang="en-US" sz="6950" spc="-384">
                <a:solidFill>
                  <a:srgbClr val="2E5E7E"/>
                </a:solidFill>
                <a:ea typeface="+mn-lt"/>
                <a:cs typeface="+mn-lt"/>
              </a:rPr>
              <a:t>まとめと今後の展望</a:t>
            </a:r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6419850" y="3657600"/>
            <a:ext cx="5448300" cy="5962650"/>
            <a:chOff x="0" y="0"/>
            <a:chExt cx="1434943" cy="15704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1570410"/>
            </a:xfrm>
            <a:custGeom>
              <a:avLst/>
              <a:gdLst/>
              <a:ahLst/>
              <a:cxnLst/>
              <a:rect l="l" t="t" r="r" b="b"/>
              <a:pathLst>
                <a:path w="1434943" h="1570410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13571"/>
                  </a:lnTo>
                  <a:cubicBezTo>
                    <a:pt x="1434943" y="1544962"/>
                    <a:pt x="1409495" y="1570410"/>
                    <a:pt x="1378104" y="1570410"/>
                  </a:cubicBezTo>
                  <a:lnTo>
                    <a:pt x="56839" y="1570410"/>
                  </a:lnTo>
                  <a:cubicBezTo>
                    <a:pt x="25448" y="1570410"/>
                    <a:pt x="0" y="1544962"/>
                    <a:pt x="0" y="1513571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34943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50651" y="3657600"/>
            <a:ext cx="5448300" cy="5962650"/>
            <a:chOff x="0" y="0"/>
            <a:chExt cx="1434943" cy="15704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1570410"/>
            </a:xfrm>
            <a:custGeom>
              <a:avLst/>
              <a:gdLst/>
              <a:ahLst/>
              <a:cxnLst/>
              <a:rect l="l" t="t" r="r" b="b"/>
              <a:pathLst>
                <a:path w="1434943" h="1570410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13571"/>
                  </a:lnTo>
                  <a:cubicBezTo>
                    <a:pt x="1434943" y="1544962"/>
                    <a:pt x="1409495" y="1570410"/>
                    <a:pt x="1378104" y="1570410"/>
                  </a:cubicBezTo>
                  <a:lnTo>
                    <a:pt x="56839" y="1570410"/>
                  </a:lnTo>
                  <a:cubicBezTo>
                    <a:pt x="25448" y="1570410"/>
                    <a:pt x="0" y="1544962"/>
                    <a:pt x="0" y="1513571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434943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053195" y="4217763"/>
            <a:ext cx="4528195" cy="3752153"/>
            <a:chOff x="-1073240" y="-40516"/>
            <a:chExt cx="6037594" cy="3628421"/>
          </a:xfrm>
        </p:grpSpPr>
        <p:sp>
          <p:nvSpPr>
            <p:cNvPr id="12" name="TextBox 12"/>
            <p:cNvSpPr txBox="1"/>
            <p:nvPr/>
          </p:nvSpPr>
          <p:spPr>
            <a:xfrm>
              <a:off x="257577" y="-40516"/>
              <a:ext cx="4706777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600"/>
                </a:lnSpc>
                <a:spcBef>
                  <a:spcPct val="0"/>
                </a:spcBef>
              </a:pPr>
              <a:r>
                <a:rPr lang="ja-JP" altLang="en-US" sz="3000" spc="-165">
                  <a:solidFill>
                    <a:srgbClr val="577DAC"/>
                  </a:solidFill>
                  <a:ea typeface="+mn-lt"/>
                  <a:cs typeface="+mn-lt"/>
                </a:rPr>
                <a:t>カスタム</a:t>
              </a:r>
              <a:r>
                <a:rPr lang="en-US" sz="3000" spc="-165" dirty="0">
                  <a:solidFill>
                    <a:srgbClr val="577DAC"/>
                  </a:solidFill>
                  <a:ea typeface="+mn-lt"/>
                  <a:cs typeface="+mn-lt"/>
                </a:rPr>
                <a:t>OS</a:t>
              </a:r>
              <a:r>
                <a:rPr lang="ja-JP" altLang="en-US" sz="3000" spc="-165">
                  <a:solidFill>
                    <a:srgbClr val="577DAC"/>
                  </a:solidFill>
                  <a:ea typeface="+mn-lt"/>
                  <a:cs typeface="+mn-lt"/>
                </a:rPr>
                <a:t>環境の</a:t>
              </a:r>
              <a:endParaRPr lang="en-US" altLang="ja-JP">
                <a:solidFill>
                  <a:srgbClr val="000000"/>
                </a:solidFill>
                <a:ea typeface="+mn-lt"/>
                <a:cs typeface="+mn-lt"/>
              </a:endParaRPr>
            </a:p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ja-JP" altLang="en-US" sz="3000" spc="-165">
                  <a:solidFill>
                    <a:srgbClr val="577DAC"/>
                  </a:solidFill>
                  <a:ea typeface="+mn-lt"/>
                  <a:cs typeface="+mn-lt"/>
                </a:rPr>
                <a:t>更新</a:t>
              </a:r>
              <a:endParaRPr lang="en-US">
                <a:ea typeface="Calibri"/>
                <a:cs typeface="Calibri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-1073240" y="1006001"/>
              <a:ext cx="4706777" cy="25819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2100" spc="-115" dirty="0" err="1">
                  <a:solidFill>
                    <a:srgbClr val="2E5E7E"/>
                  </a:solidFill>
                  <a:ea typeface="+mn-lt"/>
                  <a:cs typeface="+mn-lt"/>
                </a:rPr>
                <a:t>AI</a:t>
              </a:r>
              <a:r>
                <a:rPr lang="ja-JP" altLang="en-US" sz="2100" spc="-115" dirty="0" err="1">
                  <a:solidFill>
                    <a:srgbClr val="2E5E7E"/>
                  </a:solidFill>
                  <a:ea typeface="+mn-lt"/>
                  <a:cs typeface="+mn-lt"/>
                </a:rPr>
                <a:t>アプリの実行に関する制限がまだ残っている</a:t>
              </a:r>
              <a:endParaRPr lang="en-US" altLang="ja-JP" dirty="0" err="1"/>
            </a:p>
            <a:p>
              <a:pPr marL="285750" indent="-285750">
                <a:buFont typeface="Arial"/>
                <a:buChar char="•"/>
              </a:pPr>
              <a:r>
                <a:rPr lang="ja-JP" altLang="en-US" sz="2100" spc="-115" dirty="0" err="1">
                  <a:solidFill>
                    <a:srgbClr val="2E5E7E"/>
                  </a:solidFill>
                  <a:ea typeface="+mn-lt"/>
                  <a:cs typeface="+mn-lt"/>
                </a:rPr>
                <a:t>一部の制約が動作に影響を与えている</a:t>
              </a:r>
              <a:endParaRPr lang="en-US" altLang="ja-JP" dirty="0" err="1"/>
            </a:p>
            <a:p>
              <a:pPr marL="285750" indent="-285750">
                <a:buFont typeface="Arial"/>
                <a:buChar char="•"/>
              </a:pPr>
              <a:r>
                <a:rPr lang="ja-JP" altLang="en-US" sz="2100" spc="-115" dirty="0" err="1">
                  <a:solidFill>
                    <a:srgbClr val="2E5E7E"/>
                  </a:solidFill>
                  <a:ea typeface="+mn-lt"/>
                  <a:cs typeface="+mn-lt"/>
                </a:rPr>
                <a:t>改善が必要な課題が継続中</a:t>
              </a:r>
              <a:endParaRPr lang="en-US" dirty="0" err="1"/>
            </a:p>
            <a:p>
              <a:pPr marL="0" lvl="0" indent="0" algn="l">
                <a:lnSpc>
                  <a:spcPts val="2520"/>
                </a:lnSpc>
              </a:pPr>
              <a:endParaRPr lang="en-US" sz="2100" spc="-115" dirty="0">
                <a:solidFill>
                  <a:srgbClr val="2E5E7E"/>
                </a:solidFill>
                <a:latin typeface="Work Sans"/>
                <a:ea typeface="Work Sans"/>
                <a:cs typeface="Work San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23011" y="4208718"/>
            <a:ext cx="4512096" cy="3723273"/>
            <a:chOff x="-1309352" y="-19050"/>
            <a:chExt cx="6016129" cy="1798764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19050"/>
              <a:ext cx="4706777" cy="446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600"/>
                </a:lnSpc>
                <a:spcBef>
                  <a:spcPct val="0"/>
                </a:spcBef>
              </a:pPr>
              <a:r>
                <a:rPr lang="en-US" sz="3000" spc="-165" dirty="0">
                  <a:solidFill>
                    <a:srgbClr val="577DAC"/>
                  </a:solidFill>
                  <a:ea typeface="+mn-lt"/>
                  <a:cs typeface="+mn-lt"/>
                </a:rPr>
                <a:t>AI</a:t>
              </a:r>
              <a:r>
                <a:rPr lang="ja-JP" altLang="en-US" sz="3000" spc="-165">
                  <a:solidFill>
                    <a:srgbClr val="577DAC"/>
                  </a:solidFill>
                  <a:ea typeface="+mn-lt"/>
                  <a:cs typeface="+mn-lt"/>
                </a:rPr>
                <a:t>チャットボット</a:t>
              </a:r>
              <a:endParaRPr lang="en-US" altLang="ja-JP">
                <a:solidFill>
                  <a:srgbClr val="000000"/>
                </a:solidFill>
                <a:ea typeface="+mn-lt"/>
                <a:cs typeface="+mn-lt"/>
              </a:endParaRPr>
            </a:p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ja-JP" altLang="en-US" sz="3000" spc="-165">
                  <a:solidFill>
                    <a:srgbClr val="577DAC"/>
                  </a:solidFill>
                  <a:ea typeface="+mn-lt"/>
                  <a:cs typeface="+mn-lt"/>
                </a:rPr>
                <a:t>開発の振り返り</a:t>
              </a:r>
              <a:endParaRPr lang="en-US">
                <a:ea typeface="Calibri"/>
                <a:cs typeface="Calibri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-1309352" y="531948"/>
              <a:ext cx="4706777" cy="12477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ja-JP" altLang="en-US" sz="2100" spc="-115" err="1">
                  <a:solidFill>
                    <a:srgbClr val="2E5E7E"/>
                  </a:solidFill>
                  <a:ea typeface="+mn-lt"/>
                  <a:cs typeface="+mn-lt"/>
                </a:rPr>
                <a:t>ユーザーにとって操作しやすいチャットボットの開発を進行</a:t>
              </a:r>
              <a:endParaRPr lang="en-US" altLang="ja-JP" err="1"/>
            </a:p>
            <a:p>
              <a:pPr marL="285750" indent="-285750">
                <a:buFont typeface="Arial"/>
                <a:buChar char="•"/>
              </a:pPr>
              <a:r>
                <a:rPr lang="ja-JP" altLang="en-US" sz="2100" spc="-115" dirty="0" err="1">
                  <a:solidFill>
                    <a:srgbClr val="2E5E7E"/>
                  </a:solidFill>
                  <a:ea typeface="+mn-lt"/>
                  <a:cs typeface="+mn-lt"/>
                </a:rPr>
                <a:t>利便性向上を目的とした改善を実施</a:t>
              </a:r>
              <a:endParaRPr lang="en-US" altLang="ja-JP" dirty="0" err="1"/>
            </a:p>
            <a:p>
              <a:pPr marL="285750" indent="-285750">
                <a:buFont typeface="Arial"/>
                <a:buChar char="•"/>
              </a:pPr>
              <a:r>
                <a:rPr lang="ja-JP" altLang="en-US" sz="2100" spc="-115" dirty="0" err="1">
                  <a:solidFill>
                    <a:srgbClr val="2E5E7E"/>
                  </a:solidFill>
                  <a:ea typeface="+mn-lt"/>
                  <a:cs typeface="+mn-lt"/>
                </a:rPr>
                <a:t>ユーザー体験を重視した設計を実現</a:t>
              </a:r>
              <a:endParaRPr lang="en-US" dirty="0" err="1"/>
            </a:p>
            <a:p>
              <a:pPr marL="0" lvl="0" indent="0" algn="l">
                <a:lnSpc>
                  <a:spcPts val="2520"/>
                </a:lnSpc>
              </a:pPr>
              <a:endParaRPr lang="en-US" sz="2100" spc="-115" dirty="0">
                <a:solidFill>
                  <a:srgbClr val="2E5E7E"/>
                </a:solidFill>
                <a:latin typeface="Work Sans"/>
                <a:ea typeface="Work Sans"/>
                <a:cs typeface="Work Sans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>
            <a:off x="7060594" y="4199855"/>
            <a:ext cx="814703" cy="862998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8" name="Freeform 18"/>
          <p:cNvSpPr/>
          <p:nvPr/>
        </p:nvSpPr>
        <p:spPr>
          <a:xfrm>
            <a:off x="1130409" y="4215953"/>
            <a:ext cx="782505" cy="846900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2172950" y="3657600"/>
            <a:ext cx="5448300" cy="5962650"/>
            <a:chOff x="0" y="0"/>
            <a:chExt cx="1434943" cy="157041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34943" cy="1570410"/>
            </a:xfrm>
            <a:custGeom>
              <a:avLst/>
              <a:gdLst/>
              <a:ahLst/>
              <a:cxnLst/>
              <a:rect l="l" t="t" r="r" b="b"/>
              <a:pathLst>
                <a:path w="1434943" h="1570410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13571"/>
                  </a:lnTo>
                  <a:cubicBezTo>
                    <a:pt x="1434943" y="1544962"/>
                    <a:pt x="1409495" y="1570410"/>
                    <a:pt x="1378104" y="1570410"/>
                  </a:cubicBezTo>
                  <a:lnTo>
                    <a:pt x="56839" y="1570410"/>
                  </a:lnTo>
                  <a:cubicBezTo>
                    <a:pt x="25448" y="1570410"/>
                    <a:pt x="0" y="1544962"/>
                    <a:pt x="0" y="1513571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434943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806295" y="4394848"/>
            <a:ext cx="4306770" cy="3205994"/>
            <a:chOff x="-1073240" y="195597"/>
            <a:chExt cx="5742360" cy="4274659"/>
          </a:xfrm>
        </p:grpSpPr>
        <p:sp>
          <p:nvSpPr>
            <p:cNvPr id="23" name="TextBox 23"/>
            <p:cNvSpPr txBox="1"/>
            <p:nvPr/>
          </p:nvSpPr>
          <p:spPr>
            <a:xfrm>
              <a:off x="128788" y="195597"/>
              <a:ext cx="4540332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ja-JP" altLang="en-US" sz="3000" spc="-165">
                  <a:solidFill>
                    <a:srgbClr val="577DAC"/>
                  </a:solidFill>
                  <a:ea typeface="+mn-lt"/>
                  <a:cs typeface="+mn-lt"/>
                </a:rPr>
                <a:t>協力を促進</a:t>
              </a:r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-1073240" y="1457465"/>
              <a:ext cx="4540332" cy="3012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ja-JP" altLang="en-US" sz="2100" spc="-115" dirty="0" err="1">
                  <a:solidFill>
                    <a:srgbClr val="2E5E7E"/>
                  </a:solidFill>
                  <a:ea typeface="+mn-lt"/>
                  <a:cs typeface="+mn-lt"/>
                </a:rPr>
                <a:t>プロジェクト改善のために意見を募集</a:t>
              </a:r>
              <a:endParaRPr lang="en-US" altLang="ja-JP" dirty="0" err="1"/>
            </a:p>
            <a:p>
              <a:pPr marL="285750" indent="-285750">
                <a:buFont typeface="Arial"/>
                <a:buChar char="•"/>
              </a:pPr>
              <a:r>
                <a:rPr lang="ja-JP" altLang="en-US" sz="2100" spc="-115" dirty="0" err="1">
                  <a:solidFill>
                    <a:srgbClr val="2E5E7E"/>
                  </a:solidFill>
                  <a:ea typeface="+mn-lt"/>
                  <a:cs typeface="+mn-lt"/>
                </a:rPr>
                <a:t>参加者（またはユーザ</a:t>
              </a:r>
              <a:r>
                <a:rPr lang="ja-JP" altLang="en-US" sz="2100" spc="-115" dirty="0">
                  <a:solidFill>
                    <a:srgbClr val="2E5E7E"/>
                  </a:solidFill>
                  <a:ea typeface="+mn-lt"/>
                  <a:cs typeface="+mn-lt"/>
                </a:rPr>
                <a:t>ー）</a:t>
              </a:r>
              <a:r>
                <a:rPr lang="ja-JP" altLang="en-US" sz="2100" spc="-115" dirty="0" err="1">
                  <a:solidFill>
                    <a:srgbClr val="2E5E7E"/>
                  </a:solidFill>
                  <a:ea typeface="+mn-lt"/>
                  <a:cs typeface="+mn-lt"/>
                </a:rPr>
                <a:t>のフィードバックを重視</a:t>
              </a:r>
              <a:endParaRPr lang="en-US" altLang="ja-JP" dirty="0" err="1"/>
            </a:p>
            <a:p>
              <a:pPr marL="285750" indent="-285750">
                <a:buFont typeface="Arial"/>
                <a:buChar char="•"/>
              </a:pPr>
              <a:r>
                <a:rPr lang="ja-JP" altLang="en-US" sz="2100" spc="-115" dirty="0" err="1">
                  <a:solidFill>
                    <a:srgbClr val="2E5E7E"/>
                  </a:solidFill>
                  <a:ea typeface="+mn-lt"/>
                  <a:cs typeface="+mn-lt"/>
                </a:rPr>
                <a:t>より良い成果を目指して反映予定</a:t>
              </a:r>
              <a:endParaRPr lang="en-US" dirty="0" err="1"/>
            </a:p>
            <a:p>
              <a:pPr marL="0" lvl="0" indent="0" algn="l">
                <a:lnSpc>
                  <a:spcPts val="2520"/>
                </a:lnSpc>
              </a:pPr>
              <a:endParaRPr lang="en-US" sz="2100" b="1" spc="-115" dirty="0">
                <a:solidFill>
                  <a:srgbClr val="2E5E7E"/>
                </a:solidFill>
                <a:latin typeface="Work Sans Bold"/>
                <a:ea typeface="Work Sans Bold"/>
                <a:cs typeface="Work Sans Bold"/>
              </a:endParaRPr>
            </a:p>
          </p:txBody>
        </p:sp>
      </p:grpSp>
      <p:sp>
        <p:nvSpPr>
          <p:cNvPr id="25" name="Freeform 25"/>
          <p:cNvSpPr/>
          <p:nvPr/>
        </p:nvSpPr>
        <p:spPr>
          <a:xfrm>
            <a:off x="12809721" y="4248151"/>
            <a:ext cx="814703" cy="814702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1"/>
            </a:xfrm>
            <a:custGeom>
              <a:avLst/>
              <a:gdLst/>
              <a:ahLst/>
              <a:cxnLst/>
              <a:rect l="l" t="t" r="r" b="b"/>
              <a:pathLst>
                <a:path w="4987156" h="790101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A9CC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3657600"/>
            <a:ext cx="8324850" cy="5962650"/>
            <a:chOff x="0" y="0"/>
            <a:chExt cx="1289737" cy="9237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9737" cy="923771"/>
            </a:xfrm>
            <a:custGeom>
              <a:avLst/>
              <a:gdLst/>
              <a:ahLst/>
              <a:cxnLst/>
              <a:rect l="l" t="t" r="r" b="b"/>
              <a:pathLst>
                <a:path w="1289737" h="923771">
                  <a:moveTo>
                    <a:pt x="37199" y="0"/>
                  </a:moveTo>
                  <a:lnTo>
                    <a:pt x="1252538" y="0"/>
                  </a:lnTo>
                  <a:cubicBezTo>
                    <a:pt x="1262404" y="0"/>
                    <a:pt x="1271866" y="3919"/>
                    <a:pt x="1278842" y="10895"/>
                  </a:cubicBezTo>
                  <a:cubicBezTo>
                    <a:pt x="1285818" y="17872"/>
                    <a:pt x="1289737" y="27333"/>
                    <a:pt x="1289737" y="37199"/>
                  </a:cubicBezTo>
                  <a:lnTo>
                    <a:pt x="1289737" y="886571"/>
                  </a:lnTo>
                  <a:cubicBezTo>
                    <a:pt x="1289737" y="896437"/>
                    <a:pt x="1285818" y="905899"/>
                    <a:pt x="1278842" y="912875"/>
                  </a:cubicBezTo>
                  <a:cubicBezTo>
                    <a:pt x="1271866" y="919851"/>
                    <a:pt x="1262404" y="923771"/>
                    <a:pt x="1252538" y="923771"/>
                  </a:cubicBezTo>
                  <a:lnTo>
                    <a:pt x="37199" y="923771"/>
                  </a:lnTo>
                  <a:cubicBezTo>
                    <a:pt x="27333" y="923771"/>
                    <a:pt x="17872" y="919851"/>
                    <a:pt x="10895" y="912875"/>
                  </a:cubicBezTo>
                  <a:cubicBezTo>
                    <a:pt x="3919" y="905899"/>
                    <a:pt x="0" y="896437"/>
                    <a:pt x="0" y="886571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blipFill>
              <a:blip r:embed="rId2"/>
              <a:stretch>
                <a:fillRect l="-174" r="-174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20434" y="1576571"/>
            <a:ext cx="13424266" cy="1022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05"/>
              </a:lnSpc>
            </a:pPr>
            <a:r>
              <a:rPr lang="en-US" sz="7900" b="1" spc="-434">
                <a:solidFill>
                  <a:srgbClr val="2E5E7E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ご清聴ありがとうございました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1B60331-B158-6151-856F-F8DEB5CB9C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03" b="4181"/>
          <a:stretch>
            <a:fillRect/>
          </a:stretch>
        </p:blipFill>
        <p:spPr>
          <a:xfrm>
            <a:off x="10159792" y="3658137"/>
            <a:ext cx="6164814" cy="62096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dfa515a-daec-4806-8803-5ac9c4d2664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C328ED54218B84CB49F1FBAF66CD798" ma:contentTypeVersion="11" ma:contentTypeDescription="新しいドキュメントを作成します。" ma:contentTypeScope="" ma:versionID="c3af5e3dd38dc1a8d6b9a15ddc83e43c">
  <xsd:schema xmlns:xsd="http://www.w3.org/2001/XMLSchema" xmlns:xs="http://www.w3.org/2001/XMLSchema" xmlns:p="http://schemas.microsoft.com/office/2006/metadata/properties" xmlns:ns3="bdfa515a-daec-4806-8803-5ac9c4d26645" targetNamespace="http://schemas.microsoft.com/office/2006/metadata/properties" ma:root="true" ma:fieldsID="d92744325ffc0723a2208e69e9807fe9" ns3:_="">
    <xsd:import namespace="bdfa515a-daec-4806-8803-5ac9c4d2664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fa515a-daec-4806-8803-5ac9c4d2664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165AA69-F1F5-4383-8426-81FD44C19A62}">
  <ds:schemaRefs>
    <ds:schemaRef ds:uri="bdfa515a-daec-4806-8803-5ac9c4d2664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B6DCA93-EE86-41C6-BAD1-FF908A4CEF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3420D4-F826-4977-A79F-A6D4A008332B}">
  <ds:schemaRefs>
    <ds:schemaRef ds:uri="bdfa515a-daec-4806-8803-5ac9c4d2664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プレゼンテーション - 自作OS環境で動作するAIチャットボットの開発</dc:title>
  <dc:description>プレゼンテーション - 自作OS環境で動作するAIチャットボットの開発</dc:description>
  <cp:revision>145</cp:revision>
  <dcterms:created xsi:type="dcterms:W3CDTF">2006-08-16T00:00:00Z</dcterms:created>
  <dcterms:modified xsi:type="dcterms:W3CDTF">2025-11-01T14:15:09Z</dcterms:modified>
  <dc:identifier>DAG3dYIWHks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0x010100EC328ED54218B84CB49F1FBAF66CD798</vt:lpwstr>
  </property>
</Properties>
</file>