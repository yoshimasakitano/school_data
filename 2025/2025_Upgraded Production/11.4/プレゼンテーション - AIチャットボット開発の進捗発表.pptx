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Lst>
  <p:sldSz cx="18288000" cy="10287000"/>
  <p:notesSz cx="6858000" cy="9144000"/>
  <p:embeddedFontLst>
    <p:embeddedFont>
      <p:font typeface="Cooper BT Light" panose="020B0600070205080204" charset="0"/>
      <p:regular r:id="rId14"/>
    </p:embeddedFont>
    <p:embeddedFont>
      <p:font typeface="Cooper BT Medium" panose="020B0600070205080204" charset="0"/>
      <p:regular r:id="rId15"/>
    </p:embeddedFont>
    <p:embeddedFont>
      <p:font typeface="TT Interphases" panose="020B0600070205080204" charset="0"/>
      <p:regular r:id="rId16"/>
    </p:embeddedFont>
    <p:embeddedFont>
      <p:font typeface="TT Interphases Bold" panose="020B0600070205080204" charset="0"/>
      <p:regular r:id="rId17"/>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autoAdjust="0"/>
    <p:restoredTop sz="94622" autoAdjust="0"/>
  </p:normalViewPr>
  <p:slideViewPr>
    <p:cSldViewPr>
      <p:cViewPr varScale="1">
        <p:scale>
          <a:sx n="47" d="100"/>
          <a:sy n="47" d="100"/>
        </p:scale>
        <p:origin x="500" y="52"/>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font" Target="fonts/font4.fntdata"/><Relationship Id="rId2" Type="http://schemas.openxmlformats.org/officeDocument/2006/relationships/slide" Target="slides/slide1.xml"/><Relationship Id="rId16" Type="http://schemas.openxmlformats.org/officeDocument/2006/relationships/font" Target="fonts/font3.fntdata"/><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font" Target="fonts/font2.fntdata"/><Relationship Id="rId10" Type="http://schemas.openxmlformats.org/officeDocument/2006/relationships/slide" Target="slides/slide9.xml"/><Relationship Id="rId19"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font" Target="fonts/font1.fntdata"/></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11/4/2025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11/4/2025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11/4/2025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11/4/2025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11/4/2025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11/4/2025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11/4/2025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11/4/2025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11/4/2025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11/4/2025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11/4/2025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11/4/2025</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image" Target="../media/image4.jpeg"/><Relationship Id="rId1" Type="http://schemas.openxmlformats.org/officeDocument/2006/relationships/slideLayout" Target="../slideLayouts/slideLayout7.xml"/><Relationship Id="rId5" Type="http://schemas.openxmlformats.org/officeDocument/2006/relationships/image" Target="../media/image3.svg"/><Relationship Id="rId4" Type="http://schemas.openxmlformats.org/officeDocument/2006/relationships/image" Target="../media/image2.png"/></Relationships>
</file>

<file path=ppt/slides/_rels/slide4.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jpeg"/><Relationship Id="rId1" Type="http://schemas.openxmlformats.org/officeDocument/2006/relationships/slideLayout" Target="../slideLayouts/slideLayout7.xml"/><Relationship Id="rId4" Type="http://schemas.openxmlformats.org/officeDocument/2006/relationships/image" Target="../media/image8.svg"/></Relationships>
</file>

<file path=ppt/slides/_rels/slide5.xml.rels><?xml version="1.0" encoding="UTF-8" standalone="yes"?>
<Relationships xmlns="http://schemas.openxmlformats.org/package/2006/relationships"><Relationship Id="rId3" Type="http://schemas.openxmlformats.org/officeDocument/2006/relationships/image" Target="../media/image10.svg"/><Relationship Id="rId2" Type="http://schemas.openxmlformats.org/officeDocument/2006/relationships/image" Target="../media/image9.pn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11.jpeg"/><Relationship Id="rId1" Type="http://schemas.openxmlformats.org/officeDocument/2006/relationships/slideLayout" Target="../slideLayouts/slideLayout7.xml"/><Relationship Id="rId4" Type="http://schemas.openxmlformats.org/officeDocument/2006/relationships/image" Target="../media/image8.svg"/></Relationships>
</file>

<file path=ppt/slides/_rels/slide7.xml.rels><?xml version="1.0" encoding="UTF-8" standalone="yes"?>
<Relationships xmlns="http://schemas.openxmlformats.org/package/2006/relationships"><Relationship Id="rId3" Type="http://schemas.openxmlformats.org/officeDocument/2006/relationships/image" Target="../media/image13.svg"/><Relationship Id="rId2" Type="http://schemas.openxmlformats.org/officeDocument/2006/relationships/image" Target="../media/image12.pn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4.jpeg"/><Relationship Id="rId1" Type="http://schemas.openxmlformats.org/officeDocument/2006/relationships/slideLayout" Target="../slideLayouts/slideLayout7.xml"/><Relationship Id="rId4" Type="http://schemas.openxmlformats.org/officeDocument/2006/relationships/image" Target="../media/image16.sv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7.jpeg"/><Relationship Id="rId1" Type="http://schemas.openxmlformats.org/officeDocument/2006/relationships/slideLayout" Target="../slideLayouts/slideLayout7.xml"/><Relationship Id="rId4" Type="http://schemas.openxmlformats.org/officeDocument/2006/relationships/image" Target="../media/image16.svg"/></Relationships>
</file>

<file path=ppt/slides/_rels/slide11.xml.rels><?xml version="1.0" encoding="UTF-8" standalone="yes"?>
<Relationships xmlns="http://schemas.openxmlformats.org/package/2006/relationships"><Relationship Id="rId3" Type="http://schemas.openxmlformats.org/officeDocument/2006/relationships/image" Target="../media/image19.svg"/><Relationship Id="rId2" Type="http://schemas.openxmlformats.org/officeDocument/2006/relationships/image" Target="../media/image18.png"/><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3" Type="http://schemas.openxmlformats.org/officeDocument/2006/relationships/image" Target="../media/image21.jpeg"/><Relationship Id="rId2" Type="http://schemas.openxmlformats.org/officeDocument/2006/relationships/image" Target="../media/image20.jpeg"/><Relationship Id="rId1" Type="http://schemas.openxmlformats.org/officeDocument/2006/relationships/slideLayout" Target="../slideLayouts/slideLayout7.xml"/><Relationship Id="rId5" Type="http://schemas.openxmlformats.org/officeDocument/2006/relationships/image" Target="../media/image3.svg"/><Relationship Id="rId4" Type="http://schemas.openxmlformats.org/officeDocument/2006/relationships/image" Target="../media/image2.pn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E5F1FB"/>
        </a:solidFill>
        <a:effectLst/>
      </p:bgPr>
    </p:bg>
    <p:spTree>
      <p:nvGrpSpPr>
        <p:cNvPr id="1" name=""/>
        <p:cNvGrpSpPr/>
        <p:nvPr/>
      </p:nvGrpSpPr>
      <p:grpSpPr>
        <a:xfrm>
          <a:off x="0" y="0"/>
          <a:ext cx="0" cy="0"/>
          <a:chOff x="0" y="0"/>
          <a:chExt cx="0" cy="0"/>
        </a:xfrm>
      </p:grpSpPr>
      <p:grpSp>
        <p:nvGrpSpPr>
          <p:cNvPr id="2" name="Group 2"/>
          <p:cNvGrpSpPr/>
          <p:nvPr/>
        </p:nvGrpSpPr>
        <p:grpSpPr>
          <a:xfrm>
            <a:off x="0" y="0"/>
            <a:ext cx="8267700" cy="10287000"/>
            <a:chOff x="0" y="0"/>
            <a:chExt cx="2177501" cy="2709333"/>
          </a:xfrm>
        </p:grpSpPr>
        <p:sp>
          <p:nvSpPr>
            <p:cNvPr id="3" name="Freeform 3"/>
            <p:cNvSpPr/>
            <p:nvPr/>
          </p:nvSpPr>
          <p:spPr>
            <a:xfrm>
              <a:off x="0" y="0"/>
              <a:ext cx="2177501" cy="2709333"/>
            </a:xfrm>
            <a:custGeom>
              <a:avLst/>
              <a:gdLst/>
              <a:ahLst/>
              <a:cxnLst/>
              <a:rect l="l" t="t" r="r" b="b"/>
              <a:pathLst>
                <a:path w="2177501" h="2709333">
                  <a:moveTo>
                    <a:pt x="0" y="0"/>
                  </a:moveTo>
                  <a:lnTo>
                    <a:pt x="2177501" y="0"/>
                  </a:lnTo>
                  <a:lnTo>
                    <a:pt x="2177501" y="2709333"/>
                  </a:lnTo>
                  <a:lnTo>
                    <a:pt x="0" y="2709333"/>
                  </a:lnTo>
                  <a:close/>
                </a:path>
              </a:pathLst>
            </a:custGeom>
            <a:solidFill>
              <a:srgbClr val="497EA6"/>
            </a:solidFill>
          </p:spPr>
        </p:sp>
        <p:sp>
          <p:nvSpPr>
            <p:cNvPr id="4" name="TextBox 4"/>
            <p:cNvSpPr txBox="1"/>
            <p:nvPr/>
          </p:nvSpPr>
          <p:spPr>
            <a:xfrm>
              <a:off x="0" y="-28575"/>
              <a:ext cx="2177501" cy="2737908"/>
            </a:xfrm>
            <a:prstGeom prst="rect">
              <a:avLst/>
            </a:prstGeom>
          </p:spPr>
          <p:txBody>
            <a:bodyPr lIns="50800" tIns="50800" rIns="50800" bIns="50800" rtlCol="0" anchor="ctr"/>
            <a:lstStyle/>
            <a:p>
              <a:pPr marL="0" lvl="0" indent="0" algn="ctr">
                <a:lnSpc>
                  <a:spcPts val="2100"/>
                </a:lnSpc>
              </a:pPr>
              <a:endParaRPr/>
            </a:p>
          </p:txBody>
        </p:sp>
      </p:grpSp>
      <p:grpSp>
        <p:nvGrpSpPr>
          <p:cNvPr id="5" name="Group 5"/>
          <p:cNvGrpSpPr/>
          <p:nvPr/>
        </p:nvGrpSpPr>
        <p:grpSpPr>
          <a:xfrm>
            <a:off x="9296400" y="838200"/>
            <a:ext cx="8324850" cy="5524500"/>
            <a:chOff x="0" y="228600"/>
            <a:chExt cx="11099800" cy="6969832"/>
          </a:xfrm>
        </p:grpSpPr>
        <p:sp>
          <p:nvSpPr>
            <p:cNvPr id="6" name="TextBox 6"/>
            <p:cNvSpPr txBox="1"/>
            <p:nvPr/>
          </p:nvSpPr>
          <p:spPr>
            <a:xfrm>
              <a:off x="0" y="6680272"/>
              <a:ext cx="11099800" cy="518160"/>
            </a:xfrm>
            <a:prstGeom prst="rect">
              <a:avLst/>
            </a:prstGeom>
          </p:spPr>
          <p:txBody>
            <a:bodyPr lIns="0" tIns="0" rIns="0" bIns="0" rtlCol="0" anchor="t">
              <a:spAutoFit/>
            </a:bodyPr>
            <a:lstStyle/>
            <a:p>
              <a:pPr marL="0" lvl="0" indent="0" algn="l">
                <a:lnSpc>
                  <a:spcPts val="3119"/>
                </a:lnSpc>
              </a:pPr>
              <a:r>
                <a:rPr lang="en-US" sz="2399" spc="-47" dirty="0" err="1">
                  <a:solidFill>
                    <a:srgbClr val="27496D"/>
                  </a:solidFill>
                  <a:latin typeface="TT Interphases"/>
                  <a:ea typeface="TT Interphases"/>
                  <a:cs typeface="TT Interphases"/>
                  <a:sym typeface="TT Interphases"/>
                </a:rPr>
                <a:t>フロントエンド構築と今後の展望</a:t>
              </a:r>
              <a:endParaRPr lang="en-US" sz="2399" spc="-47" dirty="0">
                <a:solidFill>
                  <a:srgbClr val="27496D"/>
                </a:solidFill>
                <a:latin typeface="TT Interphases"/>
                <a:ea typeface="TT Interphases"/>
                <a:cs typeface="TT Interphases"/>
                <a:sym typeface="TT Interphases"/>
              </a:endParaRPr>
            </a:p>
          </p:txBody>
        </p:sp>
        <p:sp>
          <p:nvSpPr>
            <p:cNvPr id="7" name="TextBox 7"/>
            <p:cNvSpPr txBox="1"/>
            <p:nvPr/>
          </p:nvSpPr>
          <p:spPr>
            <a:xfrm>
              <a:off x="0" y="228600"/>
              <a:ext cx="11099800" cy="5899050"/>
            </a:xfrm>
            <a:prstGeom prst="rect">
              <a:avLst/>
            </a:prstGeom>
          </p:spPr>
          <p:txBody>
            <a:bodyPr lIns="0" tIns="0" rIns="0" bIns="0" rtlCol="0" anchor="t">
              <a:spAutoFit/>
            </a:bodyPr>
            <a:lstStyle/>
            <a:p>
              <a:pPr marL="0" lvl="0" indent="0" algn="l">
                <a:lnSpc>
                  <a:spcPts val="11499"/>
                </a:lnSpc>
              </a:pPr>
              <a:r>
                <a:rPr lang="en-US" sz="11499" spc="-229" dirty="0" err="1">
                  <a:solidFill>
                    <a:srgbClr val="497EA6"/>
                  </a:solidFill>
                  <a:latin typeface="Cooper BT Light"/>
                  <a:ea typeface="Cooper BT Light"/>
                  <a:cs typeface="Cooper BT Light"/>
                  <a:sym typeface="Cooper BT Light"/>
                </a:rPr>
                <a:t>AIチャットボット開発の進捗発</a:t>
              </a:r>
              <a:r>
                <a:rPr lang="ja-JP" altLang="en-US" sz="11499" spc="-229" dirty="0">
                  <a:solidFill>
                    <a:srgbClr val="497EA6"/>
                  </a:solidFill>
                  <a:latin typeface="Cooper BT Light"/>
                  <a:ea typeface="Cooper BT Light"/>
                  <a:cs typeface="Cooper BT Light"/>
                  <a:sym typeface="Cooper BT Light"/>
                </a:rPr>
                <a:t>表</a:t>
              </a:r>
              <a:endParaRPr lang="en-US" sz="11499" spc="-229" dirty="0">
                <a:solidFill>
                  <a:srgbClr val="497EA6"/>
                </a:solidFill>
                <a:latin typeface="Cooper BT Light"/>
                <a:ea typeface="Cooper BT Light"/>
                <a:cs typeface="Cooper BT Light"/>
                <a:sym typeface="Cooper BT Light"/>
              </a:endParaRPr>
            </a:p>
          </p:txBody>
        </p:sp>
      </p:grpSp>
      <p:grpSp>
        <p:nvGrpSpPr>
          <p:cNvPr id="8" name="Group 8"/>
          <p:cNvGrpSpPr/>
          <p:nvPr/>
        </p:nvGrpSpPr>
        <p:grpSpPr>
          <a:xfrm>
            <a:off x="9296400" y="8710571"/>
            <a:ext cx="8324850" cy="909680"/>
            <a:chOff x="0" y="-19051"/>
            <a:chExt cx="11099800" cy="1212905"/>
          </a:xfrm>
        </p:grpSpPr>
        <p:sp>
          <p:nvSpPr>
            <p:cNvPr id="9" name="TextBox 9"/>
            <p:cNvSpPr txBox="1"/>
            <p:nvPr/>
          </p:nvSpPr>
          <p:spPr>
            <a:xfrm>
              <a:off x="0" y="659184"/>
              <a:ext cx="11099800" cy="534670"/>
            </a:xfrm>
            <a:prstGeom prst="rect">
              <a:avLst/>
            </a:prstGeom>
          </p:spPr>
          <p:txBody>
            <a:bodyPr lIns="0" tIns="0" rIns="0" bIns="0" rtlCol="0" anchor="t">
              <a:spAutoFit/>
            </a:bodyPr>
            <a:lstStyle/>
            <a:p>
              <a:pPr marL="0" lvl="0" indent="0" algn="l">
                <a:lnSpc>
                  <a:spcPts val="3359"/>
                </a:lnSpc>
              </a:pPr>
              <a:r>
                <a:rPr lang="ja-JP" altLang="en-US" sz="2400" dirty="0">
                  <a:solidFill>
                    <a:srgbClr val="27496D"/>
                  </a:solidFill>
                  <a:latin typeface="TT Interphases"/>
                  <a:ea typeface="TT Interphases"/>
                  <a:cs typeface="TT Interphases"/>
                  <a:sym typeface="TT Interphases"/>
                </a:rPr>
                <a:t>梅津亮介、岡本篤希、北野善聖、辻本悠仁</a:t>
              </a:r>
              <a:endParaRPr lang="en-US" sz="2400" dirty="0">
                <a:solidFill>
                  <a:srgbClr val="27496D"/>
                </a:solidFill>
                <a:latin typeface="TT Interphases"/>
                <a:ea typeface="TT Interphases"/>
                <a:cs typeface="TT Interphases"/>
                <a:sym typeface="TT Interphases"/>
              </a:endParaRPr>
            </a:p>
          </p:txBody>
        </p:sp>
        <p:sp>
          <p:nvSpPr>
            <p:cNvPr id="10" name="TextBox 10"/>
            <p:cNvSpPr txBox="1"/>
            <p:nvPr/>
          </p:nvSpPr>
          <p:spPr>
            <a:xfrm>
              <a:off x="0" y="-19050"/>
              <a:ext cx="11099800" cy="581237"/>
            </a:xfrm>
            <a:prstGeom prst="rect">
              <a:avLst/>
            </a:prstGeom>
          </p:spPr>
          <p:txBody>
            <a:bodyPr lIns="0" tIns="0" rIns="0" bIns="0" rtlCol="0" anchor="t">
              <a:spAutoFit/>
            </a:bodyPr>
            <a:lstStyle/>
            <a:p>
              <a:pPr marL="0" lvl="0" indent="0" algn="l">
                <a:lnSpc>
                  <a:spcPts val="3640"/>
                </a:lnSpc>
              </a:pPr>
              <a:r>
                <a:rPr lang="en-US" sz="2800" b="1" dirty="0">
                  <a:solidFill>
                    <a:srgbClr val="27496D"/>
                  </a:solidFill>
                  <a:latin typeface="TT Interphases Bold"/>
                  <a:ea typeface="TT Interphases Bold"/>
                  <a:cs typeface="TT Interphases Bold"/>
                  <a:sym typeface="TT Interphases Bold"/>
                </a:rPr>
                <a:t>[Presenter Name]</a:t>
              </a:r>
            </a:p>
          </p:txBody>
        </p:sp>
      </p:grpSp>
      <p:grpSp>
        <p:nvGrpSpPr>
          <p:cNvPr id="11" name="Group 11"/>
          <p:cNvGrpSpPr/>
          <p:nvPr/>
        </p:nvGrpSpPr>
        <p:grpSpPr>
          <a:xfrm>
            <a:off x="666750" y="666750"/>
            <a:ext cx="6886575" cy="8953500"/>
            <a:chOff x="0" y="0"/>
            <a:chExt cx="812800" cy="1056752"/>
          </a:xfrm>
        </p:grpSpPr>
        <p:sp>
          <p:nvSpPr>
            <p:cNvPr id="12" name="Freeform 12"/>
            <p:cNvSpPr/>
            <p:nvPr/>
          </p:nvSpPr>
          <p:spPr>
            <a:xfrm>
              <a:off x="0" y="0"/>
              <a:ext cx="812800" cy="1056752"/>
            </a:xfrm>
            <a:custGeom>
              <a:avLst/>
              <a:gdLst/>
              <a:ahLst/>
              <a:cxnLst/>
              <a:rect l="l" t="t" r="r" b="b"/>
              <a:pathLst>
                <a:path w="812800" h="1056752">
                  <a:moveTo>
                    <a:pt x="44968" y="0"/>
                  </a:moveTo>
                  <a:lnTo>
                    <a:pt x="767832" y="0"/>
                  </a:lnTo>
                  <a:cubicBezTo>
                    <a:pt x="779758" y="0"/>
                    <a:pt x="791196" y="4738"/>
                    <a:pt x="799629" y="13171"/>
                  </a:cubicBezTo>
                  <a:cubicBezTo>
                    <a:pt x="808062" y="21604"/>
                    <a:pt x="812800" y="33042"/>
                    <a:pt x="812800" y="44968"/>
                  </a:cubicBezTo>
                  <a:lnTo>
                    <a:pt x="812800" y="1011784"/>
                  </a:lnTo>
                  <a:cubicBezTo>
                    <a:pt x="812800" y="1023711"/>
                    <a:pt x="808062" y="1035148"/>
                    <a:pt x="799629" y="1043582"/>
                  </a:cubicBezTo>
                  <a:cubicBezTo>
                    <a:pt x="791196" y="1052015"/>
                    <a:pt x="779758" y="1056752"/>
                    <a:pt x="767832" y="1056752"/>
                  </a:cubicBezTo>
                  <a:lnTo>
                    <a:pt x="44968" y="1056752"/>
                  </a:lnTo>
                  <a:cubicBezTo>
                    <a:pt x="33042" y="1056752"/>
                    <a:pt x="21604" y="1052015"/>
                    <a:pt x="13171" y="1043582"/>
                  </a:cubicBezTo>
                  <a:cubicBezTo>
                    <a:pt x="4738" y="1035148"/>
                    <a:pt x="0" y="1023711"/>
                    <a:pt x="0" y="1011784"/>
                  </a:cubicBezTo>
                  <a:lnTo>
                    <a:pt x="0" y="44968"/>
                  </a:lnTo>
                  <a:cubicBezTo>
                    <a:pt x="0" y="33042"/>
                    <a:pt x="4738" y="21604"/>
                    <a:pt x="13171" y="13171"/>
                  </a:cubicBezTo>
                  <a:cubicBezTo>
                    <a:pt x="21604" y="4738"/>
                    <a:pt x="33042" y="0"/>
                    <a:pt x="44968" y="0"/>
                  </a:cubicBezTo>
                  <a:close/>
                </a:path>
              </a:pathLst>
            </a:custGeom>
            <a:blipFill>
              <a:blip r:embed="rId2"/>
              <a:stretch>
                <a:fillRect t="-271" b="-271"/>
              </a:stretch>
            </a:blipFill>
          </p:spPr>
        </p:sp>
      </p:gr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3"/>
          <p:cNvSpPr txBox="1"/>
          <p:nvPr/>
        </p:nvSpPr>
        <p:spPr>
          <a:xfrm>
            <a:off x="609600" y="2324100"/>
            <a:ext cx="10001250" cy="6077754"/>
          </a:xfrm>
          <a:prstGeom prst="rect">
            <a:avLst/>
          </a:prstGeom>
        </p:spPr>
        <p:txBody>
          <a:bodyPr wrap="square" lIns="0" tIns="0" rIns="0" bIns="0" rtlCol="0" anchor="t">
            <a:spAutoFit/>
          </a:bodyPr>
          <a:lstStyle/>
          <a:p>
            <a:pPr marL="0" lvl="0" indent="0" algn="l">
              <a:lnSpc>
                <a:spcPct val="150000"/>
              </a:lnSpc>
            </a:pPr>
            <a:r>
              <a:rPr lang="en-US" sz="5400" u="none" strike="noStrike" spc="-47" dirty="0">
                <a:solidFill>
                  <a:srgbClr val="27496D"/>
                </a:solidFill>
                <a:latin typeface="TT Interphases"/>
                <a:ea typeface="TT Interphases"/>
                <a:cs typeface="TT Interphases"/>
                <a:sym typeface="TT Interphases"/>
              </a:rPr>
              <a:t>本プロジェクトは、入学希望者や新入生が学校について気軽に質問できる仕組みを提供し、情報収集と自然な応答を実現することを目指します。</a:t>
            </a:r>
          </a:p>
        </p:txBody>
      </p:sp>
      <p:sp>
        <p:nvSpPr>
          <p:cNvPr id="4" name="TextBox 4"/>
          <p:cNvSpPr txBox="1"/>
          <p:nvPr/>
        </p:nvSpPr>
        <p:spPr>
          <a:xfrm>
            <a:off x="609600" y="800100"/>
            <a:ext cx="12192000" cy="1290225"/>
          </a:xfrm>
          <a:prstGeom prst="rect">
            <a:avLst/>
          </a:prstGeom>
        </p:spPr>
        <p:txBody>
          <a:bodyPr wrap="square" lIns="0" tIns="0" rIns="0" bIns="0" rtlCol="0" anchor="ctr">
            <a:spAutoFit/>
          </a:bodyPr>
          <a:lstStyle/>
          <a:p>
            <a:pPr marL="0" lvl="0" indent="0" algn="l">
              <a:lnSpc>
                <a:spcPts val="9874"/>
              </a:lnSpc>
              <a:spcBef>
                <a:spcPct val="0"/>
              </a:spcBef>
            </a:pPr>
            <a:r>
              <a:rPr lang="en-US" sz="11800" u="none" strike="noStrike" spc="-197" dirty="0" err="1">
                <a:solidFill>
                  <a:srgbClr val="497EA6"/>
                </a:solidFill>
                <a:latin typeface="Cooper BT Light"/>
                <a:ea typeface="Cooper BT Light"/>
                <a:cs typeface="Cooper BT Light"/>
                <a:sym typeface="Cooper BT Light"/>
              </a:rPr>
              <a:t>プロジェクト目的</a:t>
            </a:r>
            <a:endParaRPr lang="en-US" sz="11800" u="none" strike="noStrike" spc="-197" dirty="0">
              <a:solidFill>
                <a:srgbClr val="497EA6"/>
              </a:solidFill>
              <a:latin typeface="Cooper BT Light"/>
              <a:ea typeface="Cooper BT Light"/>
              <a:cs typeface="Cooper BT Light"/>
              <a:sym typeface="Cooper BT Light"/>
            </a:endParaRPr>
          </a:p>
        </p:txBody>
      </p:sp>
      <p:sp>
        <p:nvSpPr>
          <p:cNvPr id="5" name="Freeform 5"/>
          <p:cNvSpPr/>
          <p:nvPr/>
        </p:nvSpPr>
        <p:spPr>
          <a:xfrm>
            <a:off x="15428144" y="6607510"/>
            <a:ext cx="3459016" cy="4461104"/>
          </a:xfrm>
          <a:custGeom>
            <a:avLst/>
            <a:gdLst/>
            <a:ahLst/>
            <a:cxnLst/>
            <a:rect l="l" t="t" r="r" b="b"/>
            <a:pathLst>
              <a:path w="3459016" h="4461104">
                <a:moveTo>
                  <a:pt x="0" y="0"/>
                </a:moveTo>
                <a:lnTo>
                  <a:pt x="3459015" y="0"/>
                </a:lnTo>
                <a:lnTo>
                  <a:pt x="3459015" y="4461105"/>
                </a:lnTo>
                <a:lnTo>
                  <a:pt x="0" y="4461105"/>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E5F1FB"/>
        </a:solidFill>
        <a:effectLst/>
      </p:bgPr>
    </p:bg>
    <p:spTree>
      <p:nvGrpSpPr>
        <p:cNvPr id="1" name=""/>
        <p:cNvGrpSpPr/>
        <p:nvPr/>
      </p:nvGrpSpPr>
      <p:grpSpPr>
        <a:xfrm>
          <a:off x="0" y="0"/>
          <a:ext cx="0" cy="0"/>
          <a:chOff x="0" y="0"/>
          <a:chExt cx="0" cy="0"/>
        </a:xfrm>
      </p:grpSpPr>
      <p:grpSp>
        <p:nvGrpSpPr>
          <p:cNvPr id="2" name="Group 2"/>
          <p:cNvGrpSpPr/>
          <p:nvPr/>
        </p:nvGrpSpPr>
        <p:grpSpPr>
          <a:xfrm>
            <a:off x="7858125" y="0"/>
            <a:ext cx="10429875" cy="10287000"/>
            <a:chOff x="0" y="0"/>
            <a:chExt cx="2746963" cy="2709333"/>
          </a:xfrm>
        </p:grpSpPr>
        <p:sp>
          <p:nvSpPr>
            <p:cNvPr id="3" name="Freeform 3"/>
            <p:cNvSpPr/>
            <p:nvPr/>
          </p:nvSpPr>
          <p:spPr>
            <a:xfrm>
              <a:off x="0" y="0"/>
              <a:ext cx="2746963" cy="2709333"/>
            </a:xfrm>
            <a:custGeom>
              <a:avLst/>
              <a:gdLst/>
              <a:ahLst/>
              <a:cxnLst/>
              <a:rect l="l" t="t" r="r" b="b"/>
              <a:pathLst>
                <a:path w="2746963" h="2709333">
                  <a:moveTo>
                    <a:pt x="0" y="0"/>
                  </a:moveTo>
                  <a:lnTo>
                    <a:pt x="2746963" y="0"/>
                  </a:lnTo>
                  <a:lnTo>
                    <a:pt x="2746963" y="2709333"/>
                  </a:lnTo>
                  <a:lnTo>
                    <a:pt x="0" y="2709333"/>
                  </a:lnTo>
                  <a:close/>
                </a:path>
              </a:pathLst>
            </a:custGeom>
            <a:solidFill>
              <a:srgbClr val="497EA6"/>
            </a:solidFill>
          </p:spPr>
        </p:sp>
        <p:sp>
          <p:nvSpPr>
            <p:cNvPr id="4" name="TextBox 4"/>
            <p:cNvSpPr txBox="1"/>
            <p:nvPr/>
          </p:nvSpPr>
          <p:spPr>
            <a:xfrm>
              <a:off x="0" y="-38100"/>
              <a:ext cx="2746963" cy="2747433"/>
            </a:xfrm>
            <a:prstGeom prst="rect">
              <a:avLst/>
            </a:prstGeom>
          </p:spPr>
          <p:txBody>
            <a:bodyPr lIns="50800" tIns="50800" rIns="50800" bIns="50800" rtlCol="0" anchor="ctr"/>
            <a:lstStyle/>
            <a:p>
              <a:pPr marL="0" lvl="0" indent="0" algn="ctr">
                <a:lnSpc>
                  <a:spcPts val="3120"/>
                </a:lnSpc>
              </a:pPr>
              <a:endParaRPr/>
            </a:p>
          </p:txBody>
        </p:sp>
      </p:grpSp>
      <p:grpSp>
        <p:nvGrpSpPr>
          <p:cNvPr id="5" name="Group 5"/>
          <p:cNvGrpSpPr/>
          <p:nvPr/>
        </p:nvGrpSpPr>
        <p:grpSpPr>
          <a:xfrm>
            <a:off x="9296400" y="6934200"/>
            <a:ext cx="4010025" cy="2712720"/>
            <a:chOff x="0" y="0"/>
            <a:chExt cx="1056138" cy="714461"/>
          </a:xfrm>
        </p:grpSpPr>
        <p:sp>
          <p:nvSpPr>
            <p:cNvPr id="6" name="Freeform 6"/>
            <p:cNvSpPr/>
            <p:nvPr/>
          </p:nvSpPr>
          <p:spPr>
            <a:xfrm>
              <a:off x="0" y="0"/>
              <a:ext cx="1056138" cy="714461"/>
            </a:xfrm>
            <a:custGeom>
              <a:avLst/>
              <a:gdLst/>
              <a:ahLst/>
              <a:cxnLst/>
              <a:rect l="l" t="t" r="r" b="b"/>
              <a:pathLst>
                <a:path w="1056138" h="714461">
                  <a:moveTo>
                    <a:pt x="77226" y="0"/>
                  </a:moveTo>
                  <a:lnTo>
                    <a:pt x="978913" y="0"/>
                  </a:lnTo>
                  <a:cubicBezTo>
                    <a:pt x="1021563" y="0"/>
                    <a:pt x="1056138" y="34575"/>
                    <a:pt x="1056138" y="77226"/>
                  </a:cubicBezTo>
                  <a:lnTo>
                    <a:pt x="1056138" y="637236"/>
                  </a:lnTo>
                  <a:cubicBezTo>
                    <a:pt x="1056138" y="679886"/>
                    <a:pt x="1021563" y="714461"/>
                    <a:pt x="978913" y="714461"/>
                  </a:cubicBezTo>
                  <a:lnTo>
                    <a:pt x="77226" y="714461"/>
                  </a:lnTo>
                  <a:cubicBezTo>
                    <a:pt x="34575" y="714461"/>
                    <a:pt x="0" y="679886"/>
                    <a:pt x="0" y="637236"/>
                  </a:cubicBezTo>
                  <a:lnTo>
                    <a:pt x="0" y="77226"/>
                  </a:lnTo>
                  <a:cubicBezTo>
                    <a:pt x="0" y="34575"/>
                    <a:pt x="34575" y="0"/>
                    <a:pt x="77226" y="0"/>
                  </a:cubicBezTo>
                  <a:close/>
                </a:path>
              </a:pathLst>
            </a:custGeom>
            <a:solidFill>
              <a:srgbClr val="E5F1FB"/>
            </a:solidFill>
            <a:ln w="28575" cap="rnd">
              <a:solidFill>
                <a:srgbClr val="000000"/>
              </a:solidFill>
              <a:prstDash val="solid"/>
              <a:round/>
            </a:ln>
          </p:spPr>
        </p:sp>
        <p:sp>
          <p:nvSpPr>
            <p:cNvPr id="7" name="TextBox 7"/>
            <p:cNvSpPr txBox="1"/>
            <p:nvPr/>
          </p:nvSpPr>
          <p:spPr>
            <a:xfrm>
              <a:off x="0" y="-28575"/>
              <a:ext cx="1056138" cy="743036"/>
            </a:xfrm>
            <a:prstGeom prst="rect">
              <a:avLst/>
            </a:prstGeom>
          </p:spPr>
          <p:txBody>
            <a:bodyPr lIns="50800" tIns="50800" rIns="50800" bIns="50800" rtlCol="0" anchor="ctr"/>
            <a:lstStyle/>
            <a:p>
              <a:pPr marL="0" lvl="0" indent="0" algn="ctr">
                <a:lnSpc>
                  <a:spcPts val="1960"/>
                </a:lnSpc>
                <a:spcBef>
                  <a:spcPct val="0"/>
                </a:spcBef>
              </a:pPr>
              <a:endParaRPr/>
            </a:p>
          </p:txBody>
        </p:sp>
      </p:grpSp>
      <p:grpSp>
        <p:nvGrpSpPr>
          <p:cNvPr id="8" name="Group 8"/>
          <p:cNvGrpSpPr/>
          <p:nvPr/>
        </p:nvGrpSpPr>
        <p:grpSpPr>
          <a:xfrm>
            <a:off x="13611225" y="6934200"/>
            <a:ext cx="4010025" cy="2686050"/>
            <a:chOff x="0" y="0"/>
            <a:chExt cx="1056138" cy="707437"/>
          </a:xfrm>
        </p:grpSpPr>
        <p:sp>
          <p:nvSpPr>
            <p:cNvPr id="9" name="Freeform 9"/>
            <p:cNvSpPr/>
            <p:nvPr/>
          </p:nvSpPr>
          <p:spPr>
            <a:xfrm>
              <a:off x="0" y="0"/>
              <a:ext cx="1056138" cy="707437"/>
            </a:xfrm>
            <a:custGeom>
              <a:avLst/>
              <a:gdLst/>
              <a:ahLst/>
              <a:cxnLst/>
              <a:rect l="l" t="t" r="r" b="b"/>
              <a:pathLst>
                <a:path w="1056138" h="707437">
                  <a:moveTo>
                    <a:pt x="77226" y="0"/>
                  </a:moveTo>
                  <a:lnTo>
                    <a:pt x="978913" y="0"/>
                  </a:lnTo>
                  <a:cubicBezTo>
                    <a:pt x="1021563" y="0"/>
                    <a:pt x="1056138" y="34575"/>
                    <a:pt x="1056138" y="77226"/>
                  </a:cubicBezTo>
                  <a:lnTo>
                    <a:pt x="1056138" y="630211"/>
                  </a:lnTo>
                  <a:cubicBezTo>
                    <a:pt x="1056138" y="672862"/>
                    <a:pt x="1021563" y="707437"/>
                    <a:pt x="978913" y="707437"/>
                  </a:cubicBezTo>
                  <a:lnTo>
                    <a:pt x="77226" y="707437"/>
                  </a:lnTo>
                  <a:cubicBezTo>
                    <a:pt x="34575" y="707437"/>
                    <a:pt x="0" y="672862"/>
                    <a:pt x="0" y="630211"/>
                  </a:cubicBezTo>
                  <a:lnTo>
                    <a:pt x="0" y="77226"/>
                  </a:lnTo>
                  <a:cubicBezTo>
                    <a:pt x="0" y="34575"/>
                    <a:pt x="34575" y="0"/>
                    <a:pt x="77226" y="0"/>
                  </a:cubicBezTo>
                  <a:close/>
                </a:path>
              </a:pathLst>
            </a:custGeom>
            <a:solidFill>
              <a:srgbClr val="E5F1FB"/>
            </a:solidFill>
            <a:ln w="28575" cap="rnd">
              <a:solidFill>
                <a:srgbClr val="000000"/>
              </a:solidFill>
              <a:prstDash val="solid"/>
              <a:round/>
            </a:ln>
          </p:spPr>
        </p:sp>
        <p:sp>
          <p:nvSpPr>
            <p:cNvPr id="10" name="TextBox 10"/>
            <p:cNvSpPr txBox="1"/>
            <p:nvPr/>
          </p:nvSpPr>
          <p:spPr>
            <a:xfrm>
              <a:off x="0" y="-28575"/>
              <a:ext cx="1056138" cy="736012"/>
            </a:xfrm>
            <a:prstGeom prst="rect">
              <a:avLst/>
            </a:prstGeom>
          </p:spPr>
          <p:txBody>
            <a:bodyPr lIns="50800" tIns="50800" rIns="50800" bIns="50800" rtlCol="0" anchor="ctr"/>
            <a:lstStyle/>
            <a:p>
              <a:pPr marL="0" lvl="0" indent="0" algn="ctr">
                <a:lnSpc>
                  <a:spcPts val="1960"/>
                </a:lnSpc>
                <a:spcBef>
                  <a:spcPct val="0"/>
                </a:spcBef>
              </a:pPr>
              <a:endParaRPr/>
            </a:p>
          </p:txBody>
        </p:sp>
      </p:grpSp>
      <p:grpSp>
        <p:nvGrpSpPr>
          <p:cNvPr id="11" name="Group 11"/>
          <p:cNvGrpSpPr/>
          <p:nvPr/>
        </p:nvGrpSpPr>
        <p:grpSpPr>
          <a:xfrm>
            <a:off x="9296400" y="666750"/>
            <a:ext cx="4010025" cy="5956430"/>
            <a:chOff x="0" y="0"/>
            <a:chExt cx="812800" cy="1207321"/>
          </a:xfrm>
        </p:grpSpPr>
        <p:sp>
          <p:nvSpPr>
            <p:cNvPr id="12" name="Freeform 12"/>
            <p:cNvSpPr/>
            <p:nvPr/>
          </p:nvSpPr>
          <p:spPr>
            <a:xfrm>
              <a:off x="0" y="0"/>
              <a:ext cx="812800" cy="1207321"/>
            </a:xfrm>
            <a:custGeom>
              <a:avLst/>
              <a:gdLst/>
              <a:ahLst/>
              <a:cxnLst/>
              <a:rect l="l" t="t" r="r" b="b"/>
              <a:pathLst>
                <a:path w="812800" h="1207321">
                  <a:moveTo>
                    <a:pt x="77226" y="0"/>
                  </a:moveTo>
                  <a:lnTo>
                    <a:pt x="735574" y="0"/>
                  </a:lnTo>
                  <a:cubicBezTo>
                    <a:pt x="778225" y="0"/>
                    <a:pt x="812800" y="34575"/>
                    <a:pt x="812800" y="77226"/>
                  </a:cubicBezTo>
                  <a:lnTo>
                    <a:pt x="812800" y="1130095"/>
                  </a:lnTo>
                  <a:cubicBezTo>
                    <a:pt x="812800" y="1172746"/>
                    <a:pt x="778225" y="1207321"/>
                    <a:pt x="735574" y="1207321"/>
                  </a:cubicBezTo>
                  <a:lnTo>
                    <a:pt x="77226" y="1207321"/>
                  </a:lnTo>
                  <a:cubicBezTo>
                    <a:pt x="34575" y="1207321"/>
                    <a:pt x="0" y="1172746"/>
                    <a:pt x="0" y="1130095"/>
                  </a:cubicBezTo>
                  <a:lnTo>
                    <a:pt x="0" y="77226"/>
                  </a:lnTo>
                  <a:cubicBezTo>
                    <a:pt x="0" y="34575"/>
                    <a:pt x="34575" y="0"/>
                    <a:pt x="77226" y="0"/>
                  </a:cubicBezTo>
                  <a:close/>
                </a:path>
              </a:pathLst>
            </a:custGeom>
            <a:blipFill>
              <a:blip r:embed="rId2"/>
              <a:stretch>
                <a:fillRect t="-428" b="-428"/>
              </a:stretch>
            </a:blipFill>
          </p:spPr>
        </p:sp>
      </p:grpSp>
      <p:grpSp>
        <p:nvGrpSpPr>
          <p:cNvPr id="13" name="Group 13"/>
          <p:cNvGrpSpPr/>
          <p:nvPr/>
        </p:nvGrpSpPr>
        <p:grpSpPr>
          <a:xfrm>
            <a:off x="13611225" y="666750"/>
            <a:ext cx="4010025" cy="5956430"/>
            <a:chOff x="0" y="0"/>
            <a:chExt cx="812800" cy="1207321"/>
          </a:xfrm>
        </p:grpSpPr>
        <p:sp>
          <p:nvSpPr>
            <p:cNvPr id="14" name="Freeform 14"/>
            <p:cNvSpPr/>
            <p:nvPr/>
          </p:nvSpPr>
          <p:spPr>
            <a:xfrm>
              <a:off x="0" y="0"/>
              <a:ext cx="812800" cy="1207321"/>
            </a:xfrm>
            <a:custGeom>
              <a:avLst/>
              <a:gdLst/>
              <a:ahLst/>
              <a:cxnLst/>
              <a:rect l="l" t="t" r="r" b="b"/>
              <a:pathLst>
                <a:path w="812800" h="1207321">
                  <a:moveTo>
                    <a:pt x="77226" y="0"/>
                  </a:moveTo>
                  <a:lnTo>
                    <a:pt x="735574" y="0"/>
                  </a:lnTo>
                  <a:cubicBezTo>
                    <a:pt x="778225" y="0"/>
                    <a:pt x="812800" y="34575"/>
                    <a:pt x="812800" y="77226"/>
                  </a:cubicBezTo>
                  <a:lnTo>
                    <a:pt x="812800" y="1130095"/>
                  </a:lnTo>
                  <a:cubicBezTo>
                    <a:pt x="812800" y="1172746"/>
                    <a:pt x="778225" y="1207321"/>
                    <a:pt x="735574" y="1207321"/>
                  </a:cubicBezTo>
                  <a:lnTo>
                    <a:pt x="77226" y="1207321"/>
                  </a:lnTo>
                  <a:cubicBezTo>
                    <a:pt x="34575" y="1207321"/>
                    <a:pt x="0" y="1172746"/>
                    <a:pt x="0" y="1130095"/>
                  </a:cubicBezTo>
                  <a:lnTo>
                    <a:pt x="0" y="77226"/>
                  </a:lnTo>
                  <a:cubicBezTo>
                    <a:pt x="0" y="34575"/>
                    <a:pt x="34575" y="0"/>
                    <a:pt x="77226" y="0"/>
                  </a:cubicBezTo>
                  <a:close/>
                </a:path>
              </a:pathLst>
            </a:custGeom>
            <a:blipFill>
              <a:blip r:embed="rId3"/>
              <a:stretch>
                <a:fillRect t="-428" b="-428"/>
              </a:stretch>
            </a:blipFill>
          </p:spPr>
        </p:sp>
      </p:grpSp>
      <p:sp>
        <p:nvSpPr>
          <p:cNvPr id="15" name="TextBox 15"/>
          <p:cNvSpPr txBox="1"/>
          <p:nvPr/>
        </p:nvSpPr>
        <p:spPr>
          <a:xfrm>
            <a:off x="666750" y="838200"/>
            <a:ext cx="6886575" cy="2197097"/>
          </a:xfrm>
          <a:prstGeom prst="rect">
            <a:avLst/>
          </a:prstGeom>
        </p:spPr>
        <p:txBody>
          <a:bodyPr lIns="0" tIns="0" rIns="0" bIns="0" rtlCol="0" anchor="t">
            <a:spAutoFit/>
          </a:bodyPr>
          <a:lstStyle/>
          <a:p>
            <a:pPr marL="0" lvl="0" indent="0" algn="l">
              <a:lnSpc>
                <a:spcPts val="8499"/>
              </a:lnSpc>
              <a:spcBef>
                <a:spcPct val="0"/>
              </a:spcBef>
            </a:pPr>
            <a:r>
              <a:rPr lang="en-US" sz="8499" u="none" strike="noStrike" spc="-169">
                <a:solidFill>
                  <a:srgbClr val="497EA6"/>
                </a:solidFill>
                <a:latin typeface="Cooper BT Light"/>
                <a:ea typeface="Cooper BT Light"/>
                <a:cs typeface="Cooper BT Light"/>
                <a:sym typeface="Cooper BT Light"/>
              </a:rPr>
              <a:t>プロジェクト概要と目的</a:t>
            </a:r>
          </a:p>
        </p:txBody>
      </p:sp>
      <p:grpSp>
        <p:nvGrpSpPr>
          <p:cNvPr id="16" name="Group 16"/>
          <p:cNvGrpSpPr/>
          <p:nvPr/>
        </p:nvGrpSpPr>
        <p:grpSpPr>
          <a:xfrm>
            <a:off x="9684671" y="7454265"/>
            <a:ext cx="3257550" cy="1672590"/>
            <a:chOff x="0" y="0"/>
            <a:chExt cx="4343400" cy="2230120"/>
          </a:xfrm>
        </p:grpSpPr>
        <p:sp>
          <p:nvSpPr>
            <p:cNvPr id="17" name="TextBox 17"/>
            <p:cNvSpPr txBox="1"/>
            <p:nvPr/>
          </p:nvSpPr>
          <p:spPr>
            <a:xfrm>
              <a:off x="0" y="0"/>
              <a:ext cx="4343400" cy="609600"/>
            </a:xfrm>
            <a:prstGeom prst="rect">
              <a:avLst/>
            </a:prstGeom>
          </p:spPr>
          <p:txBody>
            <a:bodyPr lIns="0" tIns="0" rIns="0" bIns="0" rtlCol="0" anchor="t">
              <a:spAutoFit/>
            </a:bodyPr>
            <a:lstStyle/>
            <a:p>
              <a:pPr marL="0" lvl="0" indent="0" algn="l">
                <a:lnSpc>
                  <a:spcPts val="3600"/>
                </a:lnSpc>
                <a:spcBef>
                  <a:spcPct val="0"/>
                </a:spcBef>
              </a:pPr>
              <a:r>
                <a:rPr lang="en-US" sz="3000">
                  <a:solidFill>
                    <a:srgbClr val="27496D"/>
                  </a:solidFill>
                  <a:latin typeface="Cooper BT Medium"/>
                  <a:ea typeface="Cooper BT Medium"/>
                  <a:cs typeface="Cooper BT Medium"/>
                  <a:sym typeface="Cooper BT Medium"/>
                </a:rPr>
                <a:t>情報収集</a:t>
              </a:r>
            </a:p>
          </p:txBody>
        </p:sp>
        <p:sp>
          <p:nvSpPr>
            <p:cNvPr id="18" name="TextBox 18"/>
            <p:cNvSpPr txBox="1"/>
            <p:nvPr/>
          </p:nvSpPr>
          <p:spPr>
            <a:xfrm>
              <a:off x="0" y="1136650"/>
              <a:ext cx="4343400" cy="1093470"/>
            </a:xfrm>
            <a:prstGeom prst="rect">
              <a:avLst/>
            </a:prstGeom>
          </p:spPr>
          <p:txBody>
            <a:bodyPr lIns="0" tIns="0" rIns="0" bIns="0" rtlCol="0" anchor="t">
              <a:spAutoFit/>
            </a:bodyPr>
            <a:lstStyle/>
            <a:p>
              <a:pPr marL="0" lvl="0" indent="0" algn="l">
                <a:lnSpc>
                  <a:spcPts val="3359"/>
                </a:lnSpc>
                <a:spcBef>
                  <a:spcPct val="0"/>
                </a:spcBef>
              </a:pPr>
              <a:r>
                <a:rPr lang="en-US" sz="2400">
                  <a:solidFill>
                    <a:srgbClr val="27496D"/>
                  </a:solidFill>
                  <a:latin typeface="TT Interphases"/>
                  <a:ea typeface="TT Interphases"/>
                  <a:cs typeface="TT Interphases"/>
                  <a:sym typeface="TT Interphases"/>
                </a:rPr>
                <a:t>学校情報を自動で集めるシステム</a:t>
              </a:r>
            </a:p>
          </p:txBody>
        </p:sp>
      </p:grpSp>
      <p:grpSp>
        <p:nvGrpSpPr>
          <p:cNvPr id="19" name="Group 19"/>
          <p:cNvGrpSpPr/>
          <p:nvPr/>
        </p:nvGrpSpPr>
        <p:grpSpPr>
          <a:xfrm>
            <a:off x="13987462" y="7454265"/>
            <a:ext cx="3257550" cy="1672590"/>
            <a:chOff x="0" y="0"/>
            <a:chExt cx="4343400" cy="2230120"/>
          </a:xfrm>
        </p:grpSpPr>
        <p:sp>
          <p:nvSpPr>
            <p:cNvPr id="20" name="TextBox 20"/>
            <p:cNvSpPr txBox="1"/>
            <p:nvPr/>
          </p:nvSpPr>
          <p:spPr>
            <a:xfrm>
              <a:off x="0" y="0"/>
              <a:ext cx="4343400" cy="609600"/>
            </a:xfrm>
            <a:prstGeom prst="rect">
              <a:avLst/>
            </a:prstGeom>
          </p:spPr>
          <p:txBody>
            <a:bodyPr lIns="0" tIns="0" rIns="0" bIns="0" rtlCol="0" anchor="t">
              <a:spAutoFit/>
            </a:bodyPr>
            <a:lstStyle/>
            <a:p>
              <a:pPr marL="0" lvl="0" indent="0" algn="l">
                <a:lnSpc>
                  <a:spcPts val="3600"/>
                </a:lnSpc>
                <a:spcBef>
                  <a:spcPct val="0"/>
                </a:spcBef>
              </a:pPr>
              <a:r>
                <a:rPr lang="en-US" sz="3000">
                  <a:solidFill>
                    <a:srgbClr val="27496D"/>
                  </a:solidFill>
                  <a:latin typeface="Cooper BT Medium"/>
                  <a:ea typeface="Cooper BT Medium"/>
                  <a:cs typeface="Cooper BT Medium"/>
                  <a:sym typeface="Cooper BT Medium"/>
                </a:rPr>
                <a:t>自然な応答</a:t>
              </a:r>
            </a:p>
          </p:txBody>
        </p:sp>
        <p:sp>
          <p:nvSpPr>
            <p:cNvPr id="21" name="TextBox 21"/>
            <p:cNvSpPr txBox="1"/>
            <p:nvPr/>
          </p:nvSpPr>
          <p:spPr>
            <a:xfrm>
              <a:off x="0" y="1136650"/>
              <a:ext cx="4343400" cy="1093470"/>
            </a:xfrm>
            <a:prstGeom prst="rect">
              <a:avLst/>
            </a:prstGeom>
          </p:spPr>
          <p:txBody>
            <a:bodyPr lIns="0" tIns="0" rIns="0" bIns="0" rtlCol="0" anchor="t">
              <a:spAutoFit/>
            </a:bodyPr>
            <a:lstStyle/>
            <a:p>
              <a:pPr marL="0" lvl="0" indent="0" algn="l">
                <a:lnSpc>
                  <a:spcPts val="3359"/>
                </a:lnSpc>
                <a:spcBef>
                  <a:spcPct val="0"/>
                </a:spcBef>
              </a:pPr>
              <a:r>
                <a:rPr lang="en-US" sz="2400">
                  <a:solidFill>
                    <a:srgbClr val="27496D"/>
                  </a:solidFill>
                  <a:latin typeface="TT Interphases"/>
                  <a:ea typeface="TT Interphases"/>
                  <a:cs typeface="TT Interphases"/>
                  <a:sym typeface="TT Interphases"/>
                </a:rPr>
                <a:t>自動応答により質問に答える機能</a:t>
              </a:r>
            </a:p>
          </p:txBody>
        </p:sp>
      </p:grpSp>
      <p:sp>
        <p:nvSpPr>
          <p:cNvPr id="22" name="Freeform 22"/>
          <p:cNvSpPr/>
          <p:nvPr/>
        </p:nvSpPr>
        <p:spPr>
          <a:xfrm>
            <a:off x="-700808" y="6607510"/>
            <a:ext cx="3459016" cy="4461104"/>
          </a:xfrm>
          <a:custGeom>
            <a:avLst/>
            <a:gdLst/>
            <a:ahLst/>
            <a:cxnLst/>
            <a:rect l="l" t="t" r="r" b="b"/>
            <a:pathLst>
              <a:path w="3459016" h="4461104">
                <a:moveTo>
                  <a:pt x="0" y="0"/>
                </a:moveTo>
                <a:lnTo>
                  <a:pt x="3459016" y="0"/>
                </a:lnTo>
                <a:lnTo>
                  <a:pt x="3459016" y="4461105"/>
                </a:lnTo>
                <a:lnTo>
                  <a:pt x="0" y="4461105"/>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9296400" y="3352800"/>
            <a:ext cx="8324850" cy="4722495"/>
            <a:chOff x="0" y="0"/>
            <a:chExt cx="11099800" cy="6296660"/>
          </a:xfrm>
        </p:grpSpPr>
        <p:sp>
          <p:nvSpPr>
            <p:cNvPr id="3" name="TextBox 3"/>
            <p:cNvSpPr txBox="1"/>
            <p:nvPr/>
          </p:nvSpPr>
          <p:spPr>
            <a:xfrm>
              <a:off x="0" y="4737100"/>
              <a:ext cx="11099800" cy="1559560"/>
            </a:xfrm>
            <a:prstGeom prst="rect">
              <a:avLst/>
            </a:prstGeom>
          </p:spPr>
          <p:txBody>
            <a:bodyPr lIns="0" tIns="0" rIns="0" bIns="0" rtlCol="0" anchor="t">
              <a:spAutoFit/>
            </a:bodyPr>
            <a:lstStyle/>
            <a:p>
              <a:pPr marL="0" lvl="0" indent="0" algn="l">
                <a:lnSpc>
                  <a:spcPts val="3120"/>
                </a:lnSpc>
                <a:spcBef>
                  <a:spcPct val="0"/>
                </a:spcBef>
              </a:pPr>
              <a:r>
                <a:rPr lang="en-US" sz="2400" u="none" strike="noStrike" spc="-48">
                  <a:solidFill>
                    <a:srgbClr val="27496D"/>
                  </a:solidFill>
                  <a:latin typeface="TT Interphases"/>
                  <a:ea typeface="TT Interphases"/>
                  <a:cs typeface="TT Interphases"/>
                  <a:sym typeface="TT Interphases"/>
                </a:rPr>
                <a:t>自然な対話を通じて、入学希望者は学校の特徴や魅力を簡単に知ることができます。このチャットボットは、情報収集から応答までを自動化することを目指しています。</a:t>
              </a:r>
            </a:p>
          </p:txBody>
        </p:sp>
        <p:sp>
          <p:nvSpPr>
            <p:cNvPr id="4" name="TextBox 4"/>
            <p:cNvSpPr txBox="1"/>
            <p:nvPr/>
          </p:nvSpPr>
          <p:spPr>
            <a:xfrm>
              <a:off x="0" y="180975"/>
              <a:ext cx="11099800" cy="3341159"/>
            </a:xfrm>
            <a:prstGeom prst="rect">
              <a:avLst/>
            </a:prstGeom>
          </p:spPr>
          <p:txBody>
            <a:bodyPr lIns="0" tIns="0" rIns="0" bIns="0" rtlCol="0" anchor="t">
              <a:spAutoFit/>
            </a:bodyPr>
            <a:lstStyle/>
            <a:p>
              <a:pPr marL="0" lvl="0" indent="0" algn="l">
                <a:lnSpc>
                  <a:spcPts val="9500"/>
                </a:lnSpc>
                <a:spcBef>
                  <a:spcPct val="0"/>
                </a:spcBef>
              </a:pPr>
              <a:r>
                <a:rPr lang="en-US" sz="9500" u="none" strike="noStrike" spc="-190">
                  <a:solidFill>
                    <a:srgbClr val="497EA6"/>
                  </a:solidFill>
                  <a:latin typeface="Cooper BT Light"/>
                  <a:ea typeface="Cooper BT Light"/>
                  <a:cs typeface="Cooper BT Light"/>
                  <a:sym typeface="Cooper BT Light"/>
                </a:rPr>
                <a:t>AIチャットボットの目的</a:t>
              </a:r>
            </a:p>
          </p:txBody>
        </p:sp>
        <p:sp>
          <p:nvSpPr>
            <p:cNvPr id="5" name="TextBox 5"/>
            <p:cNvSpPr txBox="1"/>
            <p:nvPr/>
          </p:nvSpPr>
          <p:spPr>
            <a:xfrm>
              <a:off x="0" y="3543300"/>
              <a:ext cx="11099800" cy="518160"/>
            </a:xfrm>
            <a:prstGeom prst="rect">
              <a:avLst/>
            </a:prstGeom>
          </p:spPr>
          <p:txBody>
            <a:bodyPr lIns="0" tIns="0" rIns="0" bIns="0" rtlCol="0" anchor="t">
              <a:spAutoFit/>
            </a:bodyPr>
            <a:lstStyle/>
            <a:p>
              <a:pPr marL="0" lvl="0" indent="0" algn="l">
                <a:lnSpc>
                  <a:spcPts val="3120"/>
                </a:lnSpc>
                <a:spcBef>
                  <a:spcPct val="0"/>
                </a:spcBef>
              </a:pPr>
              <a:r>
                <a:rPr lang="en-US" sz="2400" b="1" u="none" strike="noStrike" spc="-48">
                  <a:solidFill>
                    <a:srgbClr val="27496D"/>
                  </a:solidFill>
                  <a:latin typeface="TT Interphases Bold"/>
                  <a:ea typeface="TT Interphases Bold"/>
                  <a:cs typeface="TT Interphases Bold"/>
                  <a:sym typeface="TT Interphases Bold"/>
                </a:rPr>
                <a:t>学校概要を自動で説明する仕組み</a:t>
              </a:r>
            </a:p>
          </p:txBody>
        </p:sp>
      </p:grpSp>
      <p:grpSp>
        <p:nvGrpSpPr>
          <p:cNvPr id="6" name="Group 6"/>
          <p:cNvGrpSpPr/>
          <p:nvPr/>
        </p:nvGrpSpPr>
        <p:grpSpPr>
          <a:xfrm>
            <a:off x="0" y="0"/>
            <a:ext cx="8267700" cy="10287000"/>
            <a:chOff x="0" y="0"/>
            <a:chExt cx="2177501" cy="2709333"/>
          </a:xfrm>
        </p:grpSpPr>
        <p:sp>
          <p:nvSpPr>
            <p:cNvPr id="7" name="Freeform 7"/>
            <p:cNvSpPr/>
            <p:nvPr/>
          </p:nvSpPr>
          <p:spPr>
            <a:xfrm>
              <a:off x="0" y="0"/>
              <a:ext cx="2177501" cy="2709333"/>
            </a:xfrm>
            <a:custGeom>
              <a:avLst/>
              <a:gdLst/>
              <a:ahLst/>
              <a:cxnLst/>
              <a:rect l="l" t="t" r="r" b="b"/>
              <a:pathLst>
                <a:path w="2177501" h="2709333">
                  <a:moveTo>
                    <a:pt x="0" y="0"/>
                  </a:moveTo>
                  <a:lnTo>
                    <a:pt x="2177501" y="0"/>
                  </a:lnTo>
                  <a:lnTo>
                    <a:pt x="2177501" y="2709333"/>
                  </a:lnTo>
                  <a:lnTo>
                    <a:pt x="0" y="2709333"/>
                  </a:lnTo>
                  <a:close/>
                </a:path>
              </a:pathLst>
            </a:custGeom>
            <a:solidFill>
              <a:srgbClr val="497EA6"/>
            </a:solidFill>
          </p:spPr>
        </p:sp>
        <p:sp>
          <p:nvSpPr>
            <p:cNvPr id="8" name="TextBox 8"/>
            <p:cNvSpPr txBox="1"/>
            <p:nvPr/>
          </p:nvSpPr>
          <p:spPr>
            <a:xfrm>
              <a:off x="0" y="-28575"/>
              <a:ext cx="2177501" cy="2737908"/>
            </a:xfrm>
            <a:prstGeom prst="rect">
              <a:avLst/>
            </a:prstGeom>
          </p:spPr>
          <p:txBody>
            <a:bodyPr lIns="50800" tIns="50800" rIns="50800" bIns="50800" rtlCol="0" anchor="ctr"/>
            <a:lstStyle/>
            <a:p>
              <a:pPr marL="0" lvl="0" indent="0" algn="ctr">
                <a:lnSpc>
                  <a:spcPts val="2100"/>
                </a:lnSpc>
              </a:pPr>
              <a:endParaRPr/>
            </a:p>
          </p:txBody>
        </p:sp>
      </p:grpSp>
      <p:grpSp>
        <p:nvGrpSpPr>
          <p:cNvPr id="9" name="Group 9"/>
          <p:cNvGrpSpPr/>
          <p:nvPr/>
        </p:nvGrpSpPr>
        <p:grpSpPr>
          <a:xfrm>
            <a:off x="666750" y="666750"/>
            <a:ext cx="6886575" cy="8953500"/>
            <a:chOff x="0" y="0"/>
            <a:chExt cx="812800" cy="1056752"/>
          </a:xfrm>
        </p:grpSpPr>
        <p:sp>
          <p:nvSpPr>
            <p:cNvPr id="10" name="Freeform 10"/>
            <p:cNvSpPr/>
            <p:nvPr/>
          </p:nvSpPr>
          <p:spPr>
            <a:xfrm>
              <a:off x="0" y="0"/>
              <a:ext cx="812800" cy="1056752"/>
            </a:xfrm>
            <a:custGeom>
              <a:avLst/>
              <a:gdLst/>
              <a:ahLst/>
              <a:cxnLst/>
              <a:rect l="l" t="t" r="r" b="b"/>
              <a:pathLst>
                <a:path w="812800" h="1056752">
                  <a:moveTo>
                    <a:pt x="44968" y="0"/>
                  </a:moveTo>
                  <a:lnTo>
                    <a:pt x="767832" y="0"/>
                  </a:lnTo>
                  <a:cubicBezTo>
                    <a:pt x="779758" y="0"/>
                    <a:pt x="791196" y="4738"/>
                    <a:pt x="799629" y="13171"/>
                  </a:cubicBezTo>
                  <a:cubicBezTo>
                    <a:pt x="808062" y="21604"/>
                    <a:pt x="812800" y="33042"/>
                    <a:pt x="812800" y="44968"/>
                  </a:cubicBezTo>
                  <a:lnTo>
                    <a:pt x="812800" y="1011784"/>
                  </a:lnTo>
                  <a:cubicBezTo>
                    <a:pt x="812800" y="1023711"/>
                    <a:pt x="808062" y="1035148"/>
                    <a:pt x="799629" y="1043582"/>
                  </a:cubicBezTo>
                  <a:cubicBezTo>
                    <a:pt x="791196" y="1052015"/>
                    <a:pt x="779758" y="1056752"/>
                    <a:pt x="767832" y="1056752"/>
                  </a:cubicBezTo>
                  <a:lnTo>
                    <a:pt x="44968" y="1056752"/>
                  </a:lnTo>
                  <a:cubicBezTo>
                    <a:pt x="33042" y="1056752"/>
                    <a:pt x="21604" y="1052015"/>
                    <a:pt x="13171" y="1043582"/>
                  </a:cubicBezTo>
                  <a:cubicBezTo>
                    <a:pt x="4738" y="1035148"/>
                    <a:pt x="0" y="1023711"/>
                    <a:pt x="0" y="1011784"/>
                  </a:cubicBezTo>
                  <a:lnTo>
                    <a:pt x="0" y="44968"/>
                  </a:lnTo>
                  <a:cubicBezTo>
                    <a:pt x="0" y="33042"/>
                    <a:pt x="4738" y="21604"/>
                    <a:pt x="13171" y="13171"/>
                  </a:cubicBezTo>
                  <a:cubicBezTo>
                    <a:pt x="21604" y="4738"/>
                    <a:pt x="33042" y="0"/>
                    <a:pt x="44968" y="0"/>
                  </a:cubicBezTo>
                  <a:close/>
                </a:path>
              </a:pathLst>
            </a:custGeom>
            <a:blipFill>
              <a:blip r:embed="rId2"/>
              <a:stretch>
                <a:fillRect t="-271" b="-271"/>
              </a:stretch>
            </a:blipFill>
          </p:spPr>
        </p:sp>
      </p:grpSp>
      <p:sp>
        <p:nvSpPr>
          <p:cNvPr id="11" name="Freeform 11"/>
          <p:cNvSpPr/>
          <p:nvPr/>
        </p:nvSpPr>
        <p:spPr>
          <a:xfrm rot="5400000">
            <a:off x="6176504" y="61454"/>
            <a:ext cx="1438275" cy="1315368"/>
          </a:xfrm>
          <a:custGeom>
            <a:avLst/>
            <a:gdLst/>
            <a:ahLst/>
            <a:cxnLst/>
            <a:rect l="l" t="t" r="r" b="b"/>
            <a:pathLst>
              <a:path w="1438275" h="1315368">
                <a:moveTo>
                  <a:pt x="0" y="0"/>
                </a:moveTo>
                <a:lnTo>
                  <a:pt x="1438275" y="0"/>
                </a:lnTo>
                <a:lnTo>
                  <a:pt x="1438275" y="1315367"/>
                </a:lnTo>
                <a:lnTo>
                  <a:pt x="0" y="1315367"/>
                </a:lnTo>
                <a:lnTo>
                  <a:pt x="0" y="0"/>
                </a:lnTo>
                <a:close/>
              </a:path>
            </a:pathLst>
          </a:custGeom>
          <a:blipFill>
            <a:blip r:embed="rId3">
              <a:extLst>
                <a:ext uri="{96DAC541-7B7A-43D3-8B79-37D633B846F1}">
                  <asvg:svgBlip xmlns:asvg="http://schemas.microsoft.com/office/drawing/2016/SVG/main" r:embed="rId4"/>
                </a:ext>
              </a:extLst>
            </a:blip>
            <a:stretch>
              <a:fillRect/>
            </a:stretch>
          </a:blipFill>
          <a:ln cap="sq">
            <a:noFill/>
            <a:prstDash val="solid"/>
            <a:miter/>
          </a:ln>
        </p:spPr>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E5F1FB"/>
        </a:solidFill>
        <a:effectLst/>
      </p:bgPr>
    </p:bg>
    <p:spTree>
      <p:nvGrpSpPr>
        <p:cNvPr id="1" name=""/>
        <p:cNvGrpSpPr/>
        <p:nvPr/>
      </p:nvGrpSpPr>
      <p:grpSpPr>
        <a:xfrm>
          <a:off x="0" y="0"/>
          <a:ext cx="0" cy="0"/>
          <a:chOff x="0" y="0"/>
          <a:chExt cx="0" cy="0"/>
        </a:xfrm>
      </p:grpSpPr>
      <p:grpSp>
        <p:nvGrpSpPr>
          <p:cNvPr id="2" name="Group 2"/>
          <p:cNvGrpSpPr/>
          <p:nvPr/>
        </p:nvGrpSpPr>
        <p:grpSpPr>
          <a:xfrm>
            <a:off x="666750" y="3352800"/>
            <a:ext cx="8324850" cy="6267450"/>
            <a:chOff x="0" y="0"/>
            <a:chExt cx="2192553" cy="1650686"/>
          </a:xfrm>
        </p:grpSpPr>
        <p:sp>
          <p:nvSpPr>
            <p:cNvPr id="3" name="Freeform 3"/>
            <p:cNvSpPr/>
            <p:nvPr/>
          </p:nvSpPr>
          <p:spPr>
            <a:xfrm>
              <a:off x="0" y="0"/>
              <a:ext cx="2192553" cy="1650686"/>
            </a:xfrm>
            <a:custGeom>
              <a:avLst/>
              <a:gdLst/>
              <a:ahLst/>
              <a:cxnLst/>
              <a:rect l="l" t="t" r="r" b="b"/>
              <a:pathLst>
                <a:path w="2192553" h="1650686">
                  <a:moveTo>
                    <a:pt x="37199" y="0"/>
                  </a:moveTo>
                  <a:lnTo>
                    <a:pt x="2155354" y="0"/>
                  </a:lnTo>
                  <a:cubicBezTo>
                    <a:pt x="2165220" y="0"/>
                    <a:pt x="2174682" y="3919"/>
                    <a:pt x="2181658" y="10895"/>
                  </a:cubicBezTo>
                  <a:cubicBezTo>
                    <a:pt x="2188634" y="17872"/>
                    <a:pt x="2192553" y="27333"/>
                    <a:pt x="2192553" y="37199"/>
                  </a:cubicBezTo>
                  <a:lnTo>
                    <a:pt x="2192553" y="1613487"/>
                  </a:lnTo>
                  <a:cubicBezTo>
                    <a:pt x="2192553" y="1623353"/>
                    <a:pt x="2188634" y="1632815"/>
                    <a:pt x="2181658" y="1639791"/>
                  </a:cubicBezTo>
                  <a:cubicBezTo>
                    <a:pt x="2174682" y="1646767"/>
                    <a:pt x="2165220" y="1650686"/>
                    <a:pt x="2155354" y="1650686"/>
                  </a:cubicBezTo>
                  <a:lnTo>
                    <a:pt x="37199" y="1650686"/>
                  </a:lnTo>
                  <a:cubicBezTo>
                    <a:pt x="27333" y="1650686"/>
                    <a:pt x="17872" y="1646767"/>
                    <a:pt x="10895" y="1639791"/>
                  </a:cubicBezTo>
                  <a:cubicBezTo>
                    <a:pt x="3919" y="1632815"/>
                    <a:pt x="0" y="1623353"/>
                    <a:pt x="0" y="1613487"/>
                  </a:cubicBezTo>
                  <a:lnTo>
                    <a:pt x="0" y="37199"/>
                  </a:lnTo>
                  <a:cubicBezTo>
                    <a:pt x="0" y="27333"/>
                    <a:pt x="3919" y="17872"/>
                    <a:pt x="10895" y="10895"/>
                  </a:cubicBezTo>
                  <a:cubicBezTo>
                    <a:pt x="17872" y="3919"/>
                    <a:pt x="27333" y="0"/>
                    <a:pt x="37199" y="0"/>
                  </a:cubicBezTo>
                  <a:close/>
                </a:path>
              </a:pathLst>
            </a:custGeom>
            <a:solidFill>
              <a:srgbClr val="FFFFFF"/>
            </a:solidFill>
            <a:ln w="28575" cap="rnd">
              <a:solidFill>
                <a:srgbClr val="000000"/>
              </a:solidFill>
              <a:prstDash val="solid"/>
              <a:round/>
            </a:ln>
          </p:spPr>
        </p:sp>
        <p:sp>
          <p:nvSpPr>
            <p:cNvPr id="4" name="TextBox 4"/>
            <p:cNvSpPr txBox="1"/>
            <p:nvPr/>
          </p:nvSpPr>
          <p:spPr>
            <a:xfrm>
              <a:off x="0" y="-28575"/>
              <a:ext cx="2192553" cy="1679261"/>
            </a:xfrm>
            <a:prstGeom prst="rect">
              <a:avLst/>
            </a:prstGeom>
          </p:spPr>
          <p:txBody>
            <a:bodyPr lIns="50800" tIns="50800" rIns="50800" bIns="50800" rtlCol="0" anchor="ctr"/>
            <a:lstStyle/>
            <a:p>
              <a:pPr marL="0" lvl="0" indent="0" algn="ctr">
                <a:lnSpc>
                  <a:spcPts val="1960"/>
                </a:lnSpc>
              </a:pPr>
              <a:endParaRPr/>
            </a:p>
          </p:txBody>
        </p:sp>
      </p:grpSp>
      <p:grpSp>
        <p:nvGrpSpPr>
          <p:cNvPr id="5" name="Group 5"/>
          <p:cNvGrpSpPr/>
          <p:nvPr/>
        </p:nvGrpSpPr>
        <p:grpSpPr>
          <a:xfrm>
            <a:off x="9296400" y="3352800"/>
            <a:ext cx="8324850" cy="6267450"/>
            <a:chOff x="0" y="0"/>
            <a:chExt cx="2192553" cy="1650686"/>
          </a:xfrm>
        </p:grpSpPr>
        <p:sp>
          <p:nvSpPr>
            <p:cNvPr id="6" name="Freeform 6"/>
            <p:cNvSpPr/>
            <p:nvPr/>
          </p:nvSpPr>
          <p:spPr>
            <a:xfrm>
              <a:off x="0" y="0"/>
              <a:ext cx="2192553" cy="1650686"/>
            </a:xfrm>
            <a:custGeom>
              <a:avLst/>
              <a:gdLst/>
              <a:ahLst/>
              <a:cxnLst/>
              <a:rect l="l" t="t" r="r" b="b"/>
              <a:pathLst>
                <a:path w="2192553" h="1650686">
                  <a:moveTo>
                    <a:pt x="37199" y="0"/>
                  </a:moveTo>
                  <a:lnTo>
                    <a:pt x="2155354" y="0"/>
                  </a:lnTo>
                  <a:cubicBezTo>
                    <a:pt x="2165220" y="0"/>
                    <a:pt x="2174682" y="3919"/>
                    <a:pt x="2181658" y="10895"/>
                  </a:cubicBezTo>
                  <a:cubicBezTo>
                    <a:pt x="2188634" y="17872"/>
                    <a:pt x="2192553" y="27333"/>
                    <a:pt x="2192553" y="37199"/>
                  </a:cubicBezTo>
                  <a:lnTo>
                    <a:pt x="2192553" y="1613487"/>
                  </a:lnTo>
                  <a:cubicBezTo>
                    <a:pt x="2192553" y="1623353"/>
                    <a:pt x="2188634" y="1632815"/>
                    <a:pt x="2181658" y="1639791"/>
                  </a:cubicBezTo>
                  <a:cubicBezTo>
                    <a:pt x="2174682" y="1646767"/>
                    <a:pt x="2165220" y="1650686"/>
                    <a:pt x="2155354" y="1650686"/>
                  </a:cubicBezTo>
                  <a:lnTo>
                    <a:pt x="37199" y="1650686"/>
                  </a:lnTo>
                  <a:cubicBezTo>
                    <a:pt x="27333" y="1650686"/>
                    <a:pt x="17872" y="1646767"/>
                    <a:pt x="10895" y="1639791"/>
                  </a:cubicBezTo>
                  <a:cubicBezTo>
                    <a:pt x="3919" y="1632815"/>
                    <a:pt x="0" y="1623353"/>
                    <a:pt x="0" y="1613487"/>
                  </a:cubicBezTo>
                  <a:lnTo>
                    <a:pt x="0" y="37199"/>
                  </a:lnTo>
                  <a:cubicBezTo>
                    <a:pt x="0" y="27333"/>
                    <a:pt x="3919" y="17872"/>
                    <a:pt x="10895" y="10895"/>
                  </a:cubicBezTo>
                  <a:cubicBezTo>
                    <a:pt x="17872" y="3919"/>
                    <a:pt x="27333" y="0"/>
                    <a:pt x="37199" y="0"/>
                  </a:cubicBezTo>
                  <a:close/>
                </a:path>
              </a:pathLst>
            </a:custGeom>
            <a:solidFill>
              <a:srgbClr val="FFFFFF"/>
            </a:solidFill>
            <a:ln w="28575" cap="rnd">
              <a:solidFill>
                <a:srgbClr val="000000"/>
              </a:solidFill>
              <a:prstDash val="solid"/>
              <a:round/>
            </a:ln>
          </p:spPr>
        </p:sp>
        <p:sp>
          <p:nvSpPr>
            <p:cNvPr id="7" name="TextBox 7"/>
            <p:cNvSpPr txBox="1"/>
            <p:nvPr/>
          </p:nvSpPr>
          <p:spPr>
            <a:xfrm>
              <a:off x="0" y="-28575"/>
              <a:ext cx="2192553" cy="1679261"/>
            </a:xfrm>
            <a:prstGeom prst="rect">
              <a:avLst/>
            </a:prstGeom>
          </p:spPr>
          <p:txBody>
            <a:bodyPr lIns="50800" tIns="50800" rIns="50800" bIns="50800" rtlCol="0" anchor="ctr"/>
            <a:lstStyle/>
            <a:p>
              <a:pPr marL="0" lvl="0" indent="0" algn="ctr">
                <a:lnSpc>
                  <a:spcPts val="1960"/>
                </a:lnSpc>
              </a:pPr>
              <a:endParaRPr/>
            </a:p>
          </p:txBody>
        </p:sp>
      </p:grpSp>
      <p:sp>
        <p:nvSpPr>
          <p:cNvPr id="8" name="TextBox 8"/>
          <p:cNvSpPr txBox="1"/>
          <p:nvPr/>
        </p:nvSpPr>
        <p:spPr>
          <a:xfrm>
            <a:off x="2105025" y="828675"/>
            <a:ext cx="14077950" cy="2165823"/>
          </a:xfrm>
          <a:prstGeom prst="rect">
            <a:avLst/>
          </a:prstGeom>
        </p:spPr>
        <p:txBody>
          <a:bodyPr lIns="0" tIns="0" rIns="0" bIns="0" rtlCol="0" anchor="t">
            <a:spAutoFit/>
          </a:bodyPr>
          <a:lstStyle/>
          <a:p>
            <a:pPr marL="0" lvl="0" indent="0" algn="ctr">
              <a:lnSpc>
                <a:spcPts val="8393"/>
              </a:lnSpc>
              <a:spcBef>
                <a:spcPct val="0"/>
              </a:spcBef>
            </a:pPr>
            <a:r>
              <a:rPr lang="en-US" sz="8393" u="none" strike="noStrike" spc="-167">
                <a:solidFill>
                  <a:srgbClr val="497EA6"/>
                </a:solidFill>
                <a:latin typeface="Cooper BT Light"/>
                <a:ea typeface="Cooper BT Light"/>
                <a:cs typeface="Cooper BT Light"/>
                <a:sym typeface="Cooper BT Light"/>
              </a:rPr>
              <a:t>AIチャットボット開発のプロセス</a:t>
            </a:r>
          </a:p>
        </p:txBody>
      </p:sp>
      <p:grpSp>
        <p:nvGrpSpPr>
          <p:cNvPr id="9" name="Group 9"/>
          <p:cNvGrpSpPr/>
          <p:nvPr/>
        </p:nvGrpSpPr>
        <p:grpSpPr>
          <a:xfrm>
            <a:off x="1800225" y="4248150"/>
            <a:ext cx="5753100" cy="2036371"/>
            <a:chOff x="0" y="0"/>
            <a:chExt cx="7670800" cy="2715161"/>
          </a:xfrm>
        </p:grpSpPr>
        <p:sp>
          <p:nvSpPr>
            <p:cNvPr id="10" name="TextBox 10"/>
            <p:cNvSpPr txBox="1"/>
            <p:nvPr/>
          </p:nvSpPr>
          <p:spPr>
            <a:xfrm>
              <a:off x="0" y="1155601"/>
              <a:ext cx="7670800" cy="1559560"/>
            </a:xfrm>
            <a:prstGeom prst="rect">
              <a:avLst/>
            </a:prstGeom>
          </p:spPr>
          <p:txBody>
            <a:bodyPr lIns="0" tIns="0" rIns="0" bIns="0" rtlCol="0" anchor="t">
              <a:spAutoFit/>
            </a:bodyPr>
            <a:lstStyle/>
            <a:p>
              <a:pPr marL="0" lvl="0" indent="0" algn="l">
                <a:lnSpc>
                  <a:spcPts val="3120"/>
                </a:lnSpc>
                <a:spcBef>
                  <a:spcPct val="0"/>
                </a:spcBef>
              </a:pPr>
              <a:r>
                <a:rPr lang="en-US" sz="2400" u="none" strike="noStrike" spc="-48">
                  <a:solidFill>
                    <a:srgbClr val="27496D"/>
                  </a:solidFill>
                  <a:latin typeface="TT Interphases"/>
                  <a:ea typeface="TT Interphases"/>
                  <a:cs typeface="TT Interphases"/>
                  <a:sym typeface="TT Interphases"/>
                </a:rPr>
                <a:t>Webスクレイピング技術を用いて、学校の公式サイトから最新情報を短文形式で効率的に抽出し、データベースに整理します。</a:t>
              </a:r>
            </a:p>
          </p:txBody>
        </p:sp>
        <p:sp>
          <p:nvSpPr>
            <p:cNvPr id="11" name="TextBox 11"/>
            <p:cNvSpPr txBox="1"/>
            <p:nvPr/>
          </p:nvSpPr>
          <p:spPr>
            <a:xfrm>
              <a:off x="0" y="-28575"/>
              <a:ext cx="7670800" cy="638175"/>
            </a:xfrm>
            <a:prstGeom prst="rect">
              <a:avLst/>
            </a:prstGeom>
          </p:spPr>
          <p:txBody>
            <a:bodyPr lIns="0" tIns="0" rIns="0" bIns="0" rtlCol="0" anchor="t">
              <a:spAutoFit/>
            </a:bodyPr>
            <a:lstStyle/>
            <a:p>
              <a:pPr marL="0" lvl="0" indent="0" algn="l">
                <a:lnSpc>
                  <a:spcPts val="3900"/>
                </a:lnSpc>
                <a:spcBef>
                  <a:spcPct val="0"/>
                </a:spcBef>
              </a:pPr>
              <a:r>
                <a:rPr lang="en-US" sz="3000" u="none" strike="noStrike">
                  <a:solidFill>
                    <a:srgbClr val="27496D"/>
                  </a:solidFill>
                  <a:latin typeface="Cooper BT Medium"/>
                  <a:ea typeface="Cooper BT Medium"/>
                  <a:cs typeface="Cooper BT Medium"/>
                  <a:sym typeface="Cooper BT Medium"/>
                </a:rPr>
                <a:t>情報収集</a:t>
              </a:r>
            </a:p>
          </p:txBody>
        </p:sp>
      </p:grpSp>
      <p:grpSp>
        <p:nvGrpSpPr>
          <p:cNvPr id="12" name="Group 12"/>
          <p:cNvGrpSpPr/>
          <p:nvPr/>
        </p:nvGrpSpPr>
        <p:grpSpPr>
          <a:xfrm>
            <a:off x="10477716" y="4248150"/>
            <a:ext cx="5705259" cy="2036371"/>
            <a:chOff x="0" y="0"/>
            <a:chExt cx="7607012" cy="2715161"/>
          </a:xfrm>
        </p:grpSpPr>
        <p:sp>
          <p:nvSpPr>
            <p:cNvPr id="13" name="TextBox 13"/>
            <p:cNvSpPr txBox="1"/>
            <p:nvPr/>
          </p:nvSpPr>
          <p:spPr>
            <a:xfrm>
              <a:off x="4934" y="1155601"/>
              <a:ext cx="7585392" cy="1559560"/>
            </a:xfrm>
            <a:prstGeom prst="rect">
              <a:avLst/>
            </a:prstGeom>
          </p:spPr>
          <p:txBody>
            <a:bodyPr lIns="0" tIns="0" rIns="0" bIns="0" rtlCol="0" anchor="t">
              <a:spAutoFit/>
            </a:bodyPr>
            <a:lstStyle/>
            <a:p>
              <a:pPr marL="0" lvl="0" indent="0" algn="l">
                <a:lnSpc>
                  <a:spcPts val="3120"/>
                </a:lnSpc>
                <a:spcBef>
                  <a:spcPct val="0"/>
                </a:spcBef>
              </a:pPr>
              <a:r>
                <a:rPr lang="en-US" sz="2400" u="none" strike="noStrike" spc="-48">
                  <a:solidFill>
                    <a:srgbClr val="27496D"/>
                  </a:solidFill>
                  <a:latin typeface="TT Interphases"/>
                  <a:ea typeface="TT Interphases"/>
                  <a:cs typeface="TT Interphases"/>
                  <a:sym typeface="TT Interphases"/>
                </a:rPr>
                <a:t>AIが収集したデータを基に、情報をカテゴリ別に分類し、ユーザーが求める内容に応じた自然な応答を生成します。</a:t>
              </a:r>
            </a:p>
          </p:txBody>
        </p:sp>
        <p:sp>
          <p:nvSpPr>
            <p:cNvPr id="14" name="TextBox 14"/>
            <p:cNvSpPr txBox="1"/>
            <p:nvPr/>
          </p:nvSpPr>
          <p:spPr>
            <a:xfrm>
              <a:off x="0" y="-28575"/>
              <a:ext cx="7607012" cy="638175"/>
            </a:xfrm>
            <a:prstGeom prst="rect">
              <a:avLst/>
            </a:prstGeom>
          </p:spPr>
          <p:txBody>
            <a:bodyPr lIns="0" tIns="0" rIns="0" bIns="0" rtlCol="0" anchor="t">
              <a:spAutoFit/>
            </a:bodyPr>
            <a:lstStyle/>
            <a:p>
              <a:pPr marL="0" lvl="0" indent="0" algn="l">
                <a:lnSpc>
                  <a:spcPts val="3900"/>
                </a:lnSpc>
                <a:spcBef>
                  <a:spcPct val="0"/>
                </a:spcBef>
              </a:pPr>
              <a:r>
                <a:rPr lang="en-US" sz="3000" u="none" strike="noStrike">
                  <a:solidFill>
                    <a:srgbClr val="27496D"/>
                  </a:solidFill>
                  <a:latin typeface="Cooper BT Medium"/>
                  <a:ea typeface="Cooper BT Medium"/>
                  <a:cs typeface="Cooper BT Medium"/>
                  <a:sym typeface="Cooper BT Medium"/>
                </a:rPr>
                <a:t>カテゴリ分類</a:t>
              </a:r>
            </a:p>
          </p:txBody>
        </p:sp>
      </p:grpSp>
      <p:sp>
        <p:nvSpPr>
          <p:cNvPr id="15" name="Freeform 15"/>
          <p:cNvSpPr/>
          <p:nvPr/>
        </p:nvSpPr>
        <p:spPr>
          <a:xfrm flipH="1" flipV="1">
            <a:off x="16683209" y="3726256"/>
            <a:ext cx="1876083" cy="1497455"/>
          </a:xfrm>
          <a:custGeom>
            <a:avLst/>
            <a:gdLst/>
            <a:ahLst/>
            <a:cxnLst/>
            <a:rect l="l" t="t" r="r" b="b"/>
            <a:pathLst>
              <a:path w="1876083" h="1497455">
                <a:moveTo>
                  <a:pt x="1876082" y="1497455"/>
                </a:moveTo>
                <a:lnTo>
                  <a:pt x="0" y="1497455"/>
                </a:lnTo>
                <a:lnTo>
                  <a:pt x="0" y="0"/>
                </a:lnTo>
                <a:lnTo>
                  <a:pt x="1876082" y="0"/>
                </a:lnTo>
                <a:lnTo>
                  <a:pt x="1876082" y="1497455"/>
                </a:lnTo>
                <a:close/>
              </a:path>
            </a:pathLst>
          </a:custGeom>
          <a:blipFill>
            <a:blip r:embed="rId2">
              <a:extLst>
                <a:ext uri="{96DAC541-7B7A-43D3-8B79-37D633B846F1}">
                  <asvg:svgBlip xmlns:asvg="http://schemas.microsoft.com/office/drawing/2016/SVG/main" r:embed="rId3"/>
                </a:ext>
              </a:extLst>
            </a:blip>
            <a:stretch>
              <a:fillRect/>
            </a:stretch>
          </a:blipFill>
          <a:ln cap="sq">
            <a:noFill/>
            <a:prstDash val="solid"/>
            <a:miter/>
          </a:ln>
        </p:spPr>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9296400" y="3352800"/>
            <a:ext cx="8324850" cy="4722495"/>
            <a:chOff x="0" y="0"/>
            <a:chExt cx="11099800" cy="6296660"/>
          </a:xfrm>
        </p:grpSpPr>
        <p:sp>
          <p:nvSpPr>
            <p:cNvPr id="3" name="TextBox 3"/>
            <p:cNvSpPr txBox="1"/>
            <p:nvPr/>
          </p:nvSpPr>
          <p:spPr>
            <a:xfrm>
              <a:off x="0" y="4737100"/>
              <a:ext cx="11099800" cy="1559560"/>
            </a:xfrm>
            <a:prstGeom prst="rect">
              <a:avLst/>
            </a:prstGeom>
          </p:spPr>
          <p:txBody>
            <a:bodyPr lIns="0" tIns="0" rIns="0" bIns="0" rtlCol="0" anchor="t">
              <a:spAutoFit/>
            </a:bodyPr>
            <a:lstStyle/>
            <a:p>
              <a:pPr marL="0" lvl="0" indent="0" algn="l">
                <a:lnSpc>
                  <a:spcPts val="3120"/>
                </a:lnSpc>
                <a:spcBef>
                  <a:spcPct val="0"/>
                </a:spcBef>
              </a:pPr>
              <a:r>
                <a:rPr lang="en-US" sz="2400" u="none" strike="noStrike" spc="-48">
                  <a:solidFill>
                    <a:srgbClr val="27496D"/>
                  </a:solidFill>
                  <a:latin typeface="TT Interphases"/>
                  <a:ea typeface="TT Interphases"/>
                  <a:cs typeface="TT Interphases"/>
                  <a:sym typeface="TT Interphases"/>
                </a:rPr>
                <a:t>本チャットボットは、1URLから多情報を取得し、文脈に沿った柔軟な回答を提供します。これにより、利用者の理解を深められます。</a:t>
              </a:r>
            </a:p>
          </p:txBody>
        </p:sp>
        <p:sp>
          <p:nvSpPr>
            <p:cNvPr id="4" name="TextBox 4"/>
            <p:cNvSpPr txBox="1"/>
            <p:nvPr/>
          </p:nvSpPr>
          <p:spPr>
            <a:xfrm>
              <a:off x="0" y="180975"/>
              <a:ext cx="11099800" cy="3341159"/>
            </a:xfrm>
            <a:prstGeom prst="rect">
              <a:avLst/>
            </a:prstGeom>
          </p:spPr>
          <p:txBody>
            <a:bodyPr lIns="0" tIns="0" rIns="0" bIns="0" rtlCol="0" anchor="t">
              <a:spAutoFit/>
            </a:bodyPr>
            <a:lstStyle/>
            <a:p>
              <a:pPr marL="0" lvl="0" indent="0" algn="l">
                <a:lnSpc>
                  <a:spcPts val="9500"/>
                </a:lnSpc>
                <a:spcBef>
                  <a:spcPct val="0"/>
                </a:spcBef>
              </a:pPr>
              <a:r>
                <a:rPr lang="en-US" sz="9500" u="none" strike="noStrike" spc="-190">
                  <a:solidFill>
                    <a:srgbClr val="497EA6"/>
                  </a:solidFill>
                  <a:latin typeface="Cooper BT Light"/>
                  <a:ea typeface="Cooper BT Light"/>
                  <a:cs typeface="Cooper BT Light"/>
                  <a:sym typeface="Cooper BT Light"/>
                </a:rPr>
                <a:t>AIチャットボットの特徴</a:t>
              </a:r>
            </a:p>
          </p:txBody>
        </p:sp>
        <p:sp>
          <p:nvSpPr>
            <p:cNvPr id="5" name="TextBox 5"/>
            <p:cNvSpPr txBox="1"/>
            <p:nvPr/>
          </p:nvSpPr>
          <p:spPr>
            <a:xfrm>
              <a:off x="0" y="3543300"/>
              <a:ext cx="11099800" cy="518160"/>
            </a:xfrm>
            <a:prstGeom prst="rect">
              <a:avLst/>
            </a:prstGeom>
          </p:spPr>
          <p:txBody>
            <a:bodyPr lIns="0" tIns="0" rIns="0" bIns="0" rtlCol="0" anchor="t">
              <a:spAutoFit/>
            </a:bodyPr>
            <a:lstStyle/>
            <a:p>
              <a:pPr marL="0" lvl="0" indent="0" algn="l">
                <a:lnSpc>
                  <a:spcPts val="3120"/>
                </a:lnSpc>
                <a:spcBef>
                  <a:spcPct val="0"/>
                </a:spcBef>
              </a:pPr>
              <a:r>
                <a:rPr lang="en-US" sz="2400" b="1" u="none" strike="noStrike" spc="-48">
                  <a:solidFill>
                    <a:srgbClr val="27496D"/>
                  </a:solidFill>
                  <a:latin typeface="TT Interphases Bold"/>
                  <a:ea typeface="TT Interphases Bold"/>
                  <a:cs typeface="TT Interphases Bold"/>
                  <a:sym typeface="TT Interphases Bold"/>
                </a:rPr>
                <a:t>利用者の理解を促進するアプローチ</a:t>
              </a:r>
            </a:p>
          </p:txBody>
        </p:sp>
      </p:grpSp>
      <p:grpSp>
        <p:nvGrpSpPr>
          <p:cNvPr id="6" name="Group 6"/>
          <p:cNvGrpSpPr/>
          <p:nvPr/>
        </p:nvGrpSpPr>
        <p:grpSpPr>
          <a:xfrm>
            <a:off x="0" y="0"/>
            <a:ext cx="8267700" cy="10287000"/>
            <a:chOff x="0" y="0"/>
            <a:chExt cx="2177501" cy="2709333"/>
          </a:xfrm>
        </p:grpSpPr>
        <p:sp>
          <p:nvSpPr>
            <p:cNvPr id="7" name="Freeform 7"/>
            <p:cNvSpPr/>
            <p:nvPr/>
          </p:nvSpPr>
          <p:spPr>
            <a:xfrm>
              <a:off x="0" y="0"/>
              <a:ext cx="2177501" cy="2709333"/>
            </a:xfrm>
            <a:custGeom>
              <a:avLst/>
              <a:gdLst/>
              <a:ahLst/>
              <a:cxnLst/>
              <a:rect l="l" t="t" r="r" b="b"/>
              <a:pathLst>
                <a:path w="2177501" h="2709333">
                  <a:moveTo>
                    <a:pt x="0" y="0"/>
                  </a:moveTo>
                  <a:lnTo>
                    <a:pt x="2177501" y="0"/>
                  </a:lnTo>
                  <a:lnTo>
                    <a:pt x="2177501" y="2709333"/>
                  </a:lnTo>
                  <a:lnTo>
                    <a:pt x="0" y="2709333"/>
                  </a:lnTo>
                  <a:close/>
                </a:path>
              </a:pathLst>
            </a:custGeom>
            <a:solidFill>
              <a:srgbClr val="497EA6"/>
            </a:solidFill>
          </p:spPr>
        </p:sp>
        <p:sp>
          <p:nvSpPr>
            <p:cNvPr id="8" name="TextBox 8"/>
            <p:cNvSpPr txBox="1"/>
            <p:nvPr/>
          </p:nvSpPr>
          <p:spPr>
            <a:xfrm>
              <a:off x="0" y="-28575"/>
              <a:ext cx="2177501" cy="2737908"/>
            </a:xfrm>
            <a:prstGeom prst="rect">
              <a:avLst/>
            </a:prstGeom>
          </p:spPr>
          <p:txBody>
            <a:bodyPr lIns="50800" tIns="50800" rIns="50800" bIns="50800" rtlCol="0" anchor="ctr"/>
            <a:lstStyle/>
            <a:p>
              <a:pPr marL="0" lvl="0" indent="0" algn="ctr">
                <a:lnSpc>
                  <a:spcPts val="2100"/>
                </a:lnSpc>
              </a:pPr>
              <a:endParaRPr/>
            </a:p>
          </p:txBody>
        </p:sp>
      </p:grpSp>
      <p:grpSp>
        <p:nvGrpSpPr>
          <p:cNvPr id="9" name="Group 9"/>
          <p:cNvGrpSpPr/>
          <p:nvPr/>
        </p:nvGrpSpPr>
        <p:grpSpPr>
          <a:xfrm>
            <a:off x="666750" y="666750"/>
            <a:ext cx="6886575" cy="8953500"/>
            <a:chOff x="0" y="0"/>
            <a:chExt cx="812800" cy="1056752"/>
          </a:xfrm>
        </p:grpSpPr>
        <p:sp>
          <p:nvSpPr>
            <p:cNvPr id="10" name="Freeform 10"/>
            <p:cNvSpPr/>
            <p:nvPr/>
          </p:nvSpPr>
          <p:spPr>
            <a:xfrm>
              <a:off x="0" y="0"/>
              <a:ext cx="812800" cy="1056752"/>
            </a:xfrm>
            <a:custGeom>
              <a:avLst/>
              <a:gdLst/>
              <a:ahLst/>
              <a:cxnLst/>
              <a:rect l="l" t="t" r="r" b="b"/>
              <a:pathLst>
                <a:path w="812800" h="1056752">
                  <a:moveTo>
                    <a:pt x="44968" y="0"/>
                  </a:moveTo>
                  <a:lnTo>
                    <a:pt x="767832" y="0"/>
                  </a:lnTo>
                  <a:cubicBezTo>
                    <a:pt x="779758" y="0"/>
                    <a:pt x="791196" y="4738"/>
                    <a:pt x="799629" y="13171"/>
                  </a:cubicBezTo>
                  <a:cubicBezTo>
                    <a:pt x="808062" y="21604"/>
                    <a:pt x="812800" y="33042"/>
                    <a:pt x="812800" y="44968"/>
                  </a:cubicBezTo>
                  <a:lnTo>
                    <a:pt x="812800" y="1011784"/>
                  </a:lnTo>
                  <a:cubicBezTo>
                    <a:pt x="812800" y="1023711"/>
                    <a:pt x="808062" y="1035148"/>
                    <a:pt x="799629" y="1043582"/>
                  </a:cubicBezTo>
                  <a:cubicBezTo>
                    <a:pt x="791196" y="1052015"/>
                    <a:pt x="779758" y="1056752"/>
                    <a:pt x="767832" y="1056752"/>
                  </a:cubicBezTo>
                  <a:lnTo>
                    <a:pt x="44968" y="1056752"/>
                  </a:lnTo>
                  <a:cubicBezTo>
                    <a:pt x="33042" y="1056752"/>
                    <a:pt x="21604" y="1052015"/>
                    <a:pt x="13171" y="1043582"/>
                  </a:cubicBezTo>
                  <a:cubicBezTo>
                    <a:pt x="4738" y="1035148"/>
                    <a:pt x="0" y="1023711"/>
                    <a:pt x="0" y="1011784"/>
                  </a:cubicBezTo>
                  <a:lnTo>
                    <a:pt x="0" y="44968"/>
                  </a:lnTo>
                  <a:cubicBezTo>
                    <a:pt x="0" y="33042"/>
                    <a:pt x="4738" y="21604"/>
                    <a:pt x="13171" y="13171"/>
                  </a:cubicBezTo>
                  <a:cubicBezTo>
                    <a:pt x="21604" y="4738"/>
                    <a:pt x="33042" y="0"/>
                    <a:pt x="44968" y="0"/>
                  </a:cubicBezTo>
                  <a:close/>
                </a:path>
              </a:pathLst>
            </a:custGeom>
            <a:blipFill>
              <a:blip r:embed="rId2"/>
              <a:stretch>
                <a:fillRect t="-271" b="-271"/>
              </a:stretch>
            </a:blipFill>
          </p:spPr>
        </p:sp>
      </p:grpSp>
      <p:sp>
        <p:nvSpPr>
          <p:cNvPr id="11" name="Freeform 11"/>
          <p:cNvSpPr/>
          <p:nvPr/>
        </p:nvSpPr>
        <p:spPr>
          <a:xfrm rot="5400000">
            <a:off x="6176504" y="61454"/>
            <a:ext cx="1438275" cy="1315368"/>
          </a:xfrm>
          <a:custGeom>
            <a:avLst/>
            <a:gdLst/>
            <a:ahLst/>
            <a:cxnLst/>
            <a:rect l="l" t="t" r="r" b="b"/>
            <a:pathLst>
              <a:path w="1438275" h="1315368">
                <a:moveTo>
                  <a:pt x="0" y="0"/>
                </a:moveTo>
                <a:lnTo>
                  <a:pt x="1438275" y="0"/>
                </a:lnTo>
                <a:lnTo>
                  <a:pt x="1438275" y="1315367"/>
                </a:lnTo>
                <a:lnTo>
                  <a:pt x="0" y="1315367"/>
                </a:lnTo>
                <a:lnTo>
                  <a:pt x="0" y="0"/>
                </a:lnTo>
                <a:close/>
              </a:path>
            </a:pathLst>
          </a:custGeom>
          <a:blipFill>
            <a:blip r:embed="rId3">
              <a:extLst>
                <a:ext uri="{96DAC541-7B7A-43D3-8B79-37D633B846F1}">
                  <asvg:svgBlip xmlns:asvg="http://schemas.microsoft.com/office/drawing/2016/SVG/main" r:embed="rId4"/>
                </a:ext>
              </a:extLst>
            </a:blip>
            <a:stretch>
              <a:fillRect/>
            </a:stretch>
          </a:blipFill>
          <a:ln cap="sq">
            <a:noFill/>
            <a:prstDash val="solid"/>
            <a:miter/>
          </a:ln>
        </p:spPr>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E5F1FB"/>
        </a:solidFill>
        <a:effectLst/>
      </p:bgPr>
    </p:bg>
    <p:spTree>
      <p:nvGrpSpPr>
        <p:cNvPr id="1" name=""/>
        <p:cNvGrpSpPr/>
        <p:nvPr/>
      </p:nvGrpSpPr>
      <p:grpSpPr>
        <a:xfrm>
          <a:off x="0" y="0"/>
          <a:ext cx="0" cy="0"/>
          <a:chOff x="0" y="0"/>
          <a:chExt cx="0" cy="0"/>
        </a:xfrm>
      </p:grpSpPr>
      <p:sp>
        <p:nvSpPr>
          <p:cNvPr id="2" name="TextBox 2"/>
          <p:cNvSpPr txBox="1"/>
          <p:nvPr/>
        </p:nvSpPr>
        <p:spPr>
          <a:xfrm>
            <a:off x="2127917" y="838200"/>
            <a:ext cx="14055058" cy="2197097"/>
          </a:xfrm>
          <a:prstGeom prst="rect">
            <a:avLst/>
          </a:prstGeom>
        </p:spPr>
        <p:txBody>
          <a:bodyPr lIns="0" tIns="0" rIns="0" bIns="0" rtlCol="0" anchor="t">
            <a:spAutoFit/>
          </a:bodyPr>
          <a:lstStyle/>
          <a:p>
            <a:pPr marL="0" lvl="0" indent="0" algn="ctr">
              <a:lnSpc>
                <a:spcPts val="8499"/>
              </a:lnSpc>
              <a:spcBef>
                <a:spcPct val="0"/>
              </a:spcBef>
            </a:pPr>
            <a:r>
              <a:rPr lang="en-US" sz="8499" u="none" strike="noStrike" spc="-169">
                <a:solidFill>
                  <a:srgbClr val="497EA6"/>
                </a:solidFill>
                <a:latin typeface="Cooper BT Light"/>
                <a:ea typeface="Cooper BT Light"/>
                <a:cs typeface="Cooper BT Light"/>
                <a:sym typeface="Cooper BT Light"/>
              </a:rPr>
              <a:t>AIチャットボット開発の仕組みと特徴</a:t>
            </a:r>
          </a:p>
        </p:txBody>
      </p:sp>
      <p:grpSp>
        <p:nvGrpSpPr>
          <p:cNvPr id="3" name="Group 3"/>
          <p:cNvGrpSpPr/>
          <p:nvPr/>
        </p:nvGrpSpPr>
        <p:grpSpPr>
          <a:xfrm>
            <a:off x="666750" y="4248150"/>
            <a:ext cx="5448300" cy="5372100"/>
            <a:chOff x="0" y="0"/>
            <a:chExt cx="1434943" cy="1414874"/>
          </a:xfrm>
        </p:grpSpPr>
        <p:sp>
          <p:nvSpPr>
            <p:cNvPr id="4" name="Freeform 4"/>
            <p:cNvSpPr/>
            <p:nvPr/>
          </p:nvSpPr>
          <p:spPr>
            <a:xfrm>
              <a:off x="0" y="0"/>
              <a:ext cx="1434943" cy="1414874"/>
            </a:xfrm>
            <a:custGeom>
              <a:avLst/>
              <a:gdLst/>
              <a:ahLst/>
              <a:cxnLst/>
              <a:rect l="l" t="t" r="r" b="b"/>
              <a:pathLst>
                <a:path w="1434943" h="1414874">
                  <a:moveTo>
                    <a:pt x="56839" y="0"/>
                  </a:moveTo>
                  <a:lnTo>
                    <a:pt x="1378104" y="0"/>
                  </a:lnTo>
                  <a:cubicBezTo>
                    <a:pt x="1409495" y="0"/>
                    <a:pt x="1434943" y="25448"/>
                    <a:pt x="1434943" y="56839"/>
                  </a:cubicBezTo>
                  <a:lnTo>
                    <a:pt x="1434943" y="1358035"/>
                  </a:lnTo>
                  <a:cubicBezTo>
                    <a:pt x="1434943" y="1389426"/>
                    <a:pt x="1409495" y="1414874"/>
                    <a:pt x="1378104" y="1414874"/>
                  </a:cubicBezTo>
                  <a:lnTo>
                    <a:pt x="56839" y="1414874"/>
                  </a:lnTo>
                  <a:cubicBezTo>
                    <a:pt x="25448" y="1414874"/>
                    <a:pt x="0" y="1389426"/>
                    <a:pt x="0" y="1358035"/>
                  </a:cubicBezTo>
                  <a:lnTo>
                    <a:pt x="0" y="56839"/>
                  </a:lnTo>
                  <a:cubicBezTo>
                    <a:pt x="0" y="25448"/>
                    <a:pt x="25448" y="0"/>
                    <a:pt x="56839" y="0"/>
                  </a:cubicBezTo>
                  <a:close/>
                </a:path>
              </a:pathLst>
            </a:custGeom>
            <a:solidFill>
              <a:srgbClr val="FFFFFF"/>
            </a:solidFill>
            <a:ln w="28575" cap="rnd">
              <a:solidFill>
                <a:srgbClr val="000000"/>
              </a:solidFill>
              <a:prstDash val="solid"/>
              <a:round/>
            </a:ln>
          </p:spPr>
        </p:sp>
        <p:sp>
          <p:nvSpPr>
            <p:cNvPr id="5" name="TextBox 5"/>
            <p:cNvSpPr txBox="1"/>
            <p:nvPr/>
          </p:nvSpPr>
          <p:spPr>
            <a:xfrm>
              <a:off x="0" y="-28575"/>
              <a:ext cx="1434943" cy="1443449"/>
            </a:xfrm>
            <a:prstGeom prst="rect">
              <a:avLst/>
            </a:prstGeom>
          </p:spPr>
          <p:txBody>
            <a:bodyPr lIns="50800" tIns="50800" rIns="50800" bIns="50800" rtlCol="0" anchor="ctr"/>
            <a:lstStyle/>
            <a:p>
              <a:pPr marL="0" lvl="0" indent="0" algn="ctr">
                <a:lnSpc>
                  <a:spcPts val="1960"/>
                </a:lnSpc>
                <a:spcBef>
                  <a:spcPct val="0"/>
                </a:spcBef>
              </a:pPr>
              <a:endParaRPr/>
            </a:p>
          </p:txBody>
        </p:sp>
      </p:grpSp>
      <p:grpSp>
        <p:nvGrpSpPr>
          <p:cNvPr id="6" name="Group 6"/>
          <p:cNvGrpSpPr/>
          <p:nvPr/>
        </p:nvGrpSpPr>
        <p:grpSpPr>
          <a:xfrm>
            <a:off x="6419850" y="4248150"/>
            <a:ext cx="5448300" cy="5372100"/>
            <a:chOff x="0" y="0"/>
            <a:chExt cx="1434943" cy="1414874"/>
          </a:xfrm>
        </p:grpSpPr>
        <p:sp>
          <p:nvSpPr>
            <p:cNvPr id="7" name="Freeform 7"/>
            <p:cNvSpPr/>
            <p:nvPr/>
          </p:nvSpPr>
          <p:spPr>
            <a:xfrm>
              <a:off x="0" y="0"/>
              <a:ext cx="1434943" cy="1414874"/>
            </a:xfrm>
            <a:custGeom>
              <a:avLst/>
              <a:gdLst/>
              <a:ahLst/>
              <a:cxnLst/>
              <a:rect l="l" t="t" r="r" b="b"/>
              <a:pathLst>
                <a:path w="1434943" h="1414874">
                  <a:moveTo>
                    <a:pt x="56839" y="0"/>
                  </a:moveTo>
                  <a:lnTo>
                    <a:pt x="1378104" y="0"/>
                  </a:lnTo>
                  <a:cubicBezTo>
                    <a:pt x="1409495" y="0"/>
                    <a:pt x="1434943" y="25448"/>
                    <a:pt x="1434943" y="56839"/>
                  </a:cubicBezTo>
                  <a:lnTo>
                    <a:pt x="1434943" y="1358035"/>
                  </a:lnTo>
                  <a:cubicBezTo>
                    <a:pt x="1434943" y="1389426"/>
                    <a:pt x="1409495" y="1414874"/>
                    <a:pt x="1378104" y="1414874"/>
                  </a:cubicBezTo>
                  <a:lnTo>
                    <a:pt x="56839" y="1414874"/>
                  </a:lnTo>
                  <a:cubicBezTo>
                    <a:pt x="25448" y="1414874"/>
                    <a:pt x="0" y="1389426"/>
                    <a:pt x="0" y="1358035"/>
                  </a:cubicBezTo>
                  <a:lnTo>
                    <a:pt x="0" y="56839"/>
                  </a:lnTo>
                  <a:cubicBezTo>
                    <a:pt x="0" y="25448"/>
                    <a:pt x="25448" y="0"/>
                    <a:pt x="56839" y="0"/>
                  </a:cubicBezTo>
                  <a:close/>
                </a:path>
              </a:pathLst>
            </a:custGeom>
            <a:solidFill>
              <a:srgbClr val="FFFFFF"/>
            </a:solidFill>
            <a:ln w="28575" cap="rnd">
              <a:solidFill>
                <a:srgbClr val="000000"/>
              </a:solidFill>
              <a:prstDash val="solid"/>
              <a:round/>
            </a:ln>
          </p:spPr>
        </p:sp>
        <p:sp>
          <p:nvSpPr>
            <p:cNvPr id="8" name="TextBox 8"/>
            <p:cNvSpPr txBox="1"/>
            <p:nvPr/>
          </p:nvSpPr>
          <p:spPr>
            <a:xfrm>
              <a:off x="0" y="-28575"/>
              <a:ext cx="1434943" cy="1443449"/>
            </a:xfrm>
            <a:prstGeom prst="rect">
              <a:avLst/>
            </a:prstGeom>
          </p:spPr>
          <p:txBody>
            <a:bodyPr lIns="50800" tIns="50800" rIns="50800" bIns="50800" rtlCol="0" anchor="ctr"/>
            <a:lstStyle/>
            <a:p>
              <a:pPr marL="0" lvl="0" indent="0" algn="ctr">
                <a:lnSpc>
                  <a:spcPts val="1960"/>
                </a:lnSpc>
                <a:spcBef>
                  <a:spcPct val="0"/>
                </a:spcBef>
              </a:pPr>
              <a:endParaRPr/>
            </a:p>
          </p:txBody>
        </p:sp>
      </p:grpSp>
      <p:grpSp>
        <p:nvGrpSpPr>
          <p:cNvPr id="9" name="Group 9"/>
          <p:cNvGrpSpPr/>
          <p:nvPr/>
        </p:nvGrpSpPr>
        <p:grpSpPr>
          <a:xfrm>
            <a:off x="12172950" y="4248150"/>
            <a:ext cx="5448300" cy="5372100"/>
            <a:chOff x="0" y="0"/>
            <a:chExt cx="1434943" cy="1414874"/>
          </a:xfrm>
        </p:grpSpPr>
        <p:sp>
          <p:nvSpPr>
            <p:cNvPr id="10" name="Freeform 10"/>
            <p:cNvSpPr/>
            <p:nvPr/>
          </p:nvSpPr>
          <p:spPr>
            <a:xfrm>
              <a:off x="0" y="0"/>
              <a:ext cx="1434943" cy="1414874"/>
            </a:xfrm>
            <a:custGeom>
              <a:avLst/>
              <a:gdLst/>
              <a:ahLst/>
              <a:cxnLst/>
              <a:rect l="l" t="t" r="r" b="b"/>
              <a:pathLst>
                <a:path w="1434943" h="1414874">
                  <a:moveTo>
                    <a:pt x="56839" y="0"/>
                  </a:moveTo>
                  <a:lnTo>
                    <a:pt x="1378104" y="0"/>
                  </a:lnTo>
                  <a:cubicBezTo>
                    <a:pt x="1409495" y="0"/>
                    <a:pt x="1434943" y="25448"/>
                    <a:pt x="1434943" y="56839"/>
                  </a:cubicBezTo>
                  <a:lnTo>
                    <a:pt x="1434943" y="1358035"/>
                  </a:lnTo>
                  <a:cubicBezTo>
                    <a:pt x="1434943" y="1389426"/>
                    <a:pt x="1409495" y="1414874"/>
                    <a:pt x="1378104" y="1414874"/>
                  </a:cubicBezTo>
                  <a:lnTo>
                    <a:pt x="56839" y="1414874"/>
                  </a:lnTo>
                  <a:cubicBezTo>
                    <a:pt x="25448" y="1414874"/>
                    <a:pt x="0" y="1389426"/>
                    <a:pt x="0" y="1358035"/>
                  </a:cubicBezTo>
                  <a:lnTo>
                    <a:pt x="0" y="56839"/>
                  </a:lnTo>
                  <a:cubicBezTo>
                    <a:pt x="0" y="25448"/>
                    <a:pt x="25448" y="0"/>
                    <a:pt x="56839" y="0"/>
                  </a:cubicBezTo>
                  <a:close/>
                </a:path>
              </a:pathLst>
            </a:custGeom>
            <a:solidFill>
              <a:srgbClr val="FFFFFF"/>
            </a:solidFill>
            <a:ln w="28575" cap="rnd">
              <a:solidFill>
                <a:srgbClr val="000000"/>
              </a:solidFill>
              <a:prstDash val="solid"/>
              <a:round/>
            </a:ln>
          </p:spPr>
        </p:sp>
        <p:sp>
          <p:nvSpPr>
            <p:cNvPr id="11" name="TextBox 11"/>
            <p:cNvSpPr txBox="1"/>
            <p:nvPr/>
          </p:nvSpPr>
          <p:spPr>
            <a:xfrm>
              <a:off x="0" y="-28575"/>
              <a:ext cx="1434943" cy="1443449"/>
            </a:xfrm>
            <a:prstGeom prst="rect">
              <a:avLst/>
            </a:prstGeom>
          </p:spPr>
          <p:txBody>
            <a:bodyPr lIns="50800" tIns="50800" rIns="50800" bIns="50800" rtlCol="0" anchor="ctr"/>
            <a:lstStyle/>
            <a:p>
              <a:pPr marL="0" lvl="0" indent="0" algn="ctr">
                <a:lnSpc>
                  <a:spcPts val="1960"/>
                </a:lnSpc>
                <a:spcBef>
                  <a:spcPct val="0"/>
                </a:spcBef>
              </a:pPr>
              <a:endParaRPr/>
            </a:p>
          </p:txBody>
        </p:sp>
      </p:grpSp>
      <p:sp>
        <p:nvSpPr>
          <p:cNvPr id="12" name="TextBox 12"/>
          <p:cNvSpPr txBox="1"/>
          <p:nvPr/>
        </p:nvSpPr>
        <p:spPr>
          <a:xfrm>
            <a:off x="12892088" y="7562383"/>
            <a:ext cx="4010025" cy="1179195"/>
          </a:xfrm>
          <a:prstGeom prst="rect">
            <a:avLst/>
          </a:prstGeom>
        </p:spPr>
        <p:txBody>
          <a:bodyPr lIns="0" tIns="0" rIns="0" bIns="0" rtlCol="0" anchor="t">
            <a:spAutoFit/>
          </a:bodyPr>
          <a:lstStyle/>
          <a:p>
            <a:pPr marL="0" lvl="0" indent="0" algn="l">
              <a:lnSpc>
                <a:spcPts val="3120"/>
              </a:lnSpc>
              <a:spcBef>
                <a:spcPct val="0"/>
              </a:spcBef>
            </a:pPr>
            <a:r>
              <a:rPr lang="en-US" sz="2400" u="none" strike="noStrike" spc="-48">
                <a:solidFill>
                  <a:srgbClr val="27496D"/>
                </a:solidFill>
                <a:latin typeface="TT Interphases"/>
                <a:ea typeface="TT Interphases"/>
                <a:cs typeface="TT Interphases"/>
                <a:sym typeface="TT Interphases"/>
              </a:rPr>
              <a:t>OpenAI APIを利用し、収集したデータに基づいて、自然な質問応答を実現します。</a:t>
            </a:r>
          </a:p>
        </p:txBody>
      </p:sp>
      <p:sp>
        <p:nvSpPr>
          <p:cNvPr id="13" name="TextBox 13"/>
          <p:cNvSpPr txBox="1"/>
          <p:nvPr/>
        </p:nvSpPr>
        <p:spPr>
          <a:xfrm>
            <a:off x="12892088" y="5114925"/>
            <a:ext cx="4010025" cy="485775"/>
          </a:xfrm>
          <a:prstGeom prst="rect">
            <a:avLst/>
          </a:prstGeom>
        </p:spPr>
        <p:txBody>
          <a:bodyPr lIns="0" tIns="0" rIns="0" bIns="0" rtlCol="0" anchor="t">
            <a:spAutoFit/>
          </a:bodyPr>
          <a:lstStyle/>
          <a:p>
            <a:pPr marL="0" lvl="0" indent="0" algn="l">
              <a:lnSpc>
                <a:spcPts val="3900"/>
              </a:lnSpc>
              <a:spcBef>
                <a:spcPct val="0"/>
              </a:spcBef>
            </a:pPr>
            <a:r>
              <a:rPr lang="en-US" sz="3000" u="none" strike="noStrike">
                <a:solidFill>
                  <a:srgbClr val="27496D"/>
                </a:solidFill>
                <a:latin typeface="Cooper BT Medium"/>
                <a:ea typeface="Cooper BT Medium"/>
                <a:cs typeface="Cooper BT Medium"/>
                <a:sym typeface="Cooper BT Medium"/>
              </a:rPr>
              <a:t>質問応答機能</a:t>
            </a:r>
          </a:p>
        </p:txBody>
      </p:sp>
      <p:sp>
        <p:nvSpPr>
          <p:cNvPr id="14" name="TextBox 14"/>
          <p:cNvSpPr txBox="1"/>
          <p:nvPr/>
        </p:nvSpPr>
        <p:spPr>
          <a:xfrm>
            <a:off x="7158038" y="7171804"/>
            <a:ext cx="3971925" cy="1569720"/>
          </a:xfrm>
          <a:prstGeom prst="rect">
            <a:avLst/>
          </a:prstGeom>
        </p:spPr>
        <p:txBody>
          <a:bodyPr lIns="0" tIns="0" rIns="0" bIns="0" rtlCol="0" anchor="t">
            <a:spAutoFit/>
          </a:bodyPr>
          <a:lstStyle/>
          <a:p>
            <a:pPr marL="0" lvl="0" indent="0" algn="l">
              <a:lnSpc>
                <a:spcPts val="3120"/>
              </a:lnSpc>
              <a:spcBef>
                <a:spcPct val="0"/>
              </a:spcBef>
            </a:pPr>
            <a:r>
              <a:rPr lang="en-US" sz="2400" u="none" strike="noStrike" spc="-48">
                <a:solidFill>
                  <a:srgbClr val="27496D"/>
                </a:solidFill>
                <a:latin typeface="TT Interphases"/>
                <a:ea typeface="TT Interphases"/>
                <a:cs typeface="TT Interphases"/>
                <a:sym typeface="TT Interphases"/>
              </a:rPr>
              <a:t>AIによる自動的なカテゴリ分類が行われ、学校概要や専攻情報などの情報が整理されます。</a:t>
            </a:r>
          </a:p>
        </p:txBody>
      </p:sp>
      <p:sp>
        <p:nvSpPr>
          <p:cNvPr id="15" name="TextBox 15"/>
          <p:cNvSpPr txBox="1"/>
          <p:nvPr/>
        </p:nvSpPr>
        <p:spPr>
          <a:xfrm>
            <a:off x="7158038" y="5114979"/>
            <a:ext cx="3971925" cy="485775"/>
          </a:xfrm>
          <a:prstGeom prst="rect">
            <a:avLst/>
          </a:prstGeom>
        </p:spPr>
        <p:txBody>
          <a:bodyPr lIns="0" tIns="0" rIns="0" bIns="0" rtlCol="0" anchor="t">
            <a:spAutoFit/>
          </a:bodyPr>
          <a:lstStyle/>
          <a:p>
            <a:pPr marL="0" lvl="0" indent="0" algn="l">
              <a:lnSpc>
                <a:spcPts val="3900"/>
              </a:lnSpc>
              <a:spcBef>
                <a:spcPct val="0"/>
              </a:spcBef>
            </a:pPr>
            <a:r>
              <a:rPr lang="en-US" sz="3000" u="none" strike="noStrike">
                <a:solidFill>
                  <a:srgbClr val="27496D"/>
                </a:solidFill>
                <a:latin typeface="Cooper BT Medium"/>
                <a:ea typeface="Cooper BT Medium"/>
                <a:cs typeface="Cooper BT Medium"/>
                <a:sym typeface="Cooper BT Medium"/>
              </a:rPr>
              <a:t>カテゴリ分類</a:t>
            </a:r>
          </a:p>
        </p:txBody>
      </p:sp>
      <p:sp>
        <p:nvSpPr>
          <p:cNvPr id="16" name="TextBox 16"/>
          <p:cNvSpPr txBox="1"/>
          <p:nvPr/>
        </p:nvSpPr>
        <p:spPr>
          <a:xfrm>
            <a:off x="1385887" y="7171858"/>
            <a:ext cx="4010025" cy="1569720"/>
          </a:xfrm>
          <a:prstGeom prst="rect">
            <a:avLst/>
          </a:prstGeom>
        </p:spPr>
        <p:txBody>
          <a:bodyPr lIns="0" tIns="0" rIns="0" bIns="0" rtlCol="0" anchor="t">
            <a:spAutoFit/>
          </a:bodyPr>
          <a:lstStyle/>
          <a:p>
            <a:pPr marL="0" lvl="0" indent="0" algn="l">
              <a:lnSpc>
                <a:spcPts val="3120"/>
              </a:lnSpc>
              <a:spcBef>
                <a:spcPct val="0"/>
              </a:spcBef>
            </a:pPr>
            <a:r>
              <a:rPr lang="en-US" sz="2400" u="none" strike="noStrike" spc="-48">
                <a:solidFill>
                  <a:srgbClr val="27496D"/>
                </a:solidFill>
                <a:latin typeface="TT Interphases"/>
                <a:ea typeface="TT Interphases"/>
                <a:cs typeface="TT Interphases"/>
                <a:sym typeface="TT Interphases"/>
              </a:rPr>
              <a:t>Webスクレイピングを用いた短文情報の抽出によって、必要なデータを効率よく収集します。</a:t>
            </a:r>
          </a:p>
        </p:txBody>
      </p:sp>
      <p:sp>
        <p:nvSpPr>
          <p:cNvPr id="17" name="TextBox 17"/>
          <p:cNvSpPr txBox="1"/>
          <p:nvPr/>
        </p:nvSpPr>
        <p:spPr>
          <a:xfrm>
            <a:off x="1385887" y="5114925"/>
            <a:ext cx="4010025" cy="485775"/>
          </a:xfrm>
          <a:prstGeom prst="rect">
            <a:avLst/>
          </a:prstGeom>
        </p:spPr>
        <p:txBody>
          <a:bodyPr lIns="0" tIns="0" rIns="0" bIns="0" rtlCol="0" anchor="t">
            <a:spAutoFit/>
          </a:bodyPr>
          <a:lstStyle/>
          <a:p>
            <a:pPr marL="0" lvl="0" indent="0" algn="l">
              <a:lnSpc>
                <a:spcPts val="3900"/>
              </a:lnSpc>
              <a:spcBef>
                <a:spcPct val="0"/>
              </a:spcBef>
            </a:pPr>
            <a:r>
              <a:rPr lang="en-US" sz="3000" u="none" strike="noStrike">
                <a:solidFill>
                  <a:srgbClr val="27496D"/>
                </a:solidFill>
                <a:latin typeface="Cooper BT Medium"/>
                <a:ea typeface="Cooper BT Medium"/>
                <a:cs typeface="Cooper BT Medium"/>
                <a:sym typeface="Cooper BT Medium"/>
              </a:rPr>
              <a:t>情報収集フロー</a:t>
            </a:r>
          </a:p>
        </p:txBody>
      </p:sp>
      <p:sp>
        <p:nvSpPr>
          <p:cNvPr id="18" name="Freeform 18"/>
          <p:cNvSpPr/>
          <p:nvPr/>
        </p:nvSpPr>
        <p:spPr>
          <a:xfrm rot="10445243" flipH="1">
            <a:off x="-689073" y="5800140"/>
            <a:ext cx="1876083" cy="1497455"/>
          </a:xfrm>
          <a:custGeom>
            <a:avLst/>
            <a:gdLst/>
            <a:ahLst/>
            <a:cxnLst/>
            <a:rect l="l" t="t" r="r" b="b"/>
            <a:pathLst>
              <a:path w="1876083" h="1497455">
                <a:moveTo>
                  <a:pt x="1876083" y="0"/>
                </a:moveTo>
                <a:lnTo>
                  <a:pt x="0" y="0"/>
                </a:lnTo>
                <a:lnTo>
                  <a:pt x="0" y="1497455"/>
                </a:lnTo>
                <a:lnTo>
                  <a:pt x="1876083" y="1497455"/>
                </a:lnTo>
                <a:lnTo>
                  <a:pt x="1876083" y="0"/>
                </a:lnTo>
                <a:close/>
              </a:path>
            </a:pathLst>
          </a:custGeom>
          <a:blipFill>
            <a:blip r:embed="rId2">
              <a:extLst>
                <a:ext uri="{96DAC541-7B7A-43D3-8B79-37D633B846F1}">
                  <asvg:svgBlip xmlns:asvg="http://schemas.microsoft.com/office/drawing/2016/SVG/main" r:embed="rId3"/>
                </a:ext>
              </a:extLst>
            </a:blip>
            <a:stretch>
              <a:fillRect/>
            </a:stretch>
          </a:blipFill>
          <a:ln cap="sq">
            <a:noFill/>
            <a:prstDash val="solid"/>
            <a:miter/>
          </a:ln>
        </p:spPr>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9296400" y="3352800"/>
            <a:ext cx="8324850" cy="4722495"/>
            <a:chOff x="0" y="0"/>
            <a:chExt cx="11099800" cy="6296660"/>
          </a:xfrm>
        </p:grpSpPr>
        <p:sp>
          <p:nvSpPr>
            <p:cNvPr id="3" name="TextBox 3"/>
            <p:cNvSpPr txBox="1"/>
            <p:nvPr/>
          </p:nvSpPr>
          <p:spPr>
            <a:xfrm>
              <a:off x="0" y="4737100"/>
              <a:ext cx="11099800" cy="1559560"/>
            </a:xfrm>
            <a:prstGeom prst="rect">
              <a:avLst/>
            </a:prstGeom>
          </p:spPr>
          <p:txBody>
            <a:bodyPr lIns="0" tIns="0" rIns="0" bIns="0" rtlCol="0" anchor="t">
              <a:spAutoFit/>
            </a:bodyPr>
            <a:lstStyle/>
            <a:p>
              <a:pPr marL="0" lvl="0" indent="0" algn="l">
                <a:lnSpc>
                  <a:spcPts val="3120"/>
                </a:lnSpc>
                <a:spcBef>
                  <a:spcPct val="0"/>
                </a:spcBef>
              </a:pPr>
              <a:r>
                <a:rPr lang="en-US" sz="2400" u="none" strike="noStrike" spc="-48">
                  <a:solidFill>
                    <a:srgbClr val="27496D"/>
                  </a:solidFill>
                  <a:latin typeface="TT Interphases"/>
                  <a:ea typeface="TT Interphases"/>
                  <a:cs typeface="TT Interphases"/>
                  <a:sym typeface="TT Interphases"/>
                </a:rPr>
                <a:t>現在、私たちのプロジェクトはAIチャットボットのための</a:t>
              </a:r>
              <a:r>
                <a:rPr lang="en-US" sz="2400" b="1" u="none" strike="noStrike" spc="-48">
                  <a:solidFill>
                    <a:srgbClr val="27496D"/>
                  </a:solidFill>
                  <a:latin typeface="TT Interphases Bold"/>
                  <a:ea typeface="TT Interphases Bold"/>
                  <a:cs typeface="TT Interphases Bold"/>
                  <a:sym typeface="TT Interphases Bold"/>
                </a:rPr>
                <a:t>直感的な操作環境</a:t>
              </a:r>
              <a:r>
                <a:rPr lang="en-US" sz="2400" u="none" strike="noStrike" spc="-48">
                  <a:solidFill>
                    <a:srgbClr val="27496D"/>
                  </a:solidFill>
                  <a:latin typeface="TT Interphases"/>
                  <a:ea typeface="TT Interphases"/>
                  <a:cs typeface="TT Interphases"/>
                  <a:sym typeface="TT Interphases"/>
                </a:rPr>
                <a:t>を整備中です。ユーザーがスムーズに利用できるUIを目指しています。</a:t>
              </a:r>
            </a:p>
          </p:txBody>
        </p:sp>
        <p:sp>
          <p:nvSpPr>
            <p:cNvPr id="4" name="TextBox 4"/>
            <p:cNvSpPr txBox="1"/>
            <p:nvPr/>
          </p:nvSpPr>
          <p:spPr>
            <a:xfrm>
              <a:off x="0" y="180975"/>
              <a:ext cx="11099800" cy="3341159"/>
            </a:xfrm>
            <a:prstGeom prst="rect">
              <a:avLst/>
            </a:prstGeom>
          </p:spPr>
          <p:txBody>
            <a:bodyPr lIns="0" tIns="0" rIns="0" bIns="0" rtlCol="0" anchor="t">
              <a:spAutoFit/>
            </a:bodyPr>
            <a:lstStyle/>
            <a:p>
              <a:pPr marL="0" lvl="0" indent="0" algn="l">
                <a:lnSpc>
                  <a:spcPts val="9500"/>
                </a:lnSpc>
                <a:spcBef>
                  <a:spcPct val="0"/>
                </a:spcBef>
              </a:pPr>
              <a:r>
                <a:rPr lang="en-US" sz="9500" u="none" strike="noStrike" spc="-190">
                  <a:solidFill>
                    <a:srgbClr val="497EA6"/>
                  </a:solidFill>
                  <a:latin typeface="Cooper BT Light"/>
                  <a:ea typeface="Cooper BT Light"/>
                  <a:cs typeface="Cooper BT Light"/>
                  <a:sym typeface="Cooper BT Light"/>
                </a:rPr>
                <a:t>フロントエンド構築</a:t>
              </a:r>
            </a:p>
          </p:txBody>
        </p:sp>
        <p:sp>
          <p:nvSpPr>
            <p:cNvPr id="5" name="TextBox 5"/>
            <p:cNvSpPr txBox="1"/>
            <p:nvPr/>
          </p:nvSpPr>
          <p:spPr>
            <a:xfrm>
              <a:off x="0" y="3543300"/>
              <a:ext cx="11099800" cy="518160"/>
            </a:xfrm>
            <a:prstGeom prst="rect">
              <a:avLst/>
            </a:prstGeom>
          </p:spPr>
          <p:txBody>
            <a:bodyPr lIns="0" tIns="0" rIns="0" bIns="0" rtlCol="0" anchor="t">
              <a:spAutoFit/>
            </a:bodyPr>
            <a:lstStyle/>
            <a:p>
              <a:pPr marL="0" lvl="0" indent="0" algn="l">
                <a:lnSpc>
                  <a:spcPts val="3120"/>
                </a:lnSpc>
                <a:spcBef>
                  <a:spcPct val="0"/>
                </a:spcBef>
              </a:pPr>
              <a:r>
                <a:rPr lang="en-US" sz="2400" b="1" u="none" strike="noStrike" spc="-48">
                  <a:solidFill>
                    <a:srgbClr val="27496D"/>
                  </a:solidFill>
                  <a:latin typeface="TT Interphases Bold"/>
                  <a:ea typeface="TT Interphases Bold"/>
                  <a:cs typeface="TT Interphases Bold"/>
                  <a:sym typeface="TT Interphases Bold"/>
                </a:rPr>
                <a:t>AI利用のための操作環境整備</a:t>
              </a:r>
            </a:p>
          </p:txBody>
        </p:sp>
      </p:grpSp>
      <p:grpSp>
        <p:nvGrpSpPr>
          <p:cNvPr id="6" name="Group 6"/>
          <p:cNvGrpSpPr/>
          <p:nvPr/>
        </p:nvGrpSpPr>
        <p:grpSpPr>
          <a:xfrm>
            <a:off x="0" y="0"/>
            <a:ext cx="8267700" cy="10287000"/>
            <a:chOff x="0" y="0"/>
            <a:chExt cx="2177501" cy="2709333"/>
          </a:xfrm>
        </p:grpSpPr>
        <p:sp>
          <p:nvSpPr>
            <p:cNvPr id="7" name="Freeform 7"/>
            <p:cNvSpPr/>
            <p:nvPr/>
          </p:nvSpPr>
          <p:spPr>
            <a:xfrm>
              <a:off x="0" y="0"/>
              <a:ext cx="2177501" cy="2709333"/>
            </a:xfrm>
            <a:custGeom>
              <a:avLst/>
              <a:gdLst/>
              <a:ahLst/>
              <a:cxnLst/>
              <a:rect l="l" t="t" r="r" b="b"/>
              <a:pathLst>
                <a:path w="2177501" h="2709333">
                  <a:moveTo>
                    <a:pt x="0" y="0"/>
                  </a:moveTo>
                  <a:lnTo>
                    <a:pt x="2177501" y="0"/>
                  </a:lnTo>
                  <a:lnTo>
                    <a:pt x="2177501" y="2709333"/>
                  </a:lnTo>
                  <a:lnTo>
                    <a:pt x="0" y="2709333"/>
                  </a:lnTo>
                  <a:close/>
                </a:path>
              </a:pathLst>
            </a:custGeom>
            <a:solidFill>
              <a:srgbClr val="497EA6"/>
            </a:solidFill>
          </p:spPr>
        </p:sp>
        <p:sp>
          <p:nvSpPr>
            <p:cNvPr id="8" name="TextBox 8"/>
            <p:cNvSpPr txBox="1"/>
            <p:nvPr/>
          </p:nvSpPr>
          <p:spPr>
            <a:xfrm>
              <a:off x="0" y="-28575"/>
              <a:ext cx="2177501" cy="2737908"/>
            </a:xfrm>
            <a:prstGeom prst="rect">
              <a:avLst/>
            </a:prstGeom>
          </p:spPr>
          <p:txBody>
            <a:bodyPr lIns="50800" tIns="50800" rIns="50800" bIns="50800" rtlCol="0" anchor="ctr"/>
            <a:lstStyle/>
            <a:p>
              <a:pPr marL="0" lvl="0" indent="0" algn="ctr">
                <a:lnSpc>
                  <a:spcPts val="2100"/>
                </a:lnSpc>
              </a:pPr>
              <a:endParaRPr/>
            </a:p>
          </p:txBody>
        </p:sp>
      </p:grpSp>
      <p:grpSp>
        <p:nvGrpSpPr>
          <p:cNvPr id="9" name="Group 9"/>
          <p:cNvGrpSpPr/>
          <p:nvPr/>
        </p:nvGrpSpPr>
        <p:grpSpPr>
          <a:xfrm>
            <a:off x="666750" y="666750"/>
            <a:ext cx="6886575" cy="8953500"/>
            <a:chOff x="0" y="0"/>
            <a:chExt cx="812800" cy="1056752"/>
          </a:xfrm>
        </p:grpSpPr>
        <p:sp>
          <p:nvSpPr>
            <p:cNvPr id="10" name="Freeform 10"/>
            <p:cNvSpPr/>
            <p:nvPr/>
          </p:nvSpPr>
          <p:spPr>
            <a:xfrm>
              <a:off x="0" y="0"/>
              <a:ext cx="812800" cy="1056752"/>
            </a:xfrm>
            <a:custGeom>
              <a:avLst/>
              <a:gdLst/>
              <a:ahLst/>
              <a:cxnLst/>
              <a:rect l="l" t="t" r="r" b="b"/>
              <a:pathLst>
                <a:path w="812800" h="1056752">
                  <a:moveTo>
                    <a:pt x="44968" y="0"/>
                  </a:moveTo>
                  <a:lnTo>
                    <a:pt x="767832" y="0"/>
                  </a:lnTo>
                  <a:cubicBezTo>
                    <a:pt x="779758" y="0"/>
                    <a:pt x="791196" y="4738"/>
                    <a:pt x="799629" y="13171"/>
                  </a:cubicBezTo>
                  <a:cubicBezTo>
                    <a:pt x="808062" y="21604"/>
                    <a:pt x="812800" y="33042"/>
                    <a:pt x="812800" y="44968"/>
                  </a:cubicBezTo>
                  <a:lnTo>
                    <a:pt x="812800" y="1011784"/>
                  </a:lnTo>
                  <a:cubicBezTo>
                    <a:pt x="812800" y="1023711"/>
                    <a:pt x="808062" y="1035148"/>
                    <a:pt x="799629" y="1043582"/>
                  </a:cubicBezTo>
                  <a:cubicBezTo>
                    <a:pt x="791196" y="1052015"/>
                    <a:pt x="779758" y="1056752"/>
                    <a:pt x="767832" y="1056752"/>
                  </a:cubicBezTo>
                  <a:lnTo>
                    <a:pt x="44968" y="1056752"/>
                  </a:lnTo>
                  <a:cubicBezTo>
                    <a:pt x="33042" y="1056752"/>
                    <a:pt x="21604" y="1052015"/>
                    <a:pt x="13171" y="1043582"/>
                  </a:cubicBezTo>
                  <a:cubicBezTo>
                    <a:pt x="4738" y="1035148"/>
                    <a:pt x="0" y="1023711"/>
                    <a:pt x="0" y="1011784"/>
                  </a:cubicBezTo>
                  <a:lnTo>
                    <a:pt x="0" y="44968"/>
                  </a:lnTo>
                  <a:cubicBezTo>
                    <a:pt x="0" y="33042"/>
                    <a:pt x="4738" y="21604"/>
                    <a:pt x="13171" y="13171"/>
                  </a:cubicBezTo>
                  <a:cubicBezTo>
                    <a:pt x="21604" y="4738"/>
                    <a:pt x="33042" y="0"/>
                    <a:pt x="44968" y="0"/>
                  </a:cubicBezTo>
                  <a:close/>
                </a:path>
              </a:pathLst>
            </a:custGeom>
            <a:blipFill>
              <a:blip r:embed="rId2"/>
              <a:stretch>
                <a:fillRect t="-271" b="-271"/>
              </a:stretch>
            </a:blipFill>
          </p:spPr>
        </p:sp>
      </p:grpSp>
      <p:sp>
        <p:nvSpPr>
          <p:cNvPr id="11" name="Freeform 11"/>
          <p:cNvSpPr/>
          <p:nvPr/>
        </p:nvSpPr>
        <p:spPr>
          <a:xfrm rot="5400000">
            <a:off x="6176504" y="61454"/>
            <a:ext cx="1438275" cy="1315368"/>
          </a:xfrm>
          <a:custGeom>
            <a:avLst/>
            <a:gdLst/>
            <a:ahLst/>
            <a:cxnLst/>
            <a:rect l="l" t="t" r="r" b="b"/>
            <a:pathLst>
              <a:path w="1438275" h="1315368">
                <a:moveTo>
                  <a:pt x="0" y="0"/>
                </a:moveTo>
                <a:lnTo>
                  <a:pt x="1438275" y="0"/>
                </a:lnTo>
                <a:lnTo>
                  <a:pt x="1438275" y="1315367"/>
                </a:lnTo>
                <a:lnTo>
                  <a:pt x="0" y="1315367"/>
                </a:lnTo>
                <a:lnTo>
                  <a:pt x="0" y="0"/>
                </a:lnTo>
                <a:close/>
              </a:path>
            </a:pathLst>
          </a:custGeom>
          <a:blipFill>
            <a:blip r:embed="rId3">
              <a:extLst>
                <a:ext uri="{96DAC541-7B7A-43D3-8B79-37D633B846F1}">
                  <asvg:svgBlip xmlns:asvg="http://schemas.microsoft.com/office/drawing/2016/SVG/main" r:embed="rId4"/>
                </a:ext>
              </a:extLst>
            </a:blip>
            <a:stretch>
              <a:fillRect/>
            </a:stretch>
          </a:blipFill>
          <a:ln cap="sq">
            <a:noFill/>
            <a:prstDash val="solid"/>
            <a:miter/>
          </a:ln>
        </p:spPr>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E5F1FB"/>
        </a:solidFill>
        <a:effectLst/>
      </p:bgPr>
    </p:bg>
    <p:spTree>
      <p:nvGrpSpPr>
        <p:cNvPr id="1" name=""/>
        <p:cNvGrpSpPr/>
        <p:nvPr/>
      </p:nvGrpSpPr>
      <p:grpSpPr>
        <a:xfrm>
          <a:off x="0" y="0"/>
          <a:ext cx="0" cy="0"/>
          <a:chOff x="0" y="0"/>
          <a:chExt cx="0" cy="0"/>
        </a:xfrm>
      </p:grpSpPr>
      <p:grpSp>
        <p:nvGrpSpPr>
          <p:cNvPr id="2" name="Group 2"/>
          <p:cNvGrpSpPr/>
          <p:nvPr/>
        </p:nvGrpSpPr>
        <p:grpSpPr>
          <a:xfrm>
            <a:off x="666750" y="3352800"/>
            <a:ext cx="5448300" cy="6267450"/>
            <a:chOff x="0" y="0"/>
            <a:chExt cx="1434943" cy="1650686"/>
          </a:xfrm>
        </p:grpSpPr>
        <p:sp>
          <p:nvSpPr>
            <p:cNvPr id="3" name="Freeform 3"/>
            <p:cNvSpPr/>
            <p:nvPr/>
          </p:nvSpPr>
          <p:spPr>
            <a:xfrm>
              <a:off x="0" y="0"/>
              <a:ext cx="1434943" cy="1650686"/>
            </a:xfrm>
            <a:custGeom>
              <a:avLst/>
              <a:gdLst/>
              <a:ahLst/>
              <a:cxnLst/>
              <a:rect l="l" t="t" r="r" b="b"/>
              <a:pathLst>
                <a:path w="1434943" h="1650686">
                  <a:moveTo>
                    <a:pt x="56839" y="0"/>
                  </a:moveTo>
                  <a:lnTo>
                    <a:pt x="1378104" y="0"/>
                  </a:lnTo>
                  <a:cubicBezTo>
                    <a:pt x="1409495" y="0"/>
                    <a:pt x="1434943" y="25448"/>
                    <a:pt x="1434943" y="56839"/>
                  </a:cubicBezTo>
                  <a:lnTo>
                    <a:pt x="1434943" y="1593847"/>
                  </a:lnTo>
                  <a:cubicBezTo>
                    <a:pt x="1434943" y="1625239"/>
                    <a:pt x="1409495" y="1650686"/>
                    <a:pt x="1378104" y="1650686"/>
                  </a:cubicBezTo>
                  <a:lnTo>
                    <a:pt x="56839" y="1650686"/>
                  </a:lnTo>
                  <a:cubicBezTo>
                    <a:pt x="25448" y="1650686"/>
                    <a:pt x="0" y="1625239"/>
                    <a:pt x="0" y="1593847"/>
                  </a:cubicBezTo>
                  <a:lnTo>
                    <a:pt x="0" y="56839"/>
                  </a:lnTo>
                  <a:cubicBezTo>
                    <a:pt x="0" y="25448"/>
                    <a:pt x="25448" y="0"/>
                    <a:pt x="56839" y="0"/>
                  </a:cubicBezTo>
                  <a:close/>
                </a:path>
              </a:pathLst>
            </a:custGeom>
            <a:solidFill>
              <a:srgbClr val="FFFFFF"/>
            </a:solidFill>
            <a:ln w="28575" cap="rnd">
              <a:solidFill>
                <a:srgbClr val="000000"/>
              </a:solidFill>
              <a:prstDash val="solid"/>
              <a:round/>
            </a:ln>
          </p:spPr>
        </p:sp>
        <p:sp>
          <p:nvSpPr>
            <p:cNvPr id="4" name="TextBox 4"/>
            <p:cNvSpPr txBox="1"/>
            <p:nvPr/>
          </p:nvSpPr>
          <p:spPr>
            <a:xfrm>
              <a:off x="0" y="-28575"/>
              <a:ext cx="1434943" cy="1679261"/>
            </a:xfrm>
            <a:prstGeom prst="rect">
              <a:avLst/>
            </a:prstGeom>
          </p:spPr>
          <p:txBody>
            <a:bodyPr lIns="50800" tIns="50800" rIns="50800" bIns="50800" rtlCol="0" anchor="ctr"/>
            <a:lstStyle/>
            <a:p>
              <a:pPr marL="0" lvl="0" indent="0" algn="ctr">
                <a:lnSpc>
                  <a:spcPts val="2100"/>
                </a:lnSpc>
              </a:pPr>
              <a:endParaRPr/>
            </a:p>
          </p:txBody>
        </p:sp>
      </p:grpSp>
      <p:grpSp>
        <p:nvGrpSpPr>
          <p:cNvPr id="5" name="Group 5"/>
          <p:cNvGrpSpPr/>
          <p:nvPr/>
        </p:nvGrpSpPr>
        <p:grpSpPr>
          <a:xfrm>
            <a:off x="6419850" y="3352800"/>
            <a:ext cx="5448300" cy="6267450"/>
            <a:chOff x="0" y="0"/>
            <a:chExt cx="1434943" cy="1650686"/>
          </a:xfrm>
        </p:grpSpPr>
        <p:sp>
          <p:nvSpPr>
            <p:cNvPr id="6" name="Freeform 6"/>
            <p:cNvSpPr/>
            <p:nvPr/>
          </p:nvSpPr>
          <p:spPr>
            <a:xfrm>
              <a:off x="0" y="0"/>
              <a:ext cx="1434943" cy="1650686"/>
            </a:xfrm>
            <a:custGeom>
              <a:avLst/>
              <a:gdLst/>
              <a:ahLst/>
              <a:cxnLst/>
              <a:rect l="l" t="t" r="r" b="b"/>
              <a:pathLst>
                <a:path w="1434943" h="1650686">
                  <a:moveTo>
                    <a:pt x="56839" y="0"/>
                  </a:moveTo>
                  <a:lnTo>
                    <a:pt x="1378104" y="0"/>
                  </a:lnTo>
                  <a:cubicBezTo>
                    <a:pt x="1409495" y="0"/>
                    <a:pt x="1434943" y="25448"/>
                    <a:pt x="1434943" y="56839"/>
                  </a:cubicBezTo>
                  <a:lnTo>
                    <a:pt x="1434943" y="1593847"/>
                  </a:lnTo>
                  <a:cubicBezTo>
                    <a:pt x="1434943" y="1625239"/>
                    <a:pt x="1409495" y="1650686"/>
                    <a:pt x="1378104" y="1650686"/>
                  </a:cubicBezTo>
                  <a:lnTo>
                    <a:pt x="56839" y="1650686"/>
                  </a:lnTo>
                  <a:cubicBezTo>
                    <a:pt x="25448" y="1650686"/>
                    <a:pt x="0" y="1625239"/>
                    <a:pt x="0" y="1593847"/>
                  </a:cubicBezTo>
                  <a:lnTo>
                    <a:pt x="0" y="56839"/>
                  </a:lnTo>
                  <a:cubicBezTo>
                    <a:pt x="0" y="25448"/>
                    <a:pt x="25448" y="0"/>
                    <a:pt x="56839" y="0"/>
                  </a:cubicBezTo>
                  <a:close/>
                </a:path>
              </a:pathLst>
            </a:custGeom>
            <a:solidFill>
              <a:srgbClr val="FFFFFF"/>
            </a:solidFill>
            <a:ln w="28575" cap="rnd">
              <a:solidFill>
                <a:srgbClr val="000000"/>
              </a:solidFill>
              <a:prstDash val="solid"/>
              <a:round/>
            </a:ln>
          </p:spPr>
        </p:sp>
        <p:sp>
          <p:nvSpPr>
            <p:cNvPr id="7" name="TextBox 7"/>
            <p:cNvSpPr txBox="1"/>
            <p:nvPr/>
          </p:nvSpPr>
          <p:spPr>
            <a:xfrm>
              <a:off x="0" y="-28575"/>
              <a:ext cx="1434943" cy="1679261"/>
            </a:xfrm>
            <a:prstGeom prst="rect">
              <a:avLst/>
            </a:prstGeom>
          </p:spPr>
          <p:txBody>
            <a:bodyPr lIns="50800" tIns="50800" rIns="50800" bIns="50800" rtlCol="0" anchor="ctr"/>
            <a:lstStyle/>
            <a:p>
              <a:pPr marL="0" lvl="0" indent="0" algn="ctr">
                <a:lnSpc>
                  <a:spcPts val="2100"/>
                </a:lnSpc>
              </a:pPr>
              <a:endParaRPr/>
            </a:p>
          </p:txBody>
        </p:sp>
      </p:grpSp>
      <p:grpSp>
        <p:nvGrpSpPr>
          <p:cNvPr id="8" name="Group 8"/>
          <p:cNvGrpSpPr/>
          <p:nvPr/>
        </p:nvGrpSpPr>
        <p:grpSpPr>
          <a:xfrm>
            <a:off x="12172950" y="3352800"/>
            <a:ext cx="5448300" cy="6267450"/>
            <a:chOff x="0" y="0"/>
            <a:chExt cx="1434943" cy="1650686"/>
          </a:xfrm>
        </p:grpSpPr>
        <p:sp>
          <p:nvSpPr>
            <p:cNvPr id="9" name="Freeform 9"/>
            <p:cNvSpPr/>
            <p:nvPr/>
          </p:nvSpPr>
          <p:spPr>
            <a:xfrm>
              <a:off x="0" y="0"/>
              <a:ext cx="1434943" cy="1650686"/>
            </a:xfrm>
            <a:custGeom>
              <a:avLst/>
              <a:gdLst/>
              <a:ahLst/>
              <a:cxnLst/>
              <a:rect l="l" t="t" r="r" b="b"/>
              <a:pathLst>
                <a:path w="1434943" h="1650686">
                  <a:moveTo>
                    <a:pt x="56839" y="0"/>
                  </a:moveTo>
                  <a:lnTo>
                    <a:pt x="1378104" y="0"/>
                  </a:lnTo>
                  <a:cubicBezTo>
                    <a:pt x="1409495" y="0"/>
                    <a:pt x="1434943" y="25448"/>
                    <a:pt x="1434943" y="56839"/>
                  </a:cubicBezTo>
                  <a:lnTo>
                    <a:pt x="1434943" y="1593847"/>
                  </a:lnTo>
                  <a:cubicBezTo>
                    <a:pt x="1434943" y="1625239"/>
                    <a:pt x="1409495" y="1650686"/>
                    <a:pt x="1378104" y="1650686"/>
                  </a:cubicBezTo>
                  <a:lnTo>
                    <a:pt x="56839" y="1650686"/>
                  </a:lnTo>
                  <a:cubicBezTo>
                    <a:pt x="25448" y="1650686"/>
                    <a:pt x="0" y="1625239"/>
                    <a:pt x="0" y="1593847"/>
                  </a:cubicBezTo>
                  <a:lnTo>
                    <a:pt x="0" y="56839"/>
                  </a:lnTo>
                  <a:cubicBezTo>
                    <a:pt x="0" y="25448"/>
                    <a:pt x="25448" y="0"/>
                    <a:pt x="56839" y="0"/>
                  </a:cubicBezTo>
                  <a:close/>
                </a:path>
              </a:pathLst>
            </a:custGeom>
            <a:solidFill>
              <a:srgbClr val="FFFFFF"/>
            </a:solidFill>
            <a:ln w="28575" cap="rnd">
              <a:solidFill>
                <a:srgbClr val="000000"/>
              </a:solidFill>
              <a:prstDash val="solid"/>
              <a:round/>
            </a:ln>
          </p:spPr>
        </p:sp>
        <p:sp>
          <p:nvSpPr>
            <p:cNvPr id="10" name="TextBox 10"/>
            <p:cNvSpPr txBox="1"/>
            <p:nvPr/>
          </p:nvSpPr>
          <p:spPr>
            <a:xfrm>
              <a:off x="0" y="-28575"/>
              <a:ext cx="1434943" cy="1679261"/>
            </a:xfrm>
            <a:prstGeom prst="rect">
              <a:avLst/>
            </a:prstGeom>
          </p:spPr>
          <p:txBody>
            <a:bodyPr lIns="50800" tIns="50800" rIns="50800" bIns="50800" rtlCol="0" anchor="ctr"/>
            <a:lstStyle/>
            <a:p>
              <a:pPr marL="0" lvl="0" indent="0" algn="ctr">
                <a:lnSpc>
                  <a:spcPts val="2100"/>
                </a:lnSpc>
              </a:pPr>
              <a:endParaRPr/>
            </a:p>
          </p:txBody>
        </p:sp>
      </p:grpSp>
      <p:sp>
        <p:nvSpPr>
          <p:cNvPr id="11" name="TextBox 11"/>
          <p:cNvSpPr txBox="1"/>
          <p:nvPr/>
        </p:nvSpPr>
        <p:spPr>
          <a:xfrm>
            <a:off x="667589" y="838200"/>
            <a:ext cx="16952821" cy="1120774"/>
          </a:xfrm>
          <a:prstGeom prst="rect">
            <a:avLst/>
          </a:prstGeom>
        </p:spPr>
        <p:txBody>
          <a:bodyPr lIns="0" tIns="0" rIns="0" bIns="0" rtlCol="0" anchor="t">
            <a:spAutoFit/>
          </a:bodyPr>
          <a:lstStyle/>
          <a:p>
            <a:pPr marL="0" lvl="0" indent="0" algn="ctr">
              <a:lnSpc>
                <a:spcPts val="8499"/>
              </a:lnSpc>
              <a:spcBef>
                <a:spcPct val="0"/>
              </a:spcBef>
            </a:pPr>
            <a:r>
              <a:rPr lang="en-US" sz="8499" u="none" strike="noStrike" spc="-169">
                <a:solidFill>
                  <a:srgbClr val="497EA6"/>
                </a:solidFill>
                <a:latin typeface="Cooper BT Light"/>
                <a:ea typeface="Cooper BT Light"/>
                <a:cs typeface="Cooper BT Light"/>
                <a:sym typeface="Cooper BT Light"/>
              </a:rPr>
              <a:t>実装済み機能リスト</a:t>
            </a:r>
          </a:p>
        </p:txBody>
      </p:sp>
      <p:grpSp>
        <p:nvGrpSpPr>
          <p:cNvPr id="12" name="Group 12"/>
          <p:cNvGrpSpPr/>
          <p:nvPr/>
        </p:nvGrpSpPr>
        <p:grpSpPr>
          <a:xfrm>
            <a:off x="2105025" y="4248262"/>
            <a:ext cx="2571750" cy="3436434"/>
            <a:chOff x="0" y="0"/>
            <a:chExt cx="3429000" cy="4581912"/>
          </a:xfrm>
        </p:grpSpPr>
        <p:sp>
          <p:nvSpPr>
            <p:cNvPr id="13" name="TextBox 13"/>
            <p:cNvSpPr txBox="1"/>
            <p:nvPr/>
          </p:nvSpPr>
          <p:spPr>
            <a:xfrm>
              <a:off x="0" y="142875"/>
              <a:ext cx="3429000" cy="1474259"/>
            </a:xfrm>
            <a:prstGeom prst="rect">
              <a:avLst/>
            </a:prstGeom>
          </p:spPr>
          <p:txBody>
            <a:bodyPr lIns="0" tIns="0" rIns="0" bIns="0" rtlCol="0" anchor="t">
              <a:spAutoFit/>
            </a:bodyPr>
            <a:lstStyle/>
            <a:p>
              <a:pPr marL="0" lvl="0" indent="0" algn="l">
                <a:lnSpc>
                  <a:spcPts val="8000"/>
                </a:lnSpc>
                <a:spcBef>
                  <a:spcPct val="0"/>
                </a:spcBef>
              </a:pPr>
              <a:r>
                <a:rPr lang="en-US" sz="8000" u="none" strike="noStrike" spc="-160">
                  <a:solidFill>
                    <a:srgbClr val="497EA6"/>
                  </a:solidFill>
                  <a:latin typeface="Cooper BT Light"/>
                  <a:ea typeface="Cooper BT Light"/>
                  <a:cs typeface="Cooper BT Light"/>
                  <a:sym typeface="Cooper BT Light"/>
                </a:rPr>
                <a:t>01</a:t>
              </a:r>
            </a:p>
          </p:txBody>
        </p:sp>
        <p:sp>
          <p:nvSpPr>
            <p:cNvPr id="14" name="TextBox 14"/>
            <p:cNvSpPr txBox="1"/>
            <p:nvPr/>
          </p:nvSpPr>
          <p:spPr>
            <a:xfrm>
              <a:off x="0" y="1749326"/>
              <a:ext cx="3429000" cy="638175"/>
            </a:xfrm>
            <a:prstGeom prst="rect">
              <a:avLst/>
            </a:prstGeom>
          </p:spPr>
          <p:txBody>
            <a:bodyPr lIns="0" tIns="0" rIns="0" bIns="0" rtlCol="0" anchor="t">
              <a:spAutoFit/>
            </a:bodyPr>
            <a:lstStyle/>
            <a:p>
              <a:pPr marL="0" lvl="0" indent="0" algn="l">
                <a:lnSpc>
                  <a:spcPts val="3900"/>
                </a:lnSpc>
              </a:pPr>
              <a:r>
                <a:rPr lang="en-US" sz="3000">
                  <a:solidFill>
                    <a:srgbClr val="27496D"/>
                  </a:solidFill>
                  <a:latin typeface="Cooper BT Light"/>
                  <a:ea typeface="Cooper BT Light"/>
                  <a:cs typeface="Cooper BT Light"/>
                  <a:sym typeface="Cooper BT Light"/>
                </a:rPr>
                <a:t>ログイン機能</a:t>
              </a:r>
            </a:p>
          </p:txBody>
        </p:sp>
        <p:sp>
          <p:nvSpPr>
            <p:cNvPr id="15" name="TextBox 15"/>
            <p:cNvSpPr txBox="1"/>
            <p:nvPr/>
          </p:nvSpPr>
          <p:spPr>
            <a:xfrm>
              <a:off x="0" y="3543052"/>
              <a:ext cx="3429000" cy="1038860"/>
            </a:xfrm>
            <a:prstGeom prst="rect">
              <a:avLst/>
            </a:prstGeom>
          </p:spPr>
          <p:txBody>
            <a:bodyPr lIns="0" tIns="0" rIns="0" bIns="0" rtlCol="0" anchor="t">
              <a:spAutoFit/>
            </a:bodyPr>
            <a:lstStyle/>
            <a:p>
              <a:pPr marL="0" lvl="0" indent="0" algn="l">
                <a:lnSpc>
                  <a:spcPts val="3120"/>
                </a:lnSpc>
                <a:spcBef>
                  <a:spcPct val="0"/>
                </a:spcBef>
              </a:pPr>
              <a:r>
                <a:rPr lang="en-US" sz="2400" u="none" strike="noStrike" spc="-48">
                  <a:solidFill>
                    <a:srgbClr val="27496D"/>
                  </a:solidFill>
                  <a:latin typeface="TT Interphases"/>
                  <a:ea typeface="TT Interphases"/>
                  <a:cs typeface="TT Interphases"/>
                  <a:sym typeface="TT Interphases"/>
                </a:rPr>
                <a:t>ユーザー認証の実装済み</a:t>
              </a:r>
            </a:p>
          </p:txBody>
        </p:sp>
      </p:grpSp>
      <p:grpSp>
        <p:nvGrpSpPr>
          <p:cNvPr id="16" name="Group 16"/>
          <p:cNvGrpSpPr/>
          <p:nvPr/>
        </p:nvGrpSpPr>
        <p:grpSpPr>
          <a:xfrm>
            <a:off x="7858125" y="4248150"/>
            <a:ext cx="2571750" cy="3436471"/>
            <a:chOff x="0" y="0"/>
            <a:chExt cx="3429000" cy="4581962"/>
          </a:xfrm>
        </p:grpSpPr>
        <p:sp>
          <p:nvSpPr>
            <p:cNvPr id="17" name="TextBox 17"/>
            <p:cNvSpPr txBox="1"/>
            <p:nvPr/>
          </p:nvSpPr>
          <p:spPr>
            <a:xfrm>
              <a:off x="0" y="142875"/>
              <a:ext cx="3429000" cy="1474259"/>
            </a:xfrm>
            <a:prstGeom prst="rect">
              <a:avLst/>
            </a:prstGeom>
          </p:spPr>
          <p:txBody>
            <a:bodyPr lIns="0" tIns="0" rIns="0" bIns="0" rtlCol="0" anchor="t">
              <a:spAutoFit/>
            </a:bodyPr>
            <a:lstStyle/>
            <a:p>
              <a:pPr marL="0" lvl="0" indent="0" algn="l">
                <a:lnSpc>
                  <a:spcPts val="8000"/>
                </a:lnSpc>
                <a:spcBef>
                  <a:spcPct val="0"/>
                </a:spcBef>
              </a:pPr>
              <a:r>
                <a:rPr lang="en-US" sz="8000" u="none" strike="noStrike" spc="-160">
                  <a:solidFill>
                    <a:srgbClr val="497EA6"/>
                  </a:solidFill>
                  <a:latin typeface="Cooper BT Light"/>
                  <a:ea typeface="Cooper BT Light"/>
                  <a:cs typeface="Cooper BT Light"/>
                  <a:sym typeface="Cooper BT Light"/>
                </a:rPr>
                <a:t>02</a:t>
              </a:r>
            </a:p>
          </p:txBody>
        </p:sp>
        <p:sp>
          <p:nvSpPr>
            <p:cNvPr id="18" name="TextBox 18"/>
            <p:cNvSpPr txBox="1"/>
            <p:nvPr/>
          </p:nvSpPr>
          <p:spPr>
            <a:xfrm>
              <a:off x="0" y="1749326"/>
              <a:ext cx="3429000" cy="638175"/>
            </a:xfrm>
            <a:prstGeom prst="rect">
              <a:avLst/>
            </a:prstGeom>
          </p:spPr>
          <p:txBody>
            <a:bodyPr lIns="0" tIns="0" rIns="0" bIns="0" rtlCol="0" anchor="t">
              <a:spAutoFit/>
            </a:bodyPr>
            <a:lstStyle/>
            <a:p>
              <a:pPr marL="0" lvl="0" indent="0" algn="l">
                <a:lnSpc>
                  <a:spcPts val="3900"/>
                </a:lnSpc>
                <a:spcBef>
                  <a:spcPct val="0"/>
                </a:spcBef>
              </a:pPr>
              <a:r>
                <a:rPr lang="en-US" sz="3000" u="none" strike="noStrike">
                  <a:solidFill>
                    <a:srgbClr val="27496D"/>
                  </a:solidFill>
                  <a:latin typeface="Cooper BT Light"/>
                  <a:ea typeface="Cooper BT Light"/>
                  <a:cs typeface="Cooper BT Light"/>
                  <a:sym typeface="Cooper BT Light"/>
                </a:rPr>
                <a:t>ユーザー作成</a:t>
              </a:r>
            </a:p>
          </p:txBody>
        </p:sp>
        <p:sp>
          <p:nvSpPr>
            <p:cNvPr id="19" name="TextBox 19"/>
            <p:cNvSpPr txBox="1"/>
            <p:nvPr/>
          </p:nvSpPr>
          <p:spPr>
            <a:xfrm>
              <a:off x="0" y="3543102"/>
              <a:ext cx="3429000" cy="1038860"/>
            </a:xfrm>
            <a:prstGeom prst="rect">
              <a:avLst/>
            </a:prstGeom>
          </p:spPr>
          <p:txBody>
            <a:bodyPr lIns="0" tIns="0" rIns="0" bIns="0" rtlCol="0" anchor="t">
              <a:spAutoFit/>
            </a:bodyPr>
            <a:lstStyle/>
            <a:p>
              <a:pPr marL="0" lvl="0" indent="0" algn="l">
                <a:lnSpc>
                  <a:spcPts val="3120"/>
                </a:lnSpc>
                <a:spcBef>
                  <a:spcPct val="0"/>
                </a:spcBef>
              </a:pPr>
              <a:r>
                <a:rPr lang="en-US" sz="2400" u="none" strike="noStrike" spc="-48">
                  <a:solidFill>
                    <a:srgbClr val="27496D"/>
                  </a:solidFill>
                  <a:latin typeface="TT Interphases"/>
                  <a:ea typeface="TT Interphases"/>
                  <a:cs typeface="TT Interphases"/>
                  <a:sym typeface="TT Interphases"/>
                </a:rPr>
                <a:t>新規アカウント作成が可能</a:t>
              </a:r>
            </a:p>
          </p:txBody>
        </p:sp>
      </p:grpSp>
      <p:grpSp>
        <p:nvGrpSpPr>
          <p:cNvPr id="20" name="Group 20"/>
          <p:cNvGrpSpPr/>
          <p:nvPr/>
        </p:nvGrpSpPr>
        <p:grpSpPr>
          <a:xfrm>
            <a:off x="13611225" y="4248150"/>
            <a:ext cx="2571750" cy="3436620"/>
            <a:chOff x="0" y="0"/>
            <a:chExt cx="3429000" cy="4582160"/>
          </a:xfrm>
        </p:grpSpPr>
        <p:sp>
          <p:nvSpPr>
            <p:cNvPr id="21" name="TextBox 21"/>
            <p:cNvSpPr txBox="1"/>
            <p:nvPr/>
          </p:nvSpPr>
          <p:spPr>
            <a:xfrm>
              <a:off x="0" y="142875"/>
              <a:ext cx="3429000" cy="1474259"/>
            </a:xfrm>
            <a:prstGeom prst="rect">
              <a:avLst/>
            </a:prstGeom>
          </p:spPr>
          <p:txBody>
            <a:bodyPr lIns="0" tIns="0" rIns="0" bIns="0" rtlCol="0" anchor="t">
              <a:spAutoFit/>
            </a:bodyPr>
            <a:lstStyle/>
            <a:p>
              <a:pPr marL="0" lvl="0" indent="0" algn="l">
                <a:lnSpc>
                  <a:spcPts val="8000"/>
                </a:lnSpc>
                <a:spcBef>
                  <a:spcPct val="0"/>
                </a:spcBef>
              </a:pPr>
              <a:r>
                <a:rPr lang="en-US" sz="8000" u="none" strike="noStrike" spc="-160">
                  <a:solidFill>
                    <a:srgbClr val="497EA6"/>
                  </a:solidFill>
                  <a:latin typeface="Cooper BT Light"/>
                  <a:ea typeface="Cooper BT Light"/>
                  <a:cs typeface="Cooper BT Light"/>
                  <a:sym typeface="Cooper BT Light"/>
                </a:rPr>
                <a:t>03</a:t>
              </a:r>
            </a:p>
          </p:txBody>
        </p:sp>
        <p:sp>
          <p:nvSpPr>
            <p:cNvPr id="22" name="TextBox 22"/>
            <p:cNvSpPr txBox="1"/>
            <p:nvPr/>
          </p:nvSpPr>
          <p:spPr>
            <a:xfrm>
              <a:off x="0" y="1749326"/>
              <a:ext cx="3429000" cy="638175"/>
            </a:xfrm>
            <a:prstGeom prst="rect">
              <a:avLst/>
            </a:prstGeom>
          </p:spPr>
          <p:txBody>
            <a:bodyPr lIns="0" tIns="0" rIns="0" bIns="0" rtlCol="0" anchor="t">
              <a:spAutoFit/>
            </a:bodyPr>
            <a:lstStyle/>
            <a:p>
              <a:pPr marL="0" lvl="0" indent="0" algn="l">
                <a:lnSpc>
                  <a:spcPts val="3900"/>
                </a:lnSpc>
                <a:spcBef>
                  <a:spcPct val="0"/>
                </a:spcBef>
              </a:pPr>
              <a:r>
                <a:rPr lang="en-US" sz="3000" u="none" strike="noStrike">
                  <a:solidFill>
                    <a:srgbClr val="27496D"/>
                  </a:solidFill>
                  <a:latin typeface="Cooper BT Light"/>
                  <a:ea typeface="Cooper BT Light"/>
                  <a:cs typeface="Cooper BT Light"/>
                  <a:sym typeface="Cooper BT Light"/>
                </a:rPr>
                <a:t>アプリ連結</a:t>
              </a:r>
            </a:p>
          </p:txBody>
        </p:sp>
        <p:sp>
          <p:nvSpPr>
            <p:cNvPr id="23" name="TextBox 23"/>
            <p:cNvSpPr txBox="1"/>
            <p:nvPr/>
          </p:nvSpPr>
          <p:spPr>
            <a:xfrm>
              <a:off x="0" y="3543300"/>
              <a:ext cx="3429000" cy="1038860"/>
            </a:xfrm>
            <a:prstGeom prst="rect">
              <a:avLst/>
            </a:prstGeom>
          </p:spPr>
          <p:txBody>
            <a:bodyPr lIns="0" tIns="0" rIns="0" bIns="0" rtlCol="0" anchor="t">
              <a:spAutoFit/>
            </a:bodyPr>
            <a:lstStyle/>
            <a:p>
              <a:pPr marL="0" lvl="0" indent="0" algn="l">
                <a:lnSpc>
                  <a:spcPts val="3120"/>
                </a:lnSpc>
                <a:spcBef>
                  <a:spcPct val="0"/>
                </a:spcBef>
              </a:pPr>
              <a:r>
                <a:rPr lang="en-US" sz="2400" u="none" strike="noStrike" spc="-48">
                  <a:solidFill>
                    <a:srgbClr val="27496D"/>
                  </a:solidFill>
                  <a:latin typeface="TT Interphases"/>
                  <a:ea typeface="TT Interphases"/>
                  <a:cs typeface="TT Interphases"/>
                  <a:sym typeface="TT Interphases"/>
                </a:rPr>
                <a:t>他アプリとの接続が実現</a:t>
              </a:r>
            </a:p>
          </p:txBody>
        </p:sp>
      </p:gr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9296400" y="3352800"/>
            <a:ext cx="8324850" cy="4217670"/>
            <a:chOff x="0" y="0"/>
            <a:chExt cx="11099800" cy="5623560"/>
          </a:xfrm>
        </p:grpSpPr>
        <p:sp>
          <p:nvSpPr>
            <p:cNvPr id="3" name="TextBox 3"/>
            <p:cNvSpPr txBox="1"/>
            <p:nvPr/>
          </p:nvSpPr>
          <p:spPr>
            <a:xfrm>
              <a:off x="0" y="3543300"/>
              <a:ext cx="11099800" cy="2080260"/>
            </a:xfrm>
            <a:prstGeom prst="rect">
              <a:avLst/>
            </a:prstGeom>
          </p:spPr>
          <p:txBody>
            <a:bodyPr lIns="0" tIns="0" rIns="0" bIns="0" rtlCol="0" anchor="t">
              <a:spAutoFit/>
            </a:bodyPr>
            <a:lstStyle/>
            <a:p>
              <a:pPr marL="0" lvl="0" indent="0" algn="l">
                <a:lnSpc>
                  <a:spcPts val="3120"/>
                </a:lnSpc>
              </a:pPr>
              <a:r>
                <a:rPr lang="en-US" sz="2400" u="none" strike="noStrike" spc="-48">
                  <a:solidFill>
                    <a:srgbClr val="27496D"/>
                  </a:solidFill>
                  <a:latin typeface="TT Interphases"/>
                  <a:ea typeface="TT Interphases"/>
                  <a:cs typeface="TT Interphases"/>
                  <a:sym typeface="TT Interphases"/>
                </a:rPr>
                <a:t>UI画面のスクリーンショットでは、ユーザーが直感的に操作できるようデザインされたインターフェースを示しています。進捗状況を可視化するため、重要な機能が搭載されています。</a:t>
              </a:r>
            </a:p>
          </p:txBody>
        </p:sp>
        <p:sp>
          <p:nvSpPr>
            <p:cNvPr id="4" name="TextBox 4"/>
            <p:cNvSpPr txBox="1"/>
            <p:nvPr/>
          </p:nvSpPr>
          <p:spPr>
            <a:xfrm>
              <a:off x="0" y="180975"/>
              <a:ext cx="11099800" cy="3341159"/>
            </a:xfrm>
            <a:prstGeom prst="rect">
              <a:avLst/>
            </a:prstGeom>
          </p:spPr>
          <p:txBody>
            <a:bodyPr lIns="0" tIns="0" rIns="0" bIns="0" rtlCol="0" anchor="t">
              <a:spAutoFit/>
            </a:bodyPr>
            <a:lstStyle/>
            <a:p>
              <a:pPr marL="0" lvl="0" indent="0" algn="l">
                <a:lnSpc>
                  <a:spcPts val="9500"/>
                </a:lnSpc>
                <a:spcBef>
                  <a:spcPct val="0"/>
                </a:spcBef>
              </a:pPr>
              <a:r>
                <a:rPr lang="en-US" sz="9500" u="none" strike="noStrike" spc="-190">
                  <a:solidFill>
                    <a:srgbClr val="497EA6"/>
                  </a:solidFill>
                  <a:latin typeface="Cooper BT Light"/>
                  <a:ea typeface="Cooper BT Light"/>
                  <a:cs typeface="Cooper BT Light"/>
                  <a:sym typeface="Cooper BT Light"/>
                </a:rPr>
                <a:t>フロントエンド進捗報告</a:t>
              </a:r>
            </a:p>
          </p:txBody>
        </p:sp>
      </p:grpSp>
      <p:grpSp>
        <p:nvGrpSpPr>
          <p:cNvPr id="5" name="Group 5"/>
          <p:cNvGrpSpPr/>
          <p:nvPr/>
        </p:nvGrpSpPr>
        <p:grpSpPr>
          <a:xfrm>
            <a:off x="0" y="0"/>
            <a:ext cx="8267700" cy="10287000"/>
            <a:chOff x="0" y="0"/>
            <a:chExt cx="2177501" cy="2709333"/>
          </a:xfrm>
        </p:grpSpPr>
        <p:sp>
          <p:nvSpPr>
            <p:cNvPr id="6" name="Freeform 6"/>
            <p:cNvSpPr/>
            <p:nvPr/>
          </p:nvSpPr>
          <p:spPr>
            <a:xfrm>
              <a:off x="0" y="0"/>
              <a:ext cx="2177501" cy="2709333"/>
            </a:xfrm>
            <a:custGeom>
              <a:avLst/>
              <a:gdLst/>
              <a:ahLst/>
              <a:cxnLst/>
              <a:rect l="l" t="t" r="r" b="b"/>
              <a:pathLst>
                <a:path w="2177501" h="2709333">
                  <a:moveTo>
                    <a:pt x="0" y="0"/>
                  </a:moveTo>
                  <a:lnTo>
                    <a:pt x="2177501" y="0"/>
                  </a:lnTo>
                  <a:lnTo>
                    <a:pt x="2177501" y="2709333"/>
                  </a:lnTo>
                  <a:lnTo>
                    <a:pt x="0" y="2709333"/>
                  </a:lnTo>
                  <a:close/>
                </a:path>
              </a:pathLst>
            </a:custGeom>
            <a:solidFill>
              <a:srgbClr val="497EA6"/>
            </a:solidFill>
          </p:spPr>
        </p:sp>
        <p:sp>
          <p:nvSpPr>
            <p:cNvPr id="7" name="TextBox 7"/>
            <p:cNvSpPr txBox="1"/>
            <p:nvPr/>
          </p:nvSpPr>
          <p:spPr>
            <a:xfrm>
              <a:off x="0" y="-28575"/>
              <a:ext cx="2177501" cy="2737908"/>
            </a:xfrm>
            <a:prstGeom prst="rect">
              <a:avLst/>
            </a:prstGeom>
          </p:spPr>
          <p:txBody>
            <a:bodyPr lIns="50800" tIns="50800" rIns="50800" bIns="50800" rtlCol="0" anchor="ctr"/>
            <a:lstStyle/>
            <a:p>
              <a:pPr marL="0" lvl="0" indent="0" algn="ctr">
                <a:lnSpc>
                  <a:spcPts val="2100"/>
                </a:lnSpc>
              </a:pPr>
              <a:endParaRPr/>
            </a:p>
          </p:txBody>
        </p:sp>
      </p:grpSp>
      <p:grpSp>
        <p:nvGrpSpPr>
          <p:cNvPr id="8" name="Group 8"/>
          <p:cNvGrpSpPr/>
          <p:nvPr/>
        </p:nvGrpSpPr>
        <p:grpSpPr>
          <a:xfrm>
            <a:off x="666750" y="666750"/>
            <a:ext cx="6886575" cy="8953500"/>
            <a:chOff x="0" y="0"/>
            <a:chExt cx="812800" cy="1056752"/>
          </a:xfrm>
        </p:grpSpPr>
        <p:sp>
          <p:nvSpPr>
            <p:cNvPr id="9" name="Freeform 9"/>
            <p:cNvSpPr/>
            <p:nvPr/>
          </p:nvSpPr>
          <p:spPr>
            <a:xfrm>
              <a:off x="0" y="0"/>
              <a:ext cx="812800" cy="1056752"/>
            </a:xfrm>
            <a:custGeom>
              <a:avLst/>
              <a:gdLst/>
              <a:ahLst/>
              <a:cxnLst/>
              <a:rect l="l" t="t" r="r" b="b"/>
              <a:pathLst>
                <a:path w="812800" h="1056752">
                  <a:moveTo>
                    <a:pt x="44968" y="0"/>
                  </a:moveTo>
                  <a:lnTo>
                    <a:pt x="767832" y="0"/>
                  </a:lnTo>
                  <a:cubicBezTo>
                    <a:pt x="779758" y="0"/>
                    <a:pt x="791196" y="4738"/>
                    <a:pt x="799629" y="13171"/>
                  </a:cubicBezTo>
                  <a:cubicBezTo>
                    <a:pt x="808062" y="21604"/>
                    <a:pt x="812800" y="33042"/>
                    <a:pt x="812800" y="44968"/>
                  </a:cubicBezTo>
                  <a:lnTo>
                    <a:pt x="812800" y="1011784"/>
                  </a:lnTo>
                  <a:cubicBezTo>
                    <a:pt x="812800" y="1023711"/>
                    <a:pt x="808062" y="1035148"/>
                    <a:pt x="799629" y="1043582"/>
                  </a:cubicBezTo>
                  <a:cubicBezTo>
                    <a:pt x="791196" y="1052015"/>
                    <a:pt x="779758" y="1056752"/>
                    <a:pt x="767832" y="1056752"/>
                  </a:cubicBezTo>
                  <a:lnTo>
                    <a:pt x="44968" y="1056752"/>
                  </a:lnTo>
                  <a:cubicBezTo>
                    <a:pt x="33042" y="1056752"/>
                    <a:pt x="21604" y="1052015"/>
                    <a:pt x="13171" y="1043582"/>
                  </a:cubicBezTo>
                  <a:cubicBezTo>
                    <a:pt x="4738" y="1035148"/>
                    <a:pt x="0" y="1023711"/>
                    <a:pt x="0" y="1011784"/>
                  </a:cubicBezTo>
                  <a:lnTo>
                    <a:pt x="0" y="44968"/>
                  </a:lnTo>
                  <a:cubicBezTo>
                    <a:pt x="0" y="33042"/>
                    <a:pt x="4738" y="21604"/>
                    <a:pt x="13171" y="13171"/>
                  </a:cubicBezTo>
                  <a:cubicBezTo>
                    <a:pt x="21604" y="4738"/>
                    <a:pt x="33042" y="0"/>
                    <a:pt x="44968" y="0"/>
                  </a:cubicBezTo>
                  <a:close/>
                </a:path>
              </a:pathLst>
            </a:custGeom>
            <a:blipFill>
              <a:blip r:embed="rId2"/>
              <a:stretch>
                <a:fillRect t="-271" b="-271"/>
              </a:stretch>
            </a:blipFill>
          </p:spPr>
        </p:sp>
      </p:grpSp>
      <p:sp>
        <p:nvSpPr>
          <p:cNvPr id="10" name="Freeform 10"/>
          <p:cNvSpPr/>
          <p:nvPr/>
        </p:nvSpPr>
        <p:spPr>
          <a:xfrm rot="-10800000">
            <a:off x="6115050" y="8971632"/>
            <a:ext cx="1438275" cy="1315368"/>
          </a:xfrm>
          <a:custGeom>
            <a:avLst/>
            <a:gdLst/>
            <a:ahLst/>
            <a:cxnLst/>
            <a:rect l="l" t="t" r="r" b="b"/>
            <a:pathLst>
              <a:path w="1438275" h="1315368">
                <a:moveTo>
                  <a:pt x="0" y="0"/>
                </a:moveTo>
                <a:lnTo>
                  <a:pt x="1438275" y="0"/>
                </a:lnTo>
                <a:lnTo>
                  <a:pt x="1438275" y="1315368"/>
                </a:lnTo>
                <a:lnTo>
                  <a:pt x="0" y="1315368"/>
                </a:lnTo>
                <a:lnTo>
                  <a:pt x="0" y="0"/>
                </a:lnTo>
                <a:close/>
              </a:path>
            </a:pathLst>
          </a:custGeom>
          <a:blipFill>
            <a:blip r:embed="rId3">
              <a:extLst>
                <a:ext uri="{96DAC541-7B7A-43D3-8B79-37D633B846F1}">
                  <asvg:svgBlip xmlns:asvg="http://schemas.microsoft.com/office/drawing/2016/SVG/main" r:embed="rId4"/>
                </a:ext>
              </a:extLst>
            </a:blip>
            <a:stretch>
              <a:fillRect/>
            </a:stretch>
          </a:blipFill>
          <a:ln cap="sq">
            <a:noFill/>
            <a:prstDash val="solid"/>
            <a:miter/>
          </a:ln>
        </p:spPr>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E5F1FB"/>
        </a:solidFill>
        <a:effectLst/>
      </p:bgPr>
    </p:bg>
    <p:spTree>
      <p:nvGrpSpPr>
        <p:cNvPr id="1" name=""/>
        <p:cNvGrpSpPr/>
        <p:nvPr/>
      </p:nvGrpSpPr>
      <p:grpSpPr>
        <a:xfrm>
          <a:off x="0" y="0"/>
          <a:ext cx="0" cy="0"/>
          <a:chOff x="0" y="0"/>
          <a:chExt cx="0" cy="0"/>
        </a:xfrm>
      </p:grpSpPr>
      <p:sp>
        <p:nvSpPr>
          <p:cNvPr id="2" name="TextBox 2"/>
          <p:cNvSpPr txBox="1"/>
          <p:nvPr/>
        </p:nvSpPr>
        <p:spPr>
          <a:xfrm>
            <a:off x="9296400" y="5143500"/>
            <a:ext cx="5448300" cy="1457325"/>
          </a:xfrm>
          <a:prstGeom prst="rect">
            <a:avLst/>
          </a:prstGeom>
        </p:spPr>
        <p:txBody>
          <a:bodyPr lIns="0" tIns="0" rIns="0" bIns="0" rtlCol="0" anchor="t">
            <a:spAutoFit/>
          </a:bodyPr>
          <a:lstStyle/>
          <a:p>
            <a:pPr marL="0" lvl="0" indent="0" algn="just">
              <a:lnSpc>
                <a:spcPts val="11519"/>
              </a:lnSpc>
            </a:pPr>
            <a:r>
              <a:rPr lang="en-US" sz="9600" spc="-480">
                <a:solidFill>
                  <a:srgbClr val="497EA6"/>
                </a:solidFill>
                <a:latin typeface="Cooper BT Light"/>
                <a:ea typeface="Cooper BT Light"/>
                <a:cs typeface="Cooper BT Light"/>
                <a:sym typeface="Cooper BT Light"/>
              </a:rPr>
              <a:t>50%</a:t>
            </a:r>
          </a:p>
        </p:txBody>
      </p:sp>
      <p:sp>
        <p:nvSpPr>
          <p:cNvPr id="3" name="TextBox 3"/>
          <p:cNvSpPr txBox="1"/>
          <p:nvPr/>
        </p:nvSpPr>
        <p:spPr>
          <a:xfrm>
            <a:off x="2105025" y="5143500"/>
            <a:ext cx="5448300" cy="1457325"/>
          </a:xfrm>
          <a:prstGeom prst="rect">
            <a:avLst/>
          </a:prstGeom>
        </p:spPr>
        <p:txBody>
          <a:bodyPr lIns="0" tIns="0" rIns="0" bIns="0" rtlCol="0" anchor="t">
            <a:spAutoFit/>
          </a:bodyPr>
          <a:lstStyle/>
          <a:p>
            <a:pPr marL="0" lvl="0" indent="0" algn="l">
              <a:lnSpc>
                <a:spcPts val="11519"/>
              </a:lnSpc>
            </a:pPr>
            <a:r>
              <a:rPr lang="en-US" sz="9600" spc="-480">
                <a:solidFill>
                  <a:srgbClr val="497EA6"/>
                </a:solidFill>
                <a:latin typeface="Cooper BT Light"/>
                <a:ea typeface="Cooper BT Light"/>
                <a:cs typeface="Cooper BT Light"/>
                <a:sym typeface="Cooper BT Light"/>
              </a:rPr>
              <a:t>75%</a:t>
            </a:r>
          </a:p>
        </p:txBody>
      </p:sp>
      <p:grpSp>
        <p:nvGrpSpPr>
          <p:cNvPr id="4" name="Group 4"/>
          <p:cNvGrpSpPr/>
          <p:nvPr/>
        </p:nvGrpSpPr>
        <p:grpSpPr>
          <a:xfrm>
            <a:off x="666750" y="666750"/>
            <a:ext cx="14077950" cy="3046149"/>
            <a:chOff x="0" y="0"/>
            <a:chExt cx="18770600" cy="4061532"/>
          </a:xfrm>
        </p:grpSpPr>
        <p:sp>
          <p:nvSpPr>
            <p:cNvPr id="5" name="TextBox 5"/>
            <p:cNvSpPr txBox="1"/>
            <p:nvPr/>
          </p:nvSpPr>
          <p:spPr>
            <a:xfrm>
              <a:off x="0" y="171450"/>
              <a:ext cx="18770600" cy="2986616"/>
            </a:xfrm>
            <a:prstGeom prst="rect">
              <a:avLst/>
            </a:prstGeom>
          </p:spPr>
          <p:txBody>
            <a:bodyPr lIns="0" tIns="0" rIns="0" bIns="0" rtlCol="0" anchor="t">
              <a:spAutoFit/>
            </a:bodyPr>
            <a:lstStyle/>
            <a:p>
              <a:pPr marL="0" lvl="0" indent="0" algn="l">
                <a:lnSpc>
                  <a:spcPts val="8499"/>
                </a:lnSpc>
                <a:spcBef>
                  <a:spcPct val="0"/>
                </a:spcBef>
              </a:pPr>
              <a:r>
                <a:rPr lang="en-US" sz="8499" u="none" strike="noStrike" spc="-169">
                  <a:solidFill>
                    <a:srgbClr val="497EA6"/>
                  </a:solidFill>
                  <a:latin typeface="Cooper BT Light"/>
                  <a:ea typeface="Cooper BT Light"/>
                  <a:cs typeface="Cooper BT Light"/>
                  <a:sym typeface="Cooper BT Light"/>
                </a:rPr>
                <a:t>フロントエンド構築の進捗報告</a:t>
              </a:r>
            </a:p>
          </p:txBody>
        </p:sp>
        <p:sp>
          <p:nvSpPr>
            <p:cNvPr id="6" name="TextBox 6"/>
            <p:cNvSpPr txBox="1"/>
            <p:nvPr/>
          </p:nvSpPr>
          <p:spPr>
            <a:xfrm>
              <a:off x="0" y="3543372"/>
              <a:ext cx="18770600" cy="518160"/>
            </a:xfrm>
            <a:prstGeom prst="rect">
              <a:avLst/>
            </a:prstGeom>
          </p:spPr>
          <p:txBody>
            <a:bodyPr lIns="0" tIns="0" rIns="0" bIns="0" rtlCol="0" anchor="t">
              <a:spAutoFit/>
            </a:bodyPr>
            <a:lstStyle/>
            <a:p>
              <a:pPr marL="0" lvl="0" indent="0" algn="l">
                <a:lnSpc>
                  <a:spcPts val="3120"/>
                </a:lnSpc>
                <a:spcBef>
                  <a:spcPct val="0"/>
                </a:spcBef>
              </a:pPr>
              <a:r>
                <a:rPr lang="en-US" sz="2400" b="1" u="none" strike="noStrike" spc="-48">
                  <a:solidFill>
                    <a:srgbClr val="27496D"/>
                  </a:solidFill>
                  <a:latin typeface="TT Interphases Bold"/>
                  <a:ea typeface="TT Interphases Bold"/>
                  <a:cs typeface="TT Interphases Bold"/>
                  <a:sym typeface="TT Interphases Bold"/>
                </a:rPr>
                <a:t>現在の実装状況を示します</a:t>
              </a:r>
            </a:p>
          </p:txBody>
        </p:sp>
      </p:grpSp>
      <p:grpSp>
        <p:nvGrpSpPr>
          <p:cNvPr id="7" name="Group 7"/>
          <p:cNvGrpSpPr/>
          <p:nvPr/>
        </p:nvGrpSpPr>
        <p:grpSpPr>
          <a:xfrm>
            <a:off x="2105025" y="7829550"/>
            <a:ext cx="6886575" cy="1031014"/>
            <a:chOff x="0" y="0"/>
            <a:chExt cx="9182100" cy="1374685"/>
          </a:xfrm>
        </p:grpSpPr>
        <p:sp>
          <p:nvSpPr>
            <p:cNvPr id="8" name="TextBox 8"/>
            <p:cNvSpPr txBox="1"/>
            <p:nvPr/>
          </p:nvSpPr>
          <p:spPr>
            <a:xfrm>
              <a:off x="0" y="-28575"/>
              <a:ext cx="9182100" cy="638175"/>
            </a:xfrm>
            <a:prstGeom prst="rect">
              <a:avLst/>
            </a:prstGeom>
          </p:spPr>
          <p:txBody>
            <a:bodyPr lIns="0" tIns="0" rIns="0" bIns="0" rtlCol="0" anchor="t">
              <a:spAutoFit/>
            </a:bodyPr>
            <a:lstStyle/>
            <a:p>
              <a:pPr marL="0" lvl="0" indent="0" algn="l">
                <a:lnSpc>
                  <a:spcPts val="3900"/>
                </a:lnSpc>
                <a:spcBef>
                  <a:spcPct val="0"/>
                </a:spcBef>
              </a:pPr>
              <a:r>
                <a:rPr lang="en-US" sz="3000" u="none" strike="noStrike">
                  <a:solidFill>
                    <a:srgbClr val="27496D"/>
                  </a:solidFill>
                  <a:latin typeface="Cooper BT Medium"/>
                  <a:ea typeface="Cooper BT Medium"/>
                  <a:cs typeface="Cooper BT Medium"/>
                  <a:sym typeface="Cooper BT Medium"/>
                </a:rPr>
                <a:t>実装済み機能の進捗</a:t>
              </a:r>
            </a:p>
          </p:txBody>
        </p:sp>
        <p:sp>
          <p:nvSpPr>
            <p:cNvPr id="9" name="TextBox 9"/>
            <p:cNvSpPr txBox="1"/>
            <p:nvPr/>
          </p:nvSpPr>
          <p:spPr>
            <a:xfrm>
              <a:off x="0" y="854346"/>
              <a:ext cx="9182100" cy="520339"/>
            </a:xfrm>
            <a:prstGeom prst="rect">
              <a:avLst/>
            </a:prstGeom>
          </p:spPr>
          <p:txBody>
            <a:bodyPr lIns="0" tIns="0" rIns="0" bIns="0" rtlCol="0" anchor="t">
              <a:spAutoFit/>
            </a:bodyPr>
            <a:lstStyle/>
            <a:p>
              <a:pPr marL="0" lvl="0" indent="0" algn="l">
                <a:lnSpc>
                  <a:spcPts val="3119"/>
                </a:lnSpc>
                <a:spcBef>
                  <a:spcPct val="0"/>
                </a:spcBef>
              </a:pPr>
              <a:r>
                <a:rPr lang="en-US" sz="2399" u="none" strike="noStrike" spc="-47">
                  <a:solidFill>
                    <a:srgbClr val="27496D"/>
                  </a:solidFill>
                  <a:latin typeface="TT Interphases"/>
                  <a:ea typeface="TT Interphases"/>
                  <a:cs typeface="TT Interphases"/>
                  <a:sym typeface="TT Interphases"/>
                </a:rPr>
                <a:t>主要機能が75%完了しています</a:t>
              </a:r>
            </a:p>
          </p:txBody>
        </p:sp>
      </p:grpSp>
      <p:grpSp>
        <p:nvGrpSpPr>
          <p:cNvPr id="10" name="Group 10"/>
          <p:cNvGrpSpPr/>
          <p:nvPr/>
        </p:nvGrpSpPr>
        <p:grpSpPr>
          <a:xfrm>
            <a:off x="9296400" y="7829550"/>
            <a:ext cx="6886575" cy="1031014"/>
            <a:chOff x="0" y="0"/>
            <a:chExt cx="9182100" cy="1374685"/>
          </a:xfrm>
        </p:grpSpPr>
        <p:sp>
          <p:nvSpPr>
            <p:cNvPr id="11" name="TextBox 11"/>
            <p:cNvSpPr txBox="1"/>
            <p:nvPr/>
          </p:nvSpPr>
          <p:spPr>
            <a:xfrm>
              <a:off x="0" y="-28575"/>
              <a:ext cx="9182100" cy="638175"/>
            </a:xfrm>
            <a:prstGeom prst="rect">
              <a:avLst/>
            </a:prstGeom>
          </p:spPr>
          <p:txBody>
            <a:bodyPr lIns="0" tIns="0" rIns="0" bIns="0" rtlCol="0" anchor="t">
              <a:spAutoFit/>
            </a:bodyPr>
            <a:lstStyle/>
            <a:p>
              <a:pPr marL="0" lvl="0" indent="0" algn="l">
                <a:lnSpc>
                  <a:spcPts val="3900"/>
                </a:lnSpc>
                <a:spcBef>
                  <a:spcPct val="0"/>
                </a:spcBef>
              </a:pPr>
              <a:r>
                <a:rPr lang="en-US" sz="3000" u="none" strike="noStrike">
                  <a:solidFill>
                    <a:srgbClr val="27496D"/>
                  </a:solidFill>
                  <a:latin typeface="Cooper BT Medium"/>
                  <a:ea typeface="Cooper BT Medium"/>
                  <a:cs typeface="Cooper BT Medium"/>
                  <a:sym typeface="Cooper BT Medium"/>
                </a:rPr>
                <a:t>UIデザインの進行状況</a:t>
              </a:r>
            </a:p>
          </p:txBody>
        </p:sp>
        <p:sp>
          <p:nvSpPr>
            <p:cNvPr id="12" name="TextBox 12"/>
            <p:cNvSpPr txBox="1"/>
            <p:nvPr/>
          </p:nvSpPr>
          <p:spPr>
            <a:xfrm>
              <a:off x="0" y="854346"/>
              <a:ext cx="9182100" cy="520339"/>
            </a:xfrm>
            <a:prstGeom prst="rect">
              <a:avLst/>
            </a:prstGeom>
          </p:spPr>
          <p:txBody>
            <a:bodyPr lIns="0" tIns="0" rIns="0" bIns="0" rtlCol="0" anchor="t">
              <a:spAutoFit/>
            </a:bodyPr>
            <a:lstStyle/>
            <a:p>
              <a:pPr marL="0" lvl="0" indent="0" algn="l">
                <a:lnSpc>
                  <a:spcPts val="3119"/>
                </a:lnSpc>
                <a:spcBef>
                  <a:spcPct val="0"/>
                </a:spcBef>
              </a:pPr>
              <a:r>
                <a:rPr lang="en-US" sz="2399" u="none" strike="noStrike" spc="-47">
                  <a:solidFill>
                    <a:srgbClr val="27496D"/>
                  </a:solidFill>
                  <a:latin typeface="TT Interphases"/>
                  <a:ea typeface="TT Interphases"/>
                  <a:cs typeface="TT Interphases"/>
                  <a:sym typeface="TT Interphases"/>
                </a:rPr>
                <a:t>現在50%のデザインが完成しています</a:t>
              </a:r>
            </a:p>
          </p:txBody>
        </p:sp>
      </p:grpSp>
      <p:sp>
        <p:nvSpPr>
          <p:cNvPr id="13" name="Freeform 13"/>
          <p:cNvSpPr/>
          <p:nvPr/>
        </p:nvSpPr>
        <p:spPr>
          <a:xfrm flipH="1">
            <a:off x="16850868" y="692349"/>
            <a:ext cx="1876083" cy="1497455"/>
          </a:xfrm>
          <a:custGeom>
            <a:avLst/>
            <a:gdLst/>
            <a:ahLst/>
            <a:cxnLst/>
            <a:rect l="l" t="t" r="r" b="b"/>
            <a:pathLst>
              <a:path w="1876083" h="1497455">
                <a:moveTo>
                  <a:pt x="1876083" y="0"/>
                </a:moveTo>
                <a:lnTo>
                  <a:pt x="0" y="0"/>
                </a:lnTo>
                <a:lnTo>
                  <a:pt x="0" y="1497455"/>
                </a:lnTo>
                <a:lnTo>
                  <a:pt x="1876083" y="1497455"/>
                </a:lnTo>
                <a:lnTo>
                  <a:pt x="1876083" y="0"/>
                </a:lnTo>
                <a:close/>
              </a:path>
            </a:pathLst>
          </a:custGeom>
          <a:blipFill>
            <a:blip r:embed="rId2">
              <a:extLst>
                <a:ext uri="{96DAC541-7B7A-43D3-8B79-37D633B846F1}">
                  <asvg:svgBlip xmlns:asvg="http://schemas.microsoft.com/office/drawing/2016/SVG/main" r:embed="rId3"/>
                </a:ext>
              </a:extLst>
            </a:blip>
            <a:stretch>
              <a:fillRect/>
            </a:stretch>
          </a:blipFill>
          <a:ln cap="sq">
            <a:noFill/>
            <a:prstDash val="solid"/>
            <a:miter/>
          </a:ln>
        </p:spPr>
      </p:sp>
      <p:sp>
        <p:nvSpPr>
          <p:cNvPr id="14" name="Freeform 14"/>
          <p:cNvSpPr/>
          <p:nvPr/>
        </p:nvSpPr>
        <p:spPr>
          <a:xfrm rot="9828254" flipH="1">
            <a:off x="-696564" y="7785594"/>
            <a:ext cx="1876083" cy="1497455"/>
          </a:xfrm>
          <a:custGeom>
            <a:avLst/>
            <a:gdLst/>
            <a:ahLst/>
            <a:cxnLst/>
            <a:rect l="l" t="t" r="r" b="b"/>
            <a:pathLst>
              <a:path w="1876083" h="1497455">
                <a:moveTo>
                  <a:pt x="1876083" y="0"/>
                </a:moveTo>
                <a:lnTo>
                  <a:pt x="0" y="0"/>
                </a:lnTo>
                <a:lnTo>
                  <a:pt x="0" y="1497456"/>
                </a:lnTo>
                <a:lnTo>
                  <a:pt x="1876083" y="1497456"/>
                </a:lnTo>
                <a:lnTo>
                  <a:pt x="1876083" y="0"/>
                </a:lnTo>
                <a:close/>
              </a:path>
            </a:pathLst>
          </a:custGeom>
          <a:blipFill>
            <a:blip r:embed="rId2">
              <a:extLst>
                <a:ext uri="{96DAC541-7B7A-43D3-8B79-37D633B846F1}">
                  <asvg:svgBlip xmlns:asvg="http://schemas.microsoft.com/office/drawing/2016/SVG/main" r:embed="rId3"/>
                </a:ext>
              </a:extLst>
            </a:blip>
            <a:stretch>
              <a:fillRect/>
            </a:stretch>
          </a:blipFill>
          <a:ln cap="sq">
            <a:noFill/>
            <a:prstDash val="solid"/>
            <a:miter/>
          </a:ln>
        </p:spPr>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7858125" y="0"/>
            <a:ext cx="10429875" cy="10287000"/>
            <a:chOff x="0" y="0"/>
            <a:chExt cx="2746963" cy="2709333"/>
          </a:xfrm>
        </p:grpSpPr>
        <p:sp>
          <p:nvSpPr>
            <p:cNvPr id="3" name="Freeform 3"/>
            <p:cNvSpPr/>
            <p:nvPr/>
          </p:nvSpPr>
          <p:spPr>
            <a:xfrm>
              <a:off x="0" y="0"/>
              <a:ext cx="2746963" cy="2709333"/>
            </a:xfrm>
            <a:custGeom>
              <a:avLst/>
              <a:gdLst/>
              <a:ahLst/>
              <a:cxnLst/>
              <a:rect l="l" t="t" r="r" b="b"/>
              <a:pathLst>
                <a:path w="2746963" h="2709333">
                  <a:moveTo>
                    <a:pt x="0" y="0"/>
                  </a:moveTo>
                  <a:lnTo>
                    <a:pt x="2746963" y="0"/>
                  </a:lnTo>
                  <a:lnTo>
                    <a:pt x="2746963" y="2709333"/>
                  </a:lnTo>
                  <a:lnTo>
                    <a:pt x="0" y="2709333"/>
                  </a:lnTo>
                  <a:close/>
                </a:path>
              </a:pathLst>
            </a:custGeom>
            <a:solidFill>
              <a:srgbClr val="497EA6"/>
            </a:solidFill>
          </p:spPr>
        </p:sp>
        <p:sp>
          <p:nvSpPr>
            <p:cNvPr id="4" name="TextBox 4"/>
            <p:cNvSpPr txBox="1"/>
            <p:nvPr/>
          </p:nvSpPr>
          <p:spPr>
            <a:xfrm>
              <a:off x="0" y="-38100"/>
              <a:ext cx="2746963" cy="2747433"/>
            </a:xfrm>
            <a:prstGeom prst="rect">
              <a:avLst/>
            </a:prstGeom>
          </p:spPr>
          <p:txBody>
            <a:bodyPr lIns="50800" tIns="50800" rIns="50800" bIns="50800" rtlCol="0" anchor="ctr"/>
            <a:lstStyle/>
            <a:p>
              <a:pPr marL="0" lvl="0" indent="0" algn="ctr">
                <a:lnSpc>
                  <a:spcPts val="3120"/>
                </a:lnSpc>
              </a:pPr>
              <a:endParaRPr/>
            </a:p>
          </p:txBody>
        </p:sp>
      </p:grpSp>
      <p:grpSp>
        <p:nvGrpSpPr>
          <p:cNvPr id="5" name="Group 5"/>
          <p:cNvGrpSpPr/>
          <p:nvPr/>
        </p:nvGrpSpPr>
        <p:grpSpPr>
          <a:xfrm>
            <a:off x="9296400" y="6934200"/>
            <a:ext cx="4010025" cy="2712720"/>
            <a:chOff x="0" y="0"/>
            <a:chExt cx="1056138" cy="714461"/>
          </a:xfrm>
        </p:grpSpPr>
        <p:sp>
          <p:nvSpPr>
            <p:cNvPr id="6" name="Freeform 6"/>
            <p:cNvSpPr/>
            <p:nvPr/>
          </p:nvSpPr>
          <p:spPr>
            <a:xfrm>
              <a:off x="0" y="0"/>
              <a:ext cx="1056138" cy="714461"/>
            </a:xfrm>
            <a:custGeom>
              <a:avLst/>
              <a:gdLst/>
              <a:ahLst/>
              <a:cxnLst/>
              <a:rect l="l" t="t" r="r" b="b"/>
              <a:pathLst>
                <a:path w="1056138" h="714461">
                  <a:moveTo>
                    <a:pt x="77226" y="0"/>
                  </a:moveTo>
                  <a:lnTo>
                    <a:pt x="978913" y="0"/>
                  </a:lnTo>
                  <a:cubicBezTo>
                    <a:pt x="1021563" y="0"/>
                    <a:pt x="1056138" y="34575"/>
                    <a:pt x="1056138" y="77226"/>
                  </a:cubicBezTo>
                  <a:lnTo>
                    <a:pt x="1056138" y="637236"/>
                  </a:lnTo>
                  <a:cubicBezTo>
                    <a:pt x="1056138" y="679886"/>
                    <a:pt x="1021563" y="714461"/>
                    <a:pt x="978913" y="714461"/>
                  </a:cubicBezTo>
                  <a:lnTo>
                    <a:pt x="77226" y="714461"/>
                  </a:lnTo>
                  <a:cubicBezTo>
                    <a:pt x="34575" y="714461"/>
                    <a:pt x="0" y="679886"/>
                    <a:pt x="0" y="637236"/>
                  </a:cubicBezTo>
                  <a:lnTo>
                    <a:pt x="0" y="77226"/>
                  </a:lnTo>
                  <a:cubicBezTo>
                    <a:pt x="0" y="34575"/>
                    <a:pt x="34575" y="0"/>
                    <a:pt x="77226" y="0"/>
                  </a:cubicBezTo>
                  <a:close/>
                </a:path>
              </a:pathLst>
            </a:custGeom>
            <a:solidFill>
              <a:srgbClr val="FFFFFF"/>
            </a:solidFill>
            <a:ln w="28575" cap="rnd">
              <a:solidFill>
                <a:srgbClr val="000000"/>
              </a:solidFill>
              <a:prstDash val="solid"/>
              <a:round/>
            </a:ln>
          </p:spPr>
        </p:sp>
        <p:sp>
          <p:nvSpPr>
            <p:cNvPr id="7" name="TextBox 7"/>
            <p:cNvSpPr txBox="1"/>
            <p:nvPr/>
          </p:nvSpPr>
          <p:spPr>
            <a:xfrm>
              <a:off x="0" y="-28575"/>
              <a:ext cx="1056138" cy="743036"/>
            </a:xfrm>
            <a:prstGeom prst="rect">
              <a:avLst/>
            </a:prstGeom>
          </p:spPr>
          <p:txBody>
            <a:bodyPr lIns="50800" tIns="50800" rIns="50800" bIns="50800" rtlCol="0" anchor="ctr"/>
            <a:lstStyle/>
            <a:p>
              <a:pPr marL="0" lvl="0" indent="0" algn="ctr">
                <a:lnSpc>
                  <a:spcPts val="1960"/>
                </a:lnSpc>
                <a:spcBef>
                  <a:spcPct val="0"/>
                </a:spcBef>
              </a:pPr>
              <a:endParaRPr/>
            </a:p>
          </p:txBody>
        </p:sp>
      </p:grpSp>
      <p:grpSp>
        <p:nvGrpSpPr>
          <p:cNvPr id="8" name="Group 8"/>
          <p:cNvGrpSpPr/>
          <p:nvPr/>
        </p:nvGrpSpPr>
        <p:grpSpPr>
          <a:xfrm>
            <a:off x="13611225" y="6934200"/>
            <a:ext cx="4010025" cy="2686050"/>
            <a:chOff x="0" y="0"/>
            <a:chExt cx="1056138" cy="707437"/>
          </a:xfrm>
        </p:grpSpPr>
        <p:sp>
          <p:nvSpPr>
            <p:cNvPr id="9" name="Freeform 9"/>
            <p:cNvSpPr/>
            <p:nvPr/>
          </p:nvSpPr>
          <p:spPr>
            <a:xfrm>
              <a:off x="0" y="0"/>
              <a:ext cx="1056138" cy="707437"/>
            </a:xfrm>
            <a:custGeom>
              <a:avLst/>
              <a:gdLst/>
              <a:ahLst/>
              <a:cxnLst/>
              <a:rect l="l" t="t" r="r" b="b"/>
              <a:pathLst>
                <a:path w="1056138" h="707437">
                  <a:moveTo>
                    <a:pt x="77226" y="0"/>
                  </a:moveTo>
                  <a:lnTo>
                    <a:pt x="978913" y="0"/>
                  </a:lnTo>
                  <a:cubicBezTo>
                    <a:pt x="1021563" y="0"/>
                    <a:pt x="1056138" y="34575"/>
                    <a:pt x="1056138" y="77226"/>
                  </a:cubicBezTo>
                  <a:lnTo>
                    <a:pt x="1056138" y="630211"/>
                  </a:lnTo>
                  <a:cubicBezTo>
                    <a:pt x="1056138" y="672862"/>
                    <a:pt x="1021563" y="707437"/>
                    <a:pt x="978913" y="707437"/>
                  </a:cubicBezTo>
                  <a:lnTo>
                    <a:pt x="77226" y="707437"/>
                  </a:lnTo>
                  <a:cubicBezTo>
                    <a:pt x="34575" y="707437"/>
                    <a:pt x="0" y="672862"/>
                    <a:pt x="0" y="630211"/>
                  </a:cubicBezTo>
                  <a:lnTo>
                    <a:pt x="0" y="77226"/>
                  </a:lnTo>
                  <a:cubicBezTo>
                    <a:pt x="0" y="34575"/>
                    <a:pt x="34575" y="0"/>
                    <a:pt x="77226" y="0"/>
                  </a:cubicBezTo>
                  <a:close/>
                </a:path>
              </a:pathLst>
            </a:custGeom>
            <a:solidFill>
              <a:srgbClr val="FFFFFF"/>
            </a:solidFill>
            <a:ln w="28575" cap="rnd">
              <a:solidFill>
                <a:srgbClr val="000000"/>
              </a:solidFill>
              <a:prstDash val="solid"/>
              <a:round/>
            </a:ln>
          </p:spPr>
        </p:sp>
        <p:sp>
          <p:nvSpPr>
            <p:cNvPr id="10" name="TextBox 10"/>
            <p:cNvSpPr txBox="1"/>
            <p:nvPr/>
          </p:nvSpPr>
          <p:spPr>
            <a:xfrm>
              <a:off x="0" y="-28575"/>
              <a:ext cx="1056138" cy="736012"/>
            </a:xfrm>
            <a:prstGeom prst="rect">
              <a:avLst/>
            </a:prstGeom>
          </p:spPr>
          <p:txBody>
            <a:bodyPr lIns="50800" tIns="50800" rIns="50800" bIns="50800" rtlCol="0" anchor="ctr"/>
            <a:lstStyle/>
            <a:p>
              <a:pPr marL="0" lvl="0" indent="0" algn="ctr">
                <a:lnSpc>
                  <a:spcPts val="1960"/>
                </a:lnSpc>
                <a:spcBef>
                  <a:spcPct val="0"/>
                </a:spcBef>
              </a:pPr>
              <a:endParaRPr/>
            </a:p>
          </p:txBody>
        </p:sp>
      </p:grpSp>
      <p:grpSp>
        <p:nvGrpSpPr>
          <p:cNvPr id="11" name="Group 11"/>
          <p:cNvGrpSpPr/>
          <p:nvPr/>
        </p:nvGrpSpPr>
        <p:grpSpPr>
          <a:xfrm>
            <a:off x="9296400" y="666750"/>
            <a:ext cx="4010025" cy="5956430"/>
            <a:chOff x="0" y="0"/>
            <a:chExt cx="812800" cy="1207321"/>
          </a:xfrm>
        </p:grpSpPr>
        <p:sp>
          <p:nvSpPr>
            <p:cNvPr id="12" name="Freeform 12"/>
            <p:cNvSpPr/>
            <p:nvPr/>
          </p:nvSpPr>
          <p:spPr>
            <a:xfrm>
              <a:off x="0" y="0"/>
              <a:ext cx="812800" cy="1207321"/>
            </a:xfrm>
            <a:custGeom>
              <a:avLst/>
              <a:gdLst/>
              <a:ahLst/>
              <a:cxnLst/>
              <a:rect l="l" t="t" r="r" b="b"/>
              <a:pathLst>
                <a:path w="812800" h="1207321">
                  <a:moveTo>
                    <a:pt x="77226" y="0"/>
                  </a:moveTo>
                  <a:lnTo>
                    <a:pt x="735574" y="0"/>
                  </a:lnTo>
                  <a:cubicBezTo>
                    <a:pt x="778225" y="0"/>
                    <a:pt x="812800" y="34575"/>
                    <a:pt x="812800" y="77226"/>
                  </a:cubicBezTo>
                  <a:lnTo>
                    <a:pt x="812800" y="1130095"/>
                  </a:lnTo>
                  <a:cubicBezTo>
                    <a:pt x="812800" y="1172746"/>
                    <a:pt x="778225" y="1207321"/>
                    <a:pt x="735574" y="1207321"/>
                  </a:cubicBezTo>
                  <a:lnTo>
                    <a:pt x="77226" y="1207321"/>
                  </a:lnTo>
                  <a:cubicBezTo>
                    <a:pt x="34575" y="1207321"/>
                    <a:pt x="0" y="1172746"/>
                    <a:pt x="0" y="1130095"/>
                  </a:cubicBezTo>
                  <a:lnTo>
                    <a:pt x="0" y="77226"/>
                  </a:lnTo>
                  <a:cubicBezTo>
                    <a:pt x="0" y="34575"/>
                    <a:pt x="34575" y="0"/>
                    <a:pt x="77226" y="0"/>
                  </a:cubicBezTo>
                  <a:close/>
                </a:path>
              </a:pathLst>
            </a:custGeom>
            <a:blipFill>
              <a:blip r:embed="rId2"/>
              <a:stretch>
                <a:fillRect t="-428" b="-428"/>
              </a:stretch>
            </a:blipFill>
          </p:spPr>
        </p:sp>
      </p:grpSp>
      <p:grpSp>
        <p:nvGrpSpPr>
          <p:cNvPr id="13" name="Group 13"/>
          <p:cNvGrpSpPr/>
          <p:nvPr/>
        </p:nvGrpSpPr>
        <p:grpSpPr>
          <a:xfrm>
            <a:off x="13611225" y="666750"/>
            <a:ext cx="4010025" cy="5956430"/>
            <a:chOff x="0" y="0"/>
            <a:chExt cx="812800" cy="1207321"/>
          </a:xfrm>
        </p:grpSpPr>
        <p:sp>
          <p:nvSpPr>
            <p:cNvPr id="14" name="Freeform 14"/>
            <p:cNvSpPr/>
            <p:nvPr/>
          </p:nvSpPr>
          <p:spPr>
            <a:xfrm>
              <a:off x="0" y="0"/>
              <a:ext cx="812800" cy="1207321"/>
            </a:xfrm>
            <a:custGeom>
              <a:avLst/>
              <a:gdLst/>
              <a:ahLst/>
              <a:cxnLst/>
              <a:rect l="l" t="t" r="r" b="b"/>
              <a:pathLst>
                <a:path w="812800" h="1207321">
                  <a:moveTo>
                    <a:pt x="77226" y="0"/>
                  </a:moveTo>
                  <a:lnTo>
                    <a:pt x="735574" y="0"/>
                  </a:lnTo>
                  <a:cubicBezTo>
                    <a:pt x="778225" y="0"/>
                    <a:pt x="812800" y="34575"/>
                    <a:pt x="812800" y="77226"/>
                  </a:cubicBezTo>
                  <a:lnTo>
                    <a:pt x="812800" y="1130095"/>
                  </a:lnTo>
                  <a:cubicBezTo>
                    <a:pt x="812800" y="1172746"/>
                    <a:pt x="778225" y="1207321"/>
                    <a:pt x="735574" y="1207321"/>
                  </a:cubicBezTo>
                  <a:lnTo>
                    <a:pt x="77226" y="1207321"/>
                  </a:lnTo>
                  <a:cubicBezTo>
                    <a:pt x="34575" y="1207321"/>
                    <a:pt x="0" y="1172746"/>
                    <a:pt x="0" y="1130095"/>
                  </a:cubicBezTo>
                  <a:lnTo>
                    <a:pt x="0" y="77226"/>
                  </a:lnTo>
                  <a:cubicBezTo>
                    <a:pt x="0" y="34575"/>
                    <a:pt x="34575" y="0"/>
                    <a:pt x="77226" y="0"/>
                  </a:cubicBezTo>
                  <a:close/>
                </a:path>
              </a:pathLst>
            </a:custGeom>
            <a:blipFill>
              <a:blip r:embed="rId3"/>
              <a:stretch>
                <a:fillRect t="-428" b="-428"/>
              </a:stretch>
            </a:blipFill>
          </p:spPr>
        </p:sp>
      </p:grpSp>
      <p:sp>
        <p:nvSpPr>
          <p:cNvPr id="15" name="TextBox 15"/>
          <p:cNvSpPr txBox="1"/>
          <p:nvPr/>
        </p:nvSpPr>
        <p:spPr>
          <a:xfrm>
            <a:off x="666750" y="838200"/>
            <a:ext cx="6886575" cy="2197097"/>
          </a:xfrm>
          <a:prstGeom prst="rect">
            <a:avLst/>
          </a:prstGeom>
        </p:spPr>
        <p:txBody>
          <a:bodyPr lIns="0" tIns="0" rIns="0" bIns="0" rtlCol="0" anchor="t">
            <a:spAutoFit/>
          </a:bodyPr>
          <a:lstStyle/>
          <a:p>
            <a:pPr marL="0" lvl="0" indent="0" algn="l">
              <a:lnSpc>
                <a:spcPts val="8499"/>
              </a:lnSpc>
              <a:spcBef>
                <a:spcPct val="0"/>
              </a:spcBef>
            </a:pPr>
            <a:r>
              <a:rPr lang="en-US" sz="8499" u="none" strike="noStrike" spc="-169">
                <a:solidFill>
                  <a:srgbClr val="497EA6"/>
                </a:solidFill>
                <a:latin typeface="Cooper BT Light"/>
                <a:ea typeface="Cooper BT Light"/>
                <a:cs typeface="Cooper BT Light"/>
                <a:sym typeface="Cooper BT Light"/>
              </a:rPr>
              <a:t>今後の課題と展望</a:t>
            </a:r>
          </a:p>
        </p:txBody>
      </p:sp>
      <p:grpSp>
        <p:nvGrpSpPr>
          <p:cNvPr id="16" name="Group 16"/>
          <p:cNvGrpSpPr/>
          <p:nvPr/>
        </p:nvGrpSpPr>
        <p:grpSpPr>
          <a:xfrm>
            <a:off x="9684671" y="7454265"/>
            <a:ext cx="3257550" cy="1672590"/>
            <a:chOff x="0" y="0"/>
            <a:chExt cx="4343400" cy="2230120"/>
          </a:xfrm>
        </p:grpSpPr>
        <p:sp>
          <p:nvSpPr>
            <p:cNvPr id="17" name="TextBox 17"/>
            <p:cNvSpPr txBox="1"/>
            <p:nvPr/>
          </p:nvSpPr>
          <p:spPr>
            <a:xfrm>
              <a:off x="0" y="0"/>
              <a:ext cx="4343400" cy="609600"/>
            </a:xfrm>
            <a:prstGeom prst="rect">
              <a:avLst/>
            </a:prstGeom>
          </p:spPr>
          <p:txBody>
            <a:bodyPr lIns="0" tIns="0" rIns="0" bIns="0" rtlCol="0" anchor="t">
              <a:spAutoFit/>
            </a:bodyPr>
            <a:lstStyle/>
            <a:p>
              <a:pPr marL="0" lvl="0" indent="0" algn="l">
                <a:lnSpc>
                  <a:spcPts val="3600"/>
                </a:lnSpc>
                <a:spcBef>
                  <a:spcPct val="0"/>
                </a:spcBef>
              </a:pPr>
              <a:r>
                <a:rPr lang="en-US" sz="3000">
                  <a:solidFill>
                    <a:srgbClr val="27496D"/>
                  </a:solidFill>
                  <a:latin typeface="Cooper BT Medium"/>
                  <a:ea typeface="Cooper BT Medium"/>
                  <a:cs typeface="Cooper BT Medium"/>
                  <a:sym typeface="Cooper BT Medium"/>
                </a:rPr>
                <a:t>統合実装</a:t>
              </a:r>
            </a:p>
          </p:txBody>
        </p:sp>
        <p:sp>
          <p:nvSpPr>
            <p:cNvPr id="18" name="TextBox 18"/>
            <p:cNvSpPr txBox="1"/>
            <p:nvPr/>
          </p:nvSpPr>
          <p:spPr>
            <a:xfrm>
              <a:off x="0" y="1136650"/>
              <a:ext cx="4343400" cy="1093470"/>
            </a:xfrm>
            <a:prstGeom prst="rect">
              <a:avLst/>
            </a:prstGeom>
          </p:spPr>
          <p:txBody>
            <a:bodyPr lIns="0" tIns="0" rIns="0" bIns="0" rtlCol="0" anchor="t">
              <a:spAutoFit/>
            </a:bodyPr>
            <a:lstStyle/>
            <a:p>
              <a:pPr marL="0" lvl="0" indent="0" algn="l">
                <a:lnSpc>
                  <a:spcPts val="3359"/>
                </a:lnSpc>
                <a:spcBef>
                  <a:spcPct val="0"/>
                </a:spcBef>
              </a:pPr>
              <a:r>
                <a:rPr lang="en-US" sz="2400">
                  <a:solidFill>
                    <a:srgbClr val="27496D"/>
                  </a:solidFill>
                  <a:latin typeface="TT Interphases"/>
                  <a:ea typeface="TT Interphases"/>
                  <a:cs typeface="TT Interphases"/>
                  <a:sym typeface="TT Interphases"/>
                </a:rPr>
                <a:t>フロントエンドとチャットボットの統合予定</a:t>
              </a:r>
            </a:p>
          </p:txBody>
        </p:sp>
      </p:grpSp>
      <p:grpSp>
        <p:nvGrpSpPr>
          <p:cNvPr id="19" name="Group 19"/>
          <p:cNvGrpSpPr/>
          <p:nvPr/>
        </p:nvGrpSpPr>
        <p:grpSpPr>
          <a:xfrm>
            <a:off x="13987462" y="7454265"/>
            <a:ext cx="3257550" cy="1672590"/>
            <a:chOff x="0" y="0"/>
            <a:chExt cx="4343400" cy="2230120"/>
          </a:xfrm>
        </p:grpSpPr>
        <p:sp>
          <p:nvSpPr>
            <p:cNvPr id="20" name="TextBox 20"/>
            <p:cNvSpPr txBox="1"/>
            <p:nvPr/>
          </p:nvSpPr>
          <p:spPr>
            <a:xfrm>
              <a:off x="0" y="0"/>
              <a:ext cx="4343400" cy="609600"/>
            </a:xfrm>
            <a:prstGeom prst="rect">
              <a:avLst/>
            </a:prstGeom>
          </p:spPr>
          <p:txBody>
            <a:bodyPr lIns="0" tIns="0" rIns="0" bIns="0" rtlCol="0" anchor="t">
              <a:spAutoFit/>
            </a:bodyPr>
            <a:lstStyle/>
            <a:p>
              <a:pPr marL="0" lvl="0" indent="0" algn="l">
                <a:lnSpc>
                  <a:spcPts val="3600"/>
                </a:lnSpc>
                <a:spcBef>
                  <a:spcPct val="0"/>
                </a:spcBef>
              </a:pPr>
              <a:r>
                <a:rPr lang="en-US" sz="3000">
                  <a:solidFill>
                    <a:srgbClr val="27496D"/>
                  </a:solidFill>
                  <a:latin typeface="Cooper BT Medium"/>
                  <a:ea typeface="Cooper BT Medium"/>
                  <a:cs typeface="Cooper BT Medium"/>
                  <a:sym typeface="Cooper BT Medium"/>
                </a:rPr>
                <a:t>UX向上</a:t>
              </a:r>
            </a:p>
          </p:txBody>
        </p:sp>
        <p:sp>
          <p:nvSpPr>
            <p:cNvPr id="21" name="TextBox 21"/>
            <p:cNvSpPr txBox="1"/>
            <p:nvPr/>
          </p:nvSpPr>
          <p:spPr>
            <a:xfrm>
              <a:off x="0" y="1136650"/>
              <a:ext cx="4343400" cy="1093470"/>
            </a:xfrm>
            <a:prstGeom prst="rect">
              <a:avLst/>
            </a:prstGeom>
          </p:spPr>
          <p:txBody>
            <a:bodyPr lIns="0" tIns="0" rIns="0" bIns="0" rtlCol="0" anchor="t">
              <a:spAutoFit/>
            </a:bodyPr>
            <a:lstStyle/>
            <a:p>
              <a:pPr marL="0" lvl="0" indent="0" algn="l">
                <a:lnSpc>
                  <a:spcPts val="3359"/>
                </a:lnSpc>
                <a:spcBef>
                  <a:spcPct val="0"/>
                </a:spcBef>
              </a:pPr>
              <a:r>
                <a:rPr lang="en-US" sz="2400">
                  <a:solidFill>
                    <a:srgbClr val="27496D"/>
                  </a:solidFill>
                  <a:latin typeface="TT Interphases"/>
                  <a:ea typeface="TT Interphases"/>
                  <a:cs typeface="TT Interphases"/>
                  <a:sym typeface="TT Interphases"/>
                </a:rPr>
                <a:t>利用者体験の改善施策を検討中</a:t>
              </a:r>
            </a:p>
          </p:txBody>
        </p:sp>
      </p:grpSp>
      <p:sp>
        <p:nvSpPr>
          <p:cNvPr id="22" name="Freeform 22"/>
          <p:cNvSpPr/>
          <p:nvPr/>
        </p:nvSpPr>
        <p:spPr>
          <a:xfrm>
            <a:off x="-700808" y="6607510"/>
            <a:ext cx="3459016" cy="4461104"/>
          </a:xfrm>
          <a:custGeom>
            <a:avLst/>
            <a:gdLst/>
            <a:ahLst/>
            <a:cxnLst/>
            <a:rect l="l" t="t" r="r" b="b"/>
            <a:pathLst>
              <a:path w="3459016" h="4461104">
                <a:moveTo>
                  <a:pt x="0" y="0"/>
                </a:moveTo>
                <a:lnTo>
                  <a:pt x="3459016" y="0"/>
                </a:lnTo>
                <a:lnTo>
                  <a:pt x="3459016" y="4461105"/>
                </a:lnTo>
                <a:lnTo>
                  <a:pt x="0" y="4461105"/>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5</TotalTime>
  <Words>157</Words>
  <Application>Microsoft Office PowerPoint</Application>
  <PresentationFormat>ユーザー設定</PresentationFormat>
  <Paragraphs>57</Paragraphs>
  <Slides>12</Slides>
  <Notes>0</Notes>
  <HiddenSlides>0</HiddenSlides>
  <MMClips>0</MMClips>
  <ScaleCrop>false</ScaleCrop>
  <HeadingPairs>
    <vt:vector size="6" baseType="variant">
      <vt:variant>
        <vt:lpstr>使用されているフォント</vt:lpstr>
      </vt:variant>
      <vt:variant>
        <vt:i4>6</vt:i4>
      </vt:variant>
      <vt:variant>
        <vt:lpstr>テーマ</vt:lpstr>
      </vt:variant>
      <vt:variant>
        <vt:i4>1</vt:i4>
      </vt:variant>
      <vt:variant>
        <vt:lpstr>スライド タイトル</vt:lpstr>
      </vt:variant>
      <vt:variant>
        <vt:i4>12</vt:i4>
      </vt:variant>
    </vt:vector>
  </HeadingPairs>
  <TitlesOfParts>
    <vt:vector size="19" baseType="lpstr">
      <vt:lpstr>Cooper BT Medium</vt:lpstr>
      <vt:lpstr>TT Interphases</vt:lpstr>
      <vt:lpstr>TT Interphases Bold</vt:lpstr>
      <vt:lpstr>Cooper BT Light</vt:lpstr>
      <vt:lpstr>Arial</vt:lpstr>
      <vt:lpstr>Calibri</vt:lpstr>
      <vt:lpstr>Office Theme</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プレゼンテーション - AIチャットボット開発の進捗発表</dc:title>
  <dc:description>プレゼンテーション - AIチャットボット開発の進捗発表</dc:description>
  <cp:lastModifiedBy>善聖 北野</cp:lastModifiedBy>
  <cp:revision>2</cp:revision>
  <dcterms:created xsi:type="dcterms:W3CDTF">2006-08-16T00:00:00Z</dcterms:created>
  <dcterms:modified xsi:type="dcterms:W3CDTF">2025-11-04T09:46:51Z</dcterms:modified>
  <dc:identifier>DAG3uf7bRk0</dc:identifier>
</cp:coreProperties>
</file>