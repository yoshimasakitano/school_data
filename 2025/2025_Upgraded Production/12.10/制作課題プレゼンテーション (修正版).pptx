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7" r:id="rId2"/>
    <p:sldId id="273" r:id="rId3"/>
    <p:sldId id="275" r:id="rId4"/>
    <p:sldId id="276" r:id="rId5"/>
    <p:sldId id="277" r:id="rId6"/>
    <p:sldId id="278" r:id="rId7"/>
    <p:sldId id="263" r:id="rId8"/>
    <p:sldId id="272" r:id="rId9"/>
    <p:sldId id="282" r:id="rId10"/>
    <p:sldId id="280" r:id="rId11"/>
    <p:sldId id="283" r:id="rId12"/>
    <p:sldId id="279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3A66"/>
    <a:srgbClr val="ECC97A"/>
    <a:srgbClr val="FFFF66"/>
    <a:srgbClr val="2C62A9"/>
    <a:srgbClr val="42B0E3"/>
    <a:srgbClr val="255EA2"/>
    <a:srgbClr val="C5F7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F2FC69-11FC-AF3C-0BCA-F1753EB6263D}" v="14" dt="2025-12-09T02:34:33.1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37" autoAdjust="0"/>
    <p:restoredTop sz="93094" autoAdjust="0"/>
  </p:normalViewPr>
  <p:slideViewPr>
    <p:cSldViewPr snapToGrid="0">
      <p:cViewPr>
        <p:scale>
          <a:sx n="100" d="100"/>
          <a:sy n="100" d="100"/>
        </p:scale>
        <p:origin x="274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3623-A9A1-4531-A2F0-6CF051D5C33D}" type="datetimeFigureOut">
              <a:t>2025/12/10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D09104-88D0-4DAE-8A34-35E8543F3829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4323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YUKA</a:t>
            </a:r>
            <a:r>
              <a:rPr kumimoji="1" lang="ja-JP" altLang="en-US" dirty="0"/>
              <a:t>情報追加できる</a:t>
            </a:r>
            <a:endParaRPr kumimoji="1" lang="en-US" altLang="ja-JP" dirty="0"/>
          </a:p>
          <a:p>
            <a:r>
              <a:rPr kumimoji="1" lang="ja-JP" altLang="en-US" dirty="0"/>
              <a:t>ぽパイロットと</a:t>
            </a:r>
            <a:r>
              <a:rPr kumimoji="1" lang="en-US" altLang="ja-JP" dirty="0"/>
              <a:t>Teams</a:t>
            </a:r>
            <a:r>
              <a:rPr kumimoji="1" lang="ja-JP" altLang="en-US" dirty="0"/>
              <a:t>のデータをくっつけました　みたいな</a:t>
            </a:r>
            <a:r>
              <a:rPr kumimoji="1" lang="en-US" altLang="ja-JP" dirty="0"/>
              <a:t>AI</a:t>
            </a:r>
            <a:r>
              <a:rPr kumimoji="1" lang="ja-JP" altLang="en-US" dirty="0"/>
              <a:t>　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特徴</a:t>
            </a:r>
            <a:endParaRPr kumimoji="1" lang="en-US" altLang="ja-JP" dirty="0"/>
          </a:p>
          <a:p>
            <a:r>
              <a:rPr kumimoji="1" lang="ja-JP" altLang="en-US" dirty="0"/>
              <a:t>好きな情報源から会話ができる</a:t>
            </a:r>
            <a:endParaRPr kumimoji="1" lang="en-US" altLang="ja-JP" dirty="0"/>
          </a:p>
          <a:p>
            <a:r>
              <a:rPr kumimoji="1" lang="ja-JP" altLang="en-US" dirty="0"/>
              <a:t>ローカルで動作予定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ターゲット</a:t>
            </a:r>
            <a:endParaRPr kumimoji="1" lang="en-US" altLang="ja-JP" dirty="0"/>
          </a:p>
          <a:p>
            <a:r>
              <a:rPr kumimoji="1" lang="en-US" altLang="ja-JP" dirty="0"/>
              <a:t>OCA</a:t>
            </a:r>
            <a:r>
              <a:rPr kumimoji="1" lang="ja-JP" altLang="en-US" dirty="0"/>
              <a:t>在学生徒</a:t>
            </a:r>
            <a:endParaRPr kumimoji="1" lang="en-US" altLang="ja-JP" dirty="0"/>
          </a:p>
          <a:p>
            <a:r>
              <a:rPr kumimoji="1" lang="ja-JP" altLang="en-US" dirty="0"/>
              <a:t>入学予定生徒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展望</a:t>
            </a:r>
            <a:endParaRPr kumimoji="1" lang="en-US" altLang="ja-JP" dirty="0"/>
          </a:p>
          <a:p>
            <a:r>
              <a:rPr kumimoji="1" lang="ja-JP" altLang="en-US" dirty="0"/>
              <a:t>企業への配布</a:t>
            </a:r>
            <a:r>
              <a:rPr kumimoji="1" lang="en-US" altLang="ja-JP" dirty="0"/>
              <a:t>((</a:t>
            </a:r>
            <a:r>
              <a:rPr kumimoji="1" lang="ja-JP" altLang="en-US" dirty="0"/>
              <a:t>好きな情報を入れられるので企業</a:t>
            </a:r>
            <a:r>
              <a:rPr kumimoji="1" lang="en-US" altLang="ja-JP" dirty="0"/>
              <a:t>wiki</a:t>
            </a:r>
            <a:r>
              <a:rPr kumimoji="1" lang="ja-JP" altLang="en-US" dirty="0"/>
              <a:t>など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欲しい情報をどうやって探すか</a:t>
            </a:r>
            <a:endParaRPr kumimoji="1" lang="en-US" altLang="ja-JP" dirty="0"/>
          </a:p>
          <a:p>
            <a:r>
              <a:rPr kumimoji="1" lang="en-US" altLang="ja-JP" dirty="0"/>
              <a:t>AI</a:t>
            </a:r>
            <a:r>
              <a:rPr kumimoji="1" lang="ja-JP" altLang="en-US" dirty="0"/>
              <a:t>の進歩によって情報を探すのが早くなった。</a:t>
            </a:r>
            <a:endParaRPr kumimoji="1" lang="en-US" altLang="ja-JP" dirty="0"/>
          </a:p>
          <a:p>
            <a:r>
              <a:rPr kumimoji="1" lang="ja-JP" altLang="en-US" dirty="0"/>
              <a:t>しかし、すべての情報を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が把握しているわけではないし、自分の情報を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に渡すのはリスクがある。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データベースからとってくる</a:t>
            </a:r>
            <a:endParaRPr kumimoji="1" lang="en-US" altLang="ja-JP" dirty="0"/>
          </a:p>
          <a:p>
            <a:r>
              <a:rPr kumimoji="1" lang="ja-JP" altLang="en-US" dirty="0"/>
              <a:t>確実な情報を格納できる</a:t>
            </a:r>
            <a:endParaRPr kumimoji="1" lang="en-US" altLang="ja-JP" dirty="0"/>
          </a:p>
          <a:p>
            <a:r>
              <a:rPr kumimoji="1" lang="ja-JP" altLang="en-US" dirty="0"/>
              <a:t>使い方によっては、好きなデータを入れ、唯一のＡＩを作ることができます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9104-88D0-4DAE-8A34-35E8543F3829}" type="slidenum">
              <a:rPr lang="en-US" altLang="ja-JP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4901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>
                <a:latin typeface="Calibri"/>
                <a:ea typeface="Calibri"/>
                <a:cs typeface="Calibri"/>
              </a:rPr>
              <a:t>どうやって調べる？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9104-88D0-4DAE-8A34-35E8543F3829}" type="slidenum"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2252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>
                <a:latin typeface="Calibri"/>
                <a:ea typeface="Calibri"/>
                <a:cs typeface="Calibri"/>
              </a:rPr>
              <a:t>AI</a:t>
            </a:r>
            <a:r>
              <a:rPr lang="ja-JP" altLang="en-US" dirty="0">
                <a:latin typeface="Calibri"/>
                <a:ea typeface="Calibri"/>
                <a:cs typeface="Calibri"/>
              </a:rPr>
              <a:t>を使ったら？</a:t>
            </a:r>
            <a:endParaRPr lang="en-US" altLang="ja-JP" dirty="0">
              <a:latin typeface="Calibri"/>
              <a:ea typeface="Calibri"/>
              <a:cs typeface="Calibri"/>
            </a:endParaRPr>
          </a:p>
          <a:p>
            <a:endParaRPr lang="ja-JP" alt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9104-88D0-4DAE-8A34-35E8543F3829}" type="slidenum"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7584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>
                <a:latin typeface="Calibri"/>
                <a:ea typeface="Calibri"/>
                <a:cs typeface="Calibri"/>
              </a:rPr>
              <a:t>AI</a:t>
            </a:r>
            <a:r>
              <a:rPr lang="ja-JP" altLang="en-US" dirty="0">
                <a:latin typeface="Calibri"/>
                <a:ea typeface="Calibri"/>
                <a:cs typeface="Calibri"/>
              </a:rPr>
              <a:t>でも自分予定は把握してくれていない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9104-88D0-4DAE-8A34-35E8543F3829}" type="slidenum"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7185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>
                <a:latin typeface="Calibri"/>
                <a:ea typeface="Calibri"/>
                <a:cs typeface="Calibri"/>
              </a:rPr>
              <a:t>聞いたら押してほしいよねー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9104-88D0-4DAE-8A34-35E8543F3829}" type="slidenum"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43022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>
                <a:latin typeface="Calibri"/>
                <a:ea typeface="Calibri"/>
                <a:cs typeface="Calibri"/>
              </a:rPr>
              <a:t>聞いたら押してほしいよねー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9104-88D0-4DAE-8A34-35E8543F3829}" type="slidenum"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72506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・web</a:t>
            </a:r>
            <a:r>
              <a:rPr lang="ja-JP" altLang="en-US" dirty="0">
                <a:latin typeface="Calibri"/>
                <a:ea typeface="Calibri"/>
                <a:cs typeface="Calibri"/>
              </a:rPr>
              <a:t>サイトを読み解くのは困難</a:t>
            </a:r>
          </a:p>
          <a:p>
            <a:r>
              <a:rPr lang="ja-JP" altLang="en-US" dirty="0">
                <a:latin typeface="Calibri"/>
                <a:ea typeface="Calibri"/>
                <a:cs typeface="Calibri"/>
              </a:rPr>
              <a:t>・学校選びの際に困った体験談</a:t>
            </a:r>
          </a:p>
          <a:p>
            <a:r>
              <a:rPr lang="ja-JP" altLang="en-US" dirty="0">
                <a:latin typeface="Calibri"/>
                <a:ea typeface="Calibri"/>
                <a:cs typeface="Calibri"/>
              </a:rPr>
              <a:t>・話すだけで情報が得られるものを作った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9104-88D0-4DAE-8A34-35E8543F3829}" type="slidenum"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87702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9104-88D0-4DAE-8A34-35E8543F3829}" type="slidenum">
              <a:rPr lang="en-US" altLang="ja-JP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45388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>
                <a:latin typeface="Calibri"/>
                <a:ea typeface="Calibri"/>
                <a:cs typeface="Calibri"/>
              </a:rPr>
              <a:t>AI</a:t>
            </a:r>
            <a:r>
              <a:rPr lang="ja-JP" altLang="en-US" dirty="0">
                <a:latin typeface="Calibri"/>
                <a:ea typeface="Calibri"/>
                <a:cs typeface="Calibri"/>
              </a:rPr>
              <a:t>でも自分予定は把握してくれていない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9104-88D0-4DAE-8A34-35E8543F3829}" type="slidenum"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58277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>
                <a:latin typeface="Calibri"/>
                <a:ea typeface="Calibri"/>
                <a:cs typeface="Calibri"/>
              </a:rPr>
              <a:t>聞いたら押してほしいよねー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9104-88D0-4DAE-8A34-35E8543F3829}" type="slidenum"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76557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9104-88D0-4DAE-8A34-35E8543F3829}" type="slidenum">
              <a:rPr lang="en-US" altLang="ja-JP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21116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・web</a:t>
            </a:r>
            <a:r>
              <a:rPr lang="ja-JP" altLang="en-US" dirty="0">
                <a:latin typeface="Calibri"/>
                <a:ea typeface="Calibri"/>
                <a:cs typeface="Calibri"/>
              </a:rPr>
              <a:t>サイトを読み解くのは困難</a:t>
            </a:r>
          </a:p>
          <a:p>
            <a:r>
              <a:rPr lang="ja-JP" altLang="en-US" dirty="0">
                <a:latin typeface="Calibri"/>
                <a:ea typeface="Calibri"/>
                <a:cs typeface="Calibri"/>
              </a:rPr>
              <a:t>・学校選びの際に困った体験談</a:t>
            </a:r>
          </a:p>
          <a:p>
            <a:r>
              <a:rPr lang="ja-JP" altLang="en-US" dirty="0">
                <a:latin typeface="Calibri"/>
                <a:ea typeface="Calibri"/>
                <a:cs typeface="Calibri"/>
              </a:rPr>
              <a:t>・話すだけで情報が得られるものを作った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9104-88D0-4DAE-8A34-35E8543F3829}" type="slidenum"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04804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>
                <a:latin typeface="游ゴシック"/>
                <a:ea typeface="游ゴシック"/>
                <a:cs typeface="Calibri"/>
              </a:rPr>
              <a:t>スクレイピングについて考えていること</a:t>
            </a:r>
            <a:endParaRPr lang="ja-JP" altLang="en-US" dirty="0">
              <a:latin typeface="游ゴシック"/>
              <a:ea typeface="游ゴシック"/>
              <a:cs typeface="Calibri"/>
            </a:endParaRPr>
          </a:p>
          <a:p>
            <a:r>
              <a:rPr lang="ja-JP" altLang="en-US">
                <a:latin typeface="游ゴシック"/>
                <a:ea typeface="游ゴシック"/>
                <a:cs typeface="Calibri"/>
              </a:rPr>
              <a:t>・スクレイピングはサーバーに負荷をかけることになるためいけないこと</a:t>
            </a:r>
            <a:endParaRPr lang="ja-JP" altLang="en-US" dirty="0">
              <a:latin typeface="游ゴシック"/>
              <a:ea typeface="游ゴシック"/>
              <a:cs typeface="Calibri"/>
            </a:endParaRPr>
          </a:p>
          <a:p>
            <a:r>
              <a:rPr lang="ja-JP" altLang="en-US">
                <a:latin typeface="游ゴシック"/>
                <a:ea typeface="游ゴシック"/>
                <a:cs typeface="Calibri"/>
              </a:rPr>
              <a:t>・ただし、サイトにアクセスする回数を減らしたり、頻度を考えてプログラムを作ること　</a:t>
            </a:r>
            <a:br>
              <a:rPr lang="ja-JP" altLang="en-US" dirty="0">
                <a:latin typeface="游ゴシック"/>
                <a:ea typeface="游ゴシック"/>
                <a:cs typeface="Calibri"/>
              </a:rPr>
            </a:br>
            <a:r>
              <a:rPr lang="ja-JP" altLang="en-US">
                <a:latin typeface="游ゴシック"/>
                <a:ea typeface="游ゴシック"/>
                <a:cs typeface="Calibri"/>
              </a:rPr>
              <a:t>・実際にこのプログラムでも同じURLには飛ばないようにしている</a:t>
            </a:r>
          </a:p>
          <a:p>
            <a:r>
              <a:rPr lang="ja-JP" altLang="en-US">
                <a:latin typeface="游ゴシック"/>
                <a:ea typeface="游ゴシック"/>
                <a:cs typeface="Calibri"/>
              </a:rPr>
              <a:t>→各サイト一回ずつしかスクレイピングをしない</a:t>
            </a:r>
          </a:p>
          <a:p>
            <a:r>
              <a:rPr lang="ja-JP"/>
              <a:t>→迷惑をかけることなく、安全に便利に使うことができるはず。</a:t>
            </a:r>
          </a:p>
          <a:p>
            <a:r>
              <a:rPr lang="ja-JP" altLang="en-US">
                <a:ea typeface="游ゴシック"/>
              </a:rPr>
              <a:t>・とても便利なものだから一概に「スクレイピングはすべてダメ」というのは間違っている</a:t>
            </a:r>
          </a:p>
          <a:p>
            <a:r>
              <a:rPr lang="ja-JP" altLang="en-US">
                <a:ea typeface="游ゴシック"/>
              </a:rPr>
              <a:t>・でも、悪意を持って行う人がいるわけだから、ルールを策定するべきだと思う。</a:t>
            </a:r>
            <a:endParaRPr lang="ja-JP" altLang="en-US" dirty="0">
              <a:ea typeface="游ゴシック"/>
            </a:endParaRPr>
          </a:p>
          <a:p>
            <a:endParaRPr lang="ja-JP" altLang="en-US" dirty="0">
              <a:ea typeface="游ゴシック"/>
            </a:endParaRPr>
          </a:p>
          <a:p>
            <a:r>
              <a:rPr lang="ja-JP" altLang="en-US">
                <a:ea typeface="游ゴシック"/>
              </a:rPr>
              <a:t>スクレイピングはどの頻度で行われているか</a:t>
            </a:r>
          </a:p>
          <a:p>
            <a:r>
              <a:rPr lang="ja-JP" altLang="en-US">
                <a:ea typeface="游ゴシック"/>
              </a:rPr>
              <a:t>URLを見つけ次第一度だけスクレイピングをしている。</a:t>
            </a:r>
            <a:br>
              <a:rPr lang="ja-JP" altLang="en-US" dirty="0">
                <a:ea typeface="游ゴシック"/>
                <a:cs typeface="+mn-lt"/>
              </a:rPr>
            </a:br>
            <a:r>
              <a:rPr lang="ja-JP" altLang="en-US">
                <a:ea typeface="游ゴシック"/>
              </a:rPr>
              <a:t>そのため、１サイトに何回もスクレイピングをしているわけではない。</a:t>
            </a:r>
            <a:br>
              <a:rPr lang="ja-JP" altLang="en-US" dirty="0">
                <a:ea typeface="游ゴシック"/>
                <a:cs typeface="+mn-lt"/>
              </a:rPr>
            </a:br>
            <a:r>
              <a:rPr lang="ja-JP" altLang="en-US">
                <a:ea typeface="游ゴシック"/>
              </a:rPr>
              <a:t>全体でいえば、１秒間で〇回​</a:t>
            </a:r>
            <a:endParaRPr lang="ja-JP" altLang="en-US" dirty="0">
              <a:ea typeface="游ゴシック"/>
            </a:endParaRPr>
          </a:p>
          <a:p>
            <a:endParaRPr lang="ja-JP" altLang="en-US" dirty="0">
              <a:ea typeface="游ゴシック"/>
            </a:endParaRPr>
          </a:p>
          <a:p>
            <a:r>
              <a:rPr lang="ja-JP" altLang="en-US">
                <a:ea typeface="游ゴシック"/>
              </a:rPr>
              <a:t>データベースに保存できるのはwebのデータだけか</a:t>
            </a:r>
            <a:endParaRPr lang="ja-JP" altLang="en-US" dirty="0">
              <a:ea typeface="游ゴシック"/>
            </a:endParaRPr>
          </a:p>
          <a:p>
            <a:r>
              <a:rPr lang="ja-JP" altLang="en-US">
                <a:ea typeface="游ゴシック"/>
              </a:rPr>
              <a:t>今は実装できていないが、これからエクセル、パワポ、ワード、PDFなどの様々なファイルに対応するつもり</a:t>
            </a:r>
            <a:endParaRPr lang="ja-JP" altLang="en-US" dirty="0">
              <a:ea typeface="游ゴシック"/>
            </a:endParaRPr>
          </a:p>
          <a:p>
            <a:r>
              <a:rPr lang="ja-JP" altLang="en-US">
                <a:ea typeface="游ゴシック"/>
              </a:rPr>
              <a:t>そのため、様々なデータの形でもデータを格納することが可能</a:t>
            </a:r>
            <a:endParaRPr lang="ja-JP" altLang="en-US" dirty="0">
              <a:ea typeface="游ゴシック"/>
            </a:endParaRPr>
          </a:p>
          <a:p>
            <a:endParaRPr lang="ja-JP" altLang="en-US" dirty="0">
              <a:ea typeface="游ゴシック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9104-88D0-4DAE-8A34-35E8543F3829}" type="slidenum"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05198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>
                <a:latin typeface="游ゴシック"/>
                <a:ea typeface="游ゴシック"/>
                <a:cs typeface="Calibri"/>
              </a:rPr>
              <a:t>データベースに格納する意味は何？</a:t>
            </a:r>
          </a:p>
          <a:p>
            <a:r>
              <a:rPr lang="ja-JP" altLang="en-US">
                <a:latin typeface="游ゴシック"/>
                <a:ea typeface="游ゴシック"/>
                <a:cs typeface="Calibri"/>
              </a:rPr>
              <a:t>（発表の中でも言っているが）情報のローカル化が可能</a:t>
            </a:r>
          </a:p>
          <a:p>
            <a:r>
              <a:rPr lang="ja-JP" altLang="en-US">
                <a:latin typeface="游ゴシック"/>
                <a:ea typeface="游ゴシック"/>
                <a:cs typeface="Calibri"/>
              </a:rPr>
              <a:t>ソースがデータベースのため、自分が指定したデータ以外を話すことがない。</a:t>
            </a:r>
          </a:p>
          <a:p>
            <a:r>
              <a:rPr lang="ja-JP" altLang="en-US">
                <a:latin typeface="游ゴシック"/>
                <a:ea typeface="游ゴシック"/>
                <a:cs typeface="Calibri"/>
              </a:rPr>
              <a:t>そのため、学校や会社などの紹介にあっているＡＩだといえる。</a:t>
            </a:r>
          </a:p>
          <a:p>
            <a:endParaRPr lang="ja-JP" altLang="en-US" dirty="0">
              <a:latin typeface="游ゴシック"/>
              <a:ea typeface="游ゴシック"/>
              <a:cs typeface="Calibri"/>
            </a:endParaRPr>
          </a:p>
          <a:p>
            <a:r>
              <a:rPr lang="ja-JP" altLang="en-US">
                <a:latin typeface="游ゴシック"/>
                <a:ea typeface="游ゴシック"/>
                <a:cs typeface="Calibri"/>
              </a:rPr>
              <a:t>そこまでカラムを分けている理由は？</a:t>
            </a:r>
          </a:p>
          <a:p>
            <a:r>
              <a:rPr lang="ja-JP" altLang="en-US">
                <a:latin typeface="游ゴシック"/>
                <a:ea typeface="游ゴシック"/>
                <a:cs typeface="Calibri"/>
              </a:rPr>
              <a:t>この文章に何が書かれているのか判別するため</a:t>
            </a:r>
          </a:p>
          <a:p>
            <a:r>
              <a:rPr lang="ja-JP"/>
              <a:t>そうすることで同じような内容のデータが入っていても、なんのデータなのかを判別することが可能</a:t>
            </a:r>
          </a:p>
          <a:p>
            <a:r>
              <a:rPr lang="ja-JP" altLang="en-US">
                <a:latin typeface="游ゴシック"/>
                <a:ea typeface="游ゴシック"/>
                <a:cs typeface="Calibri"/>
              </a:rPr>
              <a:t>ＡＩに話させるときは聞かれていることが何かのサブカテゴリーにあっていないかを判定、</a:t>
            </a:r>
            <a:endParaRPr lang="ja-JP" altLang="en-US" dirty="0">
              <a:latin typeface="游ゴシック"/>
              <a:ea typeface="游ゴシック"/>
              <a:cs typeface="Calibri"/>
            </a:endParaRPr>
          </a:p>
          <a:p>
            <a:r>
              <a:rPr lang="ja-JP" altLang="en-US">
                <a:latin typeface="游ゴシック"/>
                <a:ea typeface="游ゴシック"/>
                <a:cs typeface="Calibri"/>
              </a:rPr>
              <a:t>それにもなさそうならどのカテゴリーがふさわしいのか判定する仕組み</a:t>
            </a:r>
            <a:endParaRPr lang="ja-JP" altLang="en-US" dirty="0">
              <a:latin typeface="游ゴシック"/>
              <a:ea typeface="游ゴシック"/>
              <a:cs typeface="Calibri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9104-88D0-4DAE-8A34-35E8543F3829}" type="slidenum"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07445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err="1">
                <a:latin typeface="Calibri"/>
                <a:ea typeface="Calibri"/>
                <a:cs typeface="Calibri"/>
              </a:rPr>
              <a:t>他のAIと何が違うのか</a:t>
            </a:r>
            <a:endParaRPr lang="en-US" altLang="ja-JP" dirty="0">
              <a:latin typeface="Calibri"/>
              <a:ea typeface="Calibri"/>
              <a:cs typeface="Calibri"/>
            </a:endParaRPr>
          </a:p>
          <a:p>
            <a:r>
              <a:rPr lang="en-US" altLang="ja-JP" dirty="0">
                <a:latin typeface="Calibri"/>
                <a:ea typeface="Calibri"/>
                <a:cs typeface="Calibri"/>
              </a:rPr>
              <a:t>（発表の中でも言っているけど）ほかのAIのソースがインターネットなのに対してYUKAはデータベースだから指定された情報以外のことを話すことがない</a:t>
            </a:r>
          </a:p>
          <a:p>
            <a:r>
              <a:rPr lang="en-US" altLang="ja-JP" dirty="0" err="1">
                <a:latin typeface="Calibri"/>
                <a:ea typeface="Calibri"/>
                <a:cs typeface="Calibri"/>
              </a:rPr>
              <a:t>これ自分たちのAIとして使うときにものすごく大事なこと</a:t>
            </a:r>
            <a:r>
              <a:rPr lang="en-US" altLang="ja-JP" dirty="0">
                <a:latin typeface="Calibri"/>
                <a:ea typeface="Calibri"/>
                <a:cs typeface="Calibri"/>
              </a:rPr>
              <a:t>。（</a:t>
            </a:r>
            <a:r>
              <a:rPr lang="en-US" altLang="ja-JP" dirty="0" err="1">
                <a:latin typeface="Calibri"/>
                <a:ea typeface="Calibri"/>
                <a:cs typeface="Calibri"/>
              </a:rPr>
              <a:t>関係ない話をしても答えてしまったら良くないよね</a:t>
            </a:r>
            <a:r>
              <a:rPr lang="en-US" altLang="ja-JP" dirty="0">
                <a:latin typeface="Calibri"/>
                <a:ea typeface="Calibri"/>
                <a:cs typeface="Calibri"/>
              </a:rPr>
              <a:t>）</a:t>
            </a:r>
          </a:p>
          <a:p>
            <a:endParaRPr lang="en-US" altLang="ja-JP" dirty="0">
              <a:latin typeface="Calibri"/>
              <a:ea typeface="Calibri"/>
              <a:cs typeface="Calibri"/>
            </a:endParaRPr>
          </a:p>
          <a:p>
            <a:r>
              <a:rPr lang="en-US" altLang="ja-JP" dirty="0" err="1">
                <a:latin typeface="Calibri"/>
                <a:ea typeface="Calibri"/>
                <a:cs typeface="Calibri"/>
              </a:rPr>
              <a:t>GeminiのAPIを使っていると思うけどそれだと外にデータが出ない</a:t>
            </a:r>
            <a:r>
              <a:rPr lang="en-US" altLang="ja-JP" dirty="0">
                <a:latin typeface="Calibri"/>
                <a:ea typeface="Calibri"/>
                <a:cs typeface="Calibri"/>
              </a:rPr>
              <a:t>？</a:t>
            </a:r>
          </a:p>
          <a:p>
            <a:r>
              <a:rPr lang="en-US" altLang="ja-JP" dirty="0" err="1">
                <a:latin typeface="Calibri"/>
                <a:ea typeface="Calibri"/>
                <a:cs typeface="Calibri"/>
              </a:rPr>
              <a:t>まったくその通り。今回は時間がなくAPIを使っているが、ローカル環境で使えるAIを作成中</a:t>
            </a:r>
            <a:r>
              <a:rPr lang="en-US" altLang="ja-JP" dirty="0">
                <a:latin typeface="Calibri"/>
                <a:ea typeface="Calibri"/>
                <a:cs typeface="Calibri"/>
              </a:rPr>
              <a:t>。（</a:t>
            </a:r>
            <a:r>
              <a:rPr lang="en-US" altLang="ja-JP" dirty="0" err="1">
                <a:latin typeface="Calibri"/>
                <a:ea typeface="Calibri"/>
                <a:cs typeface="Calibri"/>
              </a:rPr>
              <a:t>オラマ</a:t>
            </a:r>
            <a:r>
              <a:rPr lang="en-US" altLang="ja-JP" dirty="0">
                <a:latin typeface="Calibri"/>
                <a:ea typeface="Calibri"/>
                <a:cs typeface="Calibri"/>
              </a:rPr>
              <a:t>）</a:t>
            </a:r>
          </a:p>
          <a:p>
            <a:r>
              <a:rPr lang="en-US" altLang="ja-JP" err="1">
                <a:latin typeface="Calibri"/>
                <a:ea typeface="Calibri"/>
                <a:cs typeface="Calibri"/>
              </a:rPr>
              <a:t>これにすれば、データが外に出ることはないため、いち早くそっちに乗り換えないといけない</a:t>
            </a:r>
            <a:endParaRPr lang="en-US" altLang="ja-JP" dirty="0">
              <a:latin typeface="Calibri"/>
              <a:ea typeface="Calibri"/>
              <a:cs typeface="Calibri"/>
            </a:endParaRPr>
          </a:p>
          <a:p>
            <a:endParaRPr lang="en-US" altLang="ja-JP" dirty="0">
              <a:latin typeface="Calibri"/>
              <a:ea typeface="Calibri"/>
              <a:cs typeface="Calibri"/>
            </a:endParaRPr>
          </a:p>
          <a:p>
            <a:r>
              <a:rPr lang="en-US" altLang="ja-JP" dirty="0" err="1">
                <a:latin typeface="Calibri"/>
                <a:ea typeface="Calibri"/>
                <a:cs typeface="Calibri"/>
              </a:rPr>
              <a:t>データベースがあるのにJsonファイルを作成するのはなんで</a:t>
            </a:r>
            <a:r>
              <a:rPr lang="en-US" altLang="ja-JP" dirty="0">
                <a:latin typeface="Calibri"/>
                <a:ea typeface="Calibri"/>
                <a:cs typeface="Calibri"/>
              </a:rPr>
              <a:t>？</a:t>
            </a:r>
          </a:p>
          <a:p>
            <a:r>
              <a:rPr lang="en-US" altLang="ja-JP" dirty="0" err="1">
                <a:latin typeface="Calibri"/>
                <a:ea typeface="Calibri"/>
                <a:cs typeface="Calibri"/>
              </a:rPr>
              <a:t>チャットの応答を少しでも早くするため</a:t>
            </a:r>
            <a:r>
              <a:rPr lang="en-US" altLang="ja-JP" dirty="0">
                <a:latin typeface="Calibri"/>
                <a:ea typeface="Calibri"/>
                <a:cs typeface="Calibri"/>
              </a:rPr>
              <a:t>。</a:t>
            </a:r>
          </a:p>
          <a:p>
            <a:r>
              <a:rPr lang="en-US" altLang="ja-JP" err="1">
                <a:latin typeface="Calibri"/>
                <a:ea typeface="Calibri"/>
                <a:cs typeface="Calibri"/>
              </a:rPr>
              <a:t>データベースをいちいち探していると時間がかかるためデータベースの内容をjsonに移す必要がある</a:t>
            </a:r>
            <a:endParaRPr lang="en-US" altLang="ja-JP" dirty="0">
              <a:latin typeface="Calibri"/>
              <a:ea typeface="Calibri"/>
              <a:cs typeface="Calibri"/>
            </a:endParaRPr>
          </a:p>
          <a:p>
            <a:r>
              <a:rPr lang="en-US" altLang="ja-JP" dirty="0" err="1">
                <a:latin typeface="Calibri"/>
                <a:ea typeface="Calibri"/>
                <a:cs typeface="Calibri"/>
              </a:rPr>
              <a:t>それをするには時間がかかるが、一度作ってしまえばOKなので、データベースの更新を行うたびにjsonファイルを作ればOK</a:t>
            </a:r>
            <a:endParaRPr lang="en-US" altLang="ja-JP" dirty="0">
              <a:latin typeface="Calibri"/>
              <a:ea typeface="Calibri"/>
              <a:cs typeface="Calibri"/>
            </a:endParaRPr>
          </a:p>
          <a:p>
            <a:endParaRPr lang="en-US" altLang="ja-JP" dirty="0">
              <a:latin typeface="Calibri"/>
              <a:ea typeface="Calibri"/>
              <a:cs typeface="Calibri"/>
            </a:endParaRPr>
          </a:p>
          <a:p>
            <a:r>
              <a:rPr lang="en-US" altLang="ja-JP" dirty="0" err="1">
                <a:latin typeface="Calibri"/>
                <a:ea typeface="Calibri"/>
                <a:cs typeface="Calibri"/>
              </a:rPr>
              <a:t>じゃあjsonファイルだけでよくね</a:t>
            </a:r>
            <a:r>
              <a:rPr lang="en-US" altLang="ja-JP" dirty="0">
                <a:latin typeface="Calibri"/>
                <a:ea typeface="Calibri"/>
                <a:cs typeface="Calibri"/>
              </a:rPr>
              <a:t>？</a:t>
            </a:r>
            <a:br>
              <a:rPr lang="en-US" altLang="ja-JP" dirty="0">
                <a:latin typeface="Calibri"/>
                <a:ea typeface="Calibri"/>
                <a:cs typeface="Calibri"/>
              </a:rPr>
            </a:br>
            <a:r>
              <a:rPr lang="en-US" altLang="ja-JP" dirty="0" err="1">
                <a:latin typeface="Calibri"/>
                <a:ea typeface="Calibri"/>
                <a:cs typeface="Calibri"/>
              </a:rPr>
              <a:t>jsonは編集しづらいからデータベースに一度格納して、そこを編集することでデータの更新が可能</a:t>
            </a:r>
            <a:endParaRPr lang="en-US" altLang="ja-JP" dirty="0">
              <a:latin typeface="Calibri"/>
              <a:ea typeface="Calibri"/>
              <a:cs typeface="Calibri"/>
            </a:endParaRPr>
          </a:p>
          <a:p>
            <a:endParaRPr lang="en-US" altLang="ja-JP" dirty="0">
              <a:latin typeface="Calibri"/>
              <a:ea typeface="Calibri"/>
              <a:cs typeface="Calibri"/>
            </a:endParaRPr>
          </a:p>
          <a:p>
            <a:r>
              <a:rPr lang="en-US" altLang="ja-JP" dirty="0" err="1">
                <a:latin typeface="Calibri"/>
                <a:ea typeface="Calibri"/>
                <a:cs typeface="Calibri"/>
              </a:rPr>
              <a:t>どのように完全じゃない言葉でも応答することが可能なのか</a:t>
            </a:r>
            <a:r>
              <a:rPr lang="en-US" altLang="ja-JP" dirty="0">
                <a:latin typeface="Calibri"/>
                <a:ea typeface="Calibri"/>
                <a:cs typeface="Calibri"/>
              </a:rPr>
              <a:t>。</a:t>
            </a:r>
          </a:p>
          <a:p>
            <a:r>
              <a:rPr lang="en-US" altLang="ja-JP" dirty="0" err="1">
                <a:latin typeface="Calibri"/>
                <a:ea typeface="Calibri"/>
                <a:cs typeface="Calibri"/>
              </a:rPr>
              <a:t>使っているAPIのGeminiが頭がいいから</a:t>
            </a:r>
            <a:r>
              <a:rPr lang="en-US" altLang="ja-JP" dirty="0">
                <a:latin typeface="Calibri"/>
                <a:ea typeface="Calibri"/>
                <a:cs typeface="Calibri"/>
              </a:rPr>
              <a:t>。</a:t>
            </a:r>
          </a:p>
          <a:p>
            <a:r>
              <a:rPr lang="en-US" altLang="ja-JP" dirty="0" err="1">
                <a:latin typeface="Calibri"/>
                <a:ea typeface="Calibri"/>
                <a:cs typeface="Calibri"/>
              </a:rPr>
              <a:t>これからAPIじゃなくてローカル環境で動くAIにしたときにそこまで作りこみたい</a:t>
            </a:r>
            <a:r>
              <a:rPr lang="en-US" altLang="ja-JP" dirty="0">
                <a:latin typeface="Calibri"/>
                <a:ea typeface="Calibri"/>
                <a:cs typeface="Calibri"/>
              </a:rPr>
              <a:t>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9104-88D0-4DAE-8A34-35E8543F3829}" type="slidenum"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7353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46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742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941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047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760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935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206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34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383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375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69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272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50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9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タイトル 1">
            <a:extLst>
              <a:ext uri="{FF2B5EF4-FFF2-40B4-BE49-F238E27FC236}">
                <a16:creationId xmlns:a16="http://schemas.microsoft.com/office/drawing/2014/main" id="{662CF6FB-CEAC-43C2-8007-74F9E40ABEEA}"/>
              </a:ext>
            </a:extLst>
          </p:cNvPr>
          <p:cNvSpPr txBox="1">
            <a:spLocks/>
          </p:cNvSpPr>
          <p:nvPr/>
        </p:nvSpPr>
        <p:spPr>
          <a:xfrm>
            <a:off x="5146993" y="2386186"/>
            <a:ext cx="3189287" cy="53279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11200" u="sng" dirty="0">
                <a:solidFill>
                  <a:srgbClr val="2C62A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lang="ja-JP" altLang="en-US" sz="11200" u="sng" dirty="0">
                <a:solidFill>
                  <a:srgbClr val="2C62A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チャットボット</a:t>
            </a:r>
            <a:b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字幕 2">
            <a:extLst>
              <a:ext uri="{FF2B5EF4-FFF2-40B4-BE49-F238E27FC236}">
                <a16:creationId xmlns:a16="http://schemas.microsoft.com/office/drawing/2014/main" id="{F8BE0118-63C7-446D-870C-6AFFA7FE2B72}"/>
              </a:ext>
            </a:extLst>
          </p:cNvPr>
          <p:cNvSpPr txBox="1">
            <a:spLocks/>
          </p:cNvSpPr>
          <p:nvPr/>
        </p:nvSpPr>
        <p:spPr>
          <a:xfrm>
            <a:off x="5679868" y="4974954"/>
            <a:ext cx="6374972" cy="2153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ja-JP" altLang="en-US" sz="2800" b="1" dirty="0">
                <a:solidFill>
                  <a:srgbClr val="143A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ホワイトハッカー専攻</a:t>
            </a:r>
            <a:endParaRPr kumimoji="0" lang="en-US" altLang="ja-JP" sz="2800" b="1" dirty="0">
              <a:solidFill>
                <a:srgbClr val="143A66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buNone/>
            </a:pPr>
            <a:r>
              <a:rPr kumimoji="1" lang="ja-JP" altLang="en-US" sz="2800" b="1" dirty="0">
                <a:solidFill>
                  <a:srgbClr val="143A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梅津亮介 岡本篤希 北野善聖 辻本悠仁</a:t>
            </a:r>
            <a:endParaRPr kumimoji="0" lang="ja-JP" altLang="en-US" sz="2800" b="1" dirty="0">
              <a:solidFill>
                <a:srgbClr val="143A66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A85F7CFF-9C87-4497-A014-FEEC73F7235F}"/>
              </a:ext>
            </a:extLst>
          </p:cNvPr>
          <p:cNvGrpSpPr/>
          <p:nvPr/>
        </p:nvGrpSpPr>
        <p:grpSpPr>
          <a:xfrm>
            <a:off x="2591262" y="2049888"/>
            <a:ext cx="6965103" cy="2210100"/>
            <a:chOff x="2885548" y="2093882"/>
            <a:chExt cx="6965103" cy="2210100"/>
          </a:xfrm>
        </p:grpSpPr>
        <p:pic>
          <p:nvPicPr>
            <p:cNvPr id="35" name="図 34" descr="ロゴ が含まれている画像">
              <a:extLst>
                <a:ext uri="{FF2B5EF4-FFF2-40B4-BE49-F238E27FC236}">
                  <a16:creationId xmlns:a16="http://schemas.microsoft.com/office/drawing/2014/main" id="{33A748AF-057E-4421-A75F-0CBDBE60EA81}"/>
                </a:ext>
              </a:extLst>
            </p:cNvPr>
            <p:cNvPicPr preferRelativeResize="0"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012"/>
            <a:stretch/>
          </p:blipFill>
          <p:spPr>
            <a:xfrm>
              <a:off x="2885548" y="2093882"/>
              <a:ext cx="1883886" cy="2210100"/>
            </a:xfrm>
            <a:prstGeom prst="rect">
              <a:avLst/>
            </a:prstGeom>
          </p:spPr>
        </p:pic>
        <p:pic>
          <p:nvPicPr>
            <p:cNvPr id="36" name="図 35" descr="ロゴ が含まれている画像">
              <a:extLst>
                <a:ext uri="{FF2B5EF4-FFF2-40B4-BE49-F238E27FC236}">
                  <a16:creationId xmlns:a16="http://schemas.microsoft.com/office/drawing/2014/main" id="{8F578A9A-11A3-4578-B003-45C2DE593D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879" t="23241" r="4728" b="29028"/>
            <a:stretch/>
          </p:blipFill>
          <p:spPr>
            <a:xfrm>
              <a:off x="4673679" y="2527897"/>
              <a:ext cx="5176972" cy="1679383"/>
            </a:xfrm>
            <a:prstGeom prst="rect">
              <a:avLst/>
            </a:prstGeom>
          </p:spPr>
        </p:pic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6BABEB1C-3360-4AF8-AA52-6253BA97836C}"/>
              </a:ext>
            </a:extLst>
          </p:cNvPr>
          <p:cNvGrpSpPr/>
          <p:nvPr/>
        </p:nvGrpSpPr>
        <p:grpSpPr>
          <a:xfrm>
            <a:off x="2591262" y="2048873"/>
            <a:ext cx="6965103" cy="2211115"/>
            <a:chOff x="2876583" y="2093882"/>
            <a:chExt cx="6965103" cy="2211115"/>
          </a:xfrm>
        </p:grpSpPr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CD20FAB3-E652-4A10-AFFF-760DF13AC0A3}"/>
                </a:ext>
              </a:extLst>
            </p:cNvPr>
            <p:cNvGrpSpPr/>
            <p:nvPr/>
          </p:nvGrpSpPr>
          <p:grpSpPr>
            <a:xfrm>
              <a:off x="2876583" y="2093882"/>
              <a:ext cx="6965103" cy="2210100"/>
              <a:chOff x="2885548" y="2093882"/>
              <a:chExt cx="6965103" cy="2210100"/>
            </a:xfrm>
          </p:grpSpPr>
          <p:pic>
            <p:nvPicPr>
              <p:cNvPr id="29" name="図 28" descr="ロゴ が含まれている画像">
                <a:extLst>
                  <a:ext uri="{FF2B5EF4-FFF2-40B4-BE49-F238E27FC236}">
                    <a16:creationId xmlns:a16="http://schemas.microsoft.com/office/drawing/2014/main" id="{E04992C5-2893-4BD8-A7B9-C9C4CAA7E08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5012"/>
              <a:stretch/>
            </p:blipFill>
            <p:spPr>
              <a:xfrm>
                <a:off x="2885548" y="2093882"/>
                <a:ext cx="1883886" cy="2210100"/>
              </a:xfrm>
              <a:prstGeom prst="rect">
                <a:avLst/>
              </a:prstGeom>
            </p:spPr>
          </p:pic>
          <p:pic>
            <p:nvPicPr>
              <p:cNvPr id="30" name="図 29" descr="ロゴ が含まれている画像">
                <a:extLst>
                  <a:ext uri="{FF2B5EF4-FFF2-40B4-BE49-F238E27FC236}">
                    <a16:creationId xmlns:a16="http://schemas.microsoft.com/office/drawing/2014/main" id="{7B4D72B4-9E9E-4F28-8CCD-EE772DDB644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879" t="23241" r="4728" b="29028"/>
              <a:stretch/>
            </p:blipFill>
            <p:spPr>
              <a:xfrm>
                <a:off x="4673679" y="2527897"/>
                <a:ext cx="5176972" cy="1679383"/>
              </a:xfrm>
              <a:prstGeom prst="rect">
                <a:avLst/>
              </a:prstGeom>
            </p:spPr>
          </p:pic>
        </p:grpSp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AFACD5B3-72EB-49A2-BE5C-361F219BB0FC}"/>
                </a:ext>
              </a:extLst>
            </p:cNvPr>
            <p:cNvGrpSpPr/>
            <p:nvPr/>
          </p:nvGrpSpPr>
          <p:grpSpPr>
            <a:xfrm>
              <a:off x="2876583" y="2094897"/>
              <a:ext cx="1883886" cy="2210100"/>
              <a:chOff x="2876583" y="2093882"/>
              <a:chExt cx="1883886" cy="2210100"/>
            </a:xfrm>
          </p:grpSpPr>
          <p:pic>
            <p:nvPicPr>
              <p:cNvPr id="27" name="図 26" descr="ロゴ が含まれている画像">
                <a:extLst>
                  <a:ext uri="{FF2B5EF4-FFF2-40B4-BE49-F238E27FC236}">
                    <a16:creationId xmlns:a16="http://schemas.microsoft.com/office/drawing/2014/main" id="{37C52253-8D40-4815-B35E-4A0C2838414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5012"/>
              <a:stretch/>
            </p:blipFill>
            <p:spPr>
              <a:xfrm>
                <a:off x="2876583" y="2093882"/>
                <a:ext cx="1883886" cy="2210100"/>
              </a:xfrm>
              <a:prstGeom prst="rect">
                <a:avLst/>
              </a:prstGeom>
            </p:spPr>
          </p:pic>
          <p:sp>
            <p:nvSpPr>
              <p:cNvPr id="28" name="楕円 27">
                <a:extLst>
                  <a:ext uri="{FF2B5EF4-FFF2-40B4-BE49-F238E27FC236}">
                    <a16:creationId xmlns:a16="http://schemas.microsoft.com/office/drawing/2014/main" id="{37481746-4B3E-4AE4-BCCA-C237F9A31276}"/>
                  </a:ext>
                </a:extLst>
              </p:cNvPr>
              <p:cNvSpPr/>
              <p:nvPr/>
            </p:nvSpPr>
            <p:spPr>
              <a:xfrm>
                <a:off x="4278945" y="3684173"/>
                <a:ext cx="304183" cy="303499"/>
              </a:xfrm>
              <a:prstGeom prst="ellipse">
                <a:avLst/>
              </a:prstGeom>
              <a:solidFill>
                <a:srgbClr val="ECC9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46358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906BA-60CB-3CA6-5F72-F5F5A2AF6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6FBA390-3F92-335F-CCCD-DA9FE807B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E20E20-F178-DE37-75DE-C4C632793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73F1598-D74E-160B-A158-F26A1AC35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05961DA-E1F4-FD9D-F72D-9646BE65A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8C4B5FC-6310-14CE-D5D2-B6E5D1945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3F1A1B2-B2F7-5F29-007A-CF9497B78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AB3553A-9C8E-8AD6-1378-845C78325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B099AFC-9B2D-C7F8-DD29-918DA511A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C7FC22-940E-F41C-CE30-93D2FECDA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33CD27C-171B-01D4-C29D-D448406CB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58E6AE3-82B1-97C5-AB53-3301321A1C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C73C4A7-3692-4500-C910-DC1EE81F3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" name="Picture 2" descr="なんて名前？＞食パンの袋をとめる“アレ”の名前知ってる？ « 女子 ...">
            <a:extLst>
              <a:ext uri="{FF2B5EF4-FFF2-40B4-BE49-F238E27FC236}">
                <a16:creationId xmlns:a16="http://schemas.microsoft.com/office/drawing/2014/main" id="{962B5CD5-95E8-4F54-813E-ED92348A0A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33"/>
          <a:stretch/>
        </p:blipFill>
        <p:spPr bwMode="auto">
          <a:xfrm>
            <a:off x="3406549" y="279254"/>
            <a:ext cx="5572125" cy="4202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BDB796D7-BBA2-48D4-ACA3-1B5516B14674}"/>
              </a:ext>
            </a:extLst>
          </p:cNvPr>
          <p:cNvSpPr/>
          <p:nvPr/>
        </p:nvSpPr>
        <p:spPr>
          <a:xfrm>
            <a:off x="226411" y="4759680"/>
            <a:ext cx="3688081" cy="1811964"/>
          </a:xfrm>
          <a:prstGeom prst="roundRect">
            <a:avLst/>
          </a:prstGeom>
          <a:noFill/>
          <a:ln w="57150">
            <a:solidFill>
              <a:srgbClr val="143A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ja-JP" sz="44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Google</a:t>
            </a:r>
            <a:r>
              <a:rPr lang="ja-JP" altLang="en-US" sz="44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検索</a:t>
            </a:r>
            <a:r>
              <a:rPr lang="en-US" altLang="ja-JP" sz="44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?</a:t>
            </a:r>
            <a:endParaRPr lang="ja-JP" altLang="en-US" sz="44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48C1074E-EDAF-4796-A0D7-E62B202225D1}"/>
              </a:ext>
            </a:extLst>
          </p:cNvPr>
          <p:cNvSpPr/>
          <p:nvPr/>
        </p:nvSpPr>
        <p:spPr>
          <a:xfrm>
            <a:off x="4251806" y="4766782"/>
            <a:ext cx="3688081" cy="1811964"/>
          </a:xfrm>
          <a:prstGeom prst="roundRect">
            <a:avLst/>
          </a:prstGeom>
          <a:noFill/>
          <a:ln w="57150">
            <a:solidFill>
              <a:srgbClr val="143A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44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誰かに聞く？</a:t>
            </a:r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521ACB61-1673-40E4-B37F-4DC7F11FEAB4}"/>
              </a:ext>
            </a:extLst>
          </p:cNvPr>
          <p:cNvSpPr/>
          <p:nvPr/>
        </p:nvSpPr>
        <p:spPr>
          <a:xfrm>
            <a:off x="8277201" y="4766782"/>
            <a:ext cx="3688081" cy="1811964"/>
          </a:xfrm>
          <a:prstGeom prst="roundRect">
            <a:avLst/>
          </a:prstGeom>
          <a:noFill/>
          <a:ln w="57150">
            <a:solidFill>
              <a:srgbClr val="143A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44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考える？</a:t>
            </a:r>
          </a:p>
        </p:txBody>
      </p:sp>
    </p:spTree>
    <p:extLst>
      <p:ext uri="{BB962C8B-B14F-4D97-AF65-F5344CB8AC3E}">
        <p14:creationId xmlns:p14="http://schemas.microsoft.com/office/powerpoint/2010/main" val="4267362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8" grpId="0" animBg="1"/>
      <p:bldP spid="4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906BA-60CB-3CA6-5F72-F5F5A2AF6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6FBA390-3F92-335F-CCCD-DA9FE807B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E20E20-F178-DE37-75DE-C4C632793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73F1598-D74E-160B-A158-F26A1AC35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05961DA-E1F4-FD9D-F72D-9646BE65A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8C4B5FC-6310-14CE-D5D2-B6E5D1945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3F1A1B2-B2F7-5F29-007A-CF9497B78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AB3553A-9C8E-8AD6-1378-845C78325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B099AFC-9B2D-C7F8-DD29-918DA511A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C7FC22-940E-F41C-CE30-93D2FECDA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33CD27C-171B-01D4-C29D-D448406CB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58E6AE3-82B1-97C5-AB53-3301321A1C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C73C4A7-3692-4500-C910-DC1EE81F3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図 4">
            <a:extLst>
              <a:ext uri="{FF2B5EF4-FFF2-40B4-BE49-F238E27FC236}">
                <a16:creationId xmlns:a16="http://schemas.microsoft.com/office/drawing/2014/main" id="{E5EC0583-2B06-4610-ACD4-637C33FC00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35260"/>
            <a:ext cx="9184172" cy="6416453"/>
          </a:xfrm>
          <a:prstGeom prst="rect">
            <a:avLst/>
          </a:prstGeom>
        </p:spPr>
      </p:pic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9DD4B25F-F08F-4374-8AC9-AFEC8FBC5C71}"/>
              </a:ext>
            </a:extLst>
          </p:cNvPr>
          <p:cNvGrpSpPr/>
          <p:nvPr/>
        </p:nvGrpSpPr>
        <p:grpSpPr>
          <a:xfrm>
            <a:off x="8933911" y="5850620"/>
            <a:ext cx="2196036" cy="661174"/>
            <a:chOff x="1560028" y="449963"/>
            <a:chExt cx="2196036" cy="661174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3B1A6AF0-5C6C-4534-84FD-5B6FEE039B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0028" y="449963"/>
              <a:ext cx="661174" cy="661174"/>
            </a:xfrm>
            <a:prstGeom prst="rect">
              <a:avLst/>
            </a:prstGeom>
          </p:spPr>
        </p:pic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BBA0697B-BFD1-41DF-9E3A-F527451D5ACE}"/>
                </a:ext>
              </a:extLst>
            </p:cNvPr>
            <p:cNvSpPr txBox="1"/>
            <p:nvPr/>
          </p:nvSpPr>
          <p:spPr>
            <a:xfrm>
              <a:off x="2112665" y="654713"/>
              <a:ext cx="16433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 err="1"/>
                <a:t>ChatGPT</a:t>
              </a:r>
              <a:r>
                <a:rPr kumimoji="1" lang="ja-JP" altLang="en-US" dirty="0"/>
                <a:t>より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7150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906BA-60CB-3CA6-5F72-F5F5A2AF6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6FBA390-3F92-335F-CCCD-DA9FE807B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E20E20-F178-DE37-75DE-C4C632793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73F1598-D74E-160B-A158-F26A1AC35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05961DA-E1F4-FD9D-F72D-9646BE65A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8C4B5FC-6310-14CE-D5D2-B6E5D1945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3F1A1B2-B2F7-5F29-007A-CF9497B78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AB3553A-9C8E-8AD6-1378-845C78325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B099AFC-9B2D-C7F8-DD29-918DA511A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C7FC22-940E-F41C-CE30-93D2FECDA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33CD27C-171B-01D4-C29D-D448406CB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58E6AE3-82B1-97C5-AB53-3301321A1C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C73C4A7-3692-4500-C910-DC1EE81F3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8D68BE50-7E33-46D8-8517-088011F60627}"/>
              </a:ext>
            </a:extLst>
          </p:cNvPr>
          <p:cNvSpPr/>
          <p:nvPr/>
        </p:nvSpPr>
        <p:spPr>
          <a:xfrm>
            <a:off x="2339187" y="2195188"/>
            <a:ext cx="7513320" cy="1332872"/>
          </a:xfrm>
          <a:prstGeom prst="roundRect">
            <a:avLst/>
          </a:prstGeom>
          <a:noFill/>
          <a:ln w="57150">
            <a:solidFill>
              <a:srgbClr val="143A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ja-JP" sz="4400" b="1" dirty="0">
                <a:solidFill>
                  <a:srgbClr val="143A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Q.</a:t>
            </a:r>
            <a:r>
              <a:rPr lang="ja-JP" altLang="en-US" sz="4400" b="1" dirty="0">
                <a:solidFill>
                  <a:srgbClr val="143A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自分のスケジュールは？</a:t>
            </a: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B3A4652F-ABE8-4D49-B9FA-775614EE9255}"/>
              </a:ext>
            </a:extLst>
          </p:cNvPr>
          <p:cNvSpPr/>
          <p:nvPr/>
        </p:nvSpPr>
        <p:spPr>
          <a:xfrm>
            <a:off x="1853028" y="3942995"/>
            <a:ext cx="2600609" cy="1277686"/>
          </a:xfrm>
          <a:prstGeom prst="roundRect">
            <a:avLst/>
          </a:prstGeom>
          <a:noFill/>
          <a:ln w="57150">
            <a:solidFill>
              <a:srgbClr val="143A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3600" b="1" dirty="0">
                <a:solidFill>
                  <a:srgbClr val="143A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学校</a:t>
            </a: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AA8941C-F748-42AF-9755-2A2FBD8124B5}"/>
              </a:ext>
            </a:extLst>
          </p:cNvPr>
          <p:cNvSpPr/>
          <p:nvPr/>
        </p:nvSpPr>
        <p:spPr>
          <a:xfrm>
            <a:off x="4692639" y="3942995"/>
            <a:ext cx="2600609" cy="1277686"/>
          </a:xfrm>
          <a:prstGeom prst="roundRect">
            <a:avLst/>
          </a:prstGeom>
          <a:noFill/>
          <a:ln w="57150">
            <a:solidFill>
              <a:srgbClr val="143A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3600" b="1" dirty="0">
                <a:solidFill>
                  <a:srgbClr val="143A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夜ごはん</a:t>
            </a: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CDFCA640-481B-4838-98F8-1AEBAF658B43}"/>
              </a:ext>
            </a:extLst>
          </p:cNvPr>
          <p:cNvSpPr/>
          <p:nvPr/>
        </p:nvSpPr>
        <p:spPr>
          <a:xfrm>
            <a:off x="7568028" y="3942995"/>
            <a:ext cx="2600609" cy="1277686"/>
          </a:xfrm>
          <a:prstGeom prst="roundRect">
            <a:avLst/>
          </a:prstGeom>
          <a:noFill/>
          <a:ln w="57150">
            <a:solidFill>
              <a:srgbClr val="143A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3600" b="1" dirty="0">
                <a:solidFill>
                  <a:srgbClr val="143A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納期</a:t>
            </a:r>
          </a:p>
        </p:txBody>
      </p:sp>
    </p:spTree>
    <p:extLst>
      <p:ext uri="{BB962C8B-B14F-4D97-AF65-F5344CB8AC3E}">
        <p14:creationId xmlns:p14="http://schemas.microsoft.com/office/powerpoint/2010/main" val="329322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5" grpId="0" animBg="1"/>
      <p:bldP spid="31" grpId="0" animBg="1"/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906BA-60CB-3CA6-5F72-F5F5A2AF6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6FBA390-3F92-335F-CCCD-DA9FE807B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E20E20-F178-DE37-75DE-C4C632793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73F1598-D74E-160B-A158-F26A1AC35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05961DA-E1F4-FD9D-F72D-9646BE65A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8C4B5FC-6310-14CE-D5D2-B6E5D1945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3F1A1B2-B2F7-5F29-007A-CF9497B78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AB3553A-9C8E-8AD6-1378-845C78325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B099AFC-9B2D-C7F8-DD29-918DA511A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C7FC22-940E-F41C-CE30-93D2FECDA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33CD27C-171B-01D4-C29D-D448406CB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58E6AE3-82B1-97C5-AB53-3301321A1C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C73C4A7-3692-4500-C910-DC1EE81F3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" name="図 29">
            <a:extLst>
              <a:ext uri="{FF2B5EF4-FFF2-40B4-BE49-F238E27FC236}">
                <a16:creationId xmlns:a16="http://schemas.microsoft.com/office/drawing/2014/main" id="{2FCF5CEE-1BEC-4429-A773-FF3B8D04FD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057" y="1402080"/>
            <a:ext cx="9798854" cy="4990960"/>
          </a:xfrm>
          <a:prstGeom prst="rect">
            <a:avLst/>
          </a:prstGeom>
        </p:spPr>
      </p:pic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A23A2572-97EC-4D33-A2C7-9B47A5DB060A}"/>
              </a:ext>
            </a:extLst>
          </p:cNvPr>
          <p:cNvGrpSpPr/>
          <p:nvPr/>
        </p:nvGrpSpPr>
        <p:grpSpPr>
          <a:xfrm>
            <a:off x="8933911" y="5850620"/>
            <a:ext cx="2196036" cy="661174"/>
            <a:chOff x="1560028" y="449963"/>
            <a:chExt cx="2196036" cy="661174"/>
          </a:xfrm>
        </p:grpSpPr>
        <p:pic>
          <p:nvPicPr>
            <p:cNvPr id="32" name="図 31">
              <a:extLst>
                <a:ext uri="{FF2B5EF4-FFF2-40B4-BE49-F238E27FC236}">
                  <a16:creationId xmlns:a16="http://schemas.microsoft.com/office/drawing/2014/main" id="{54584122-18A2-4FBF-86DE-96EE00F1A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0028" y="449963"/>
              <a:ext cx="661174" cy="661174"/>
            </a:xfrm>
            <a:prstGeom prst="rect">
              <a:avLst/>
            </a:prstGeom>
          </p:spPr>
        </p:pic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5FD3ABF7-8A08-4E62-B758-E5269A653062}"/>
                </a:ext>
              </a:extLst>
            </p:cNvPr>
            <p:cNvSpPr txBox="1"/>
            <p:nvPr/>
          </p:nvSpPr>
          <p:spPr>
            <a:xfrm>
              <a:off x="2112665" y="654713"/>
              <a:ext cx="16433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 err="1"/>
                <a:t>ChatGPT</a:t>
              </a:r>
              <a:r>
                <a:rPr kumimoji="1" lang="ja-JP" altLang="en-US" dirty="0"/>
                <a:t>より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1524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906BA-60CB-3CA6-5F72-F5F5A2AF6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6FBA390-3F92-335F-CCCD-DA9FE807B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E20E20-F178-DE37-75DE-C4C632793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73F1598-D74E-160B-A158-F26A1AC35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05961DA-E1F4-FD9D-F72D-9646BE65A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8C4B5FC-6310-14CE-D5D2-B6E5D1945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3F1A1B2-B2F7-5F29-007A-CF9497B78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AB3553A-9C8E-8AD6-1378-845C78325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B099AFC-9B2D-C7F8-DD29-918DA511A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C7FC22-940E-F41C-CE30-93D2FECDA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33CD27C-171B-01D4-C29D-D448406CB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58E6AE3-82B1-97C5-AB53-3301321A1C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C73C4A7-3692-4500-C910-DC1EE81F3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DE31675D-9455-46FF-9F9F-910E5FEFAECC}"/>
              </a:ext>
            </a:extLst>
          </p:cNvPr>
          <p:cNvSpPr/>
          <p:nvPr/>
        </p:nvSpPr>
        <p:spPr>
          <a:xfrm>
            <a:off x="1711818" y="2347240"/>
            <a:ext cx="8768058" cy="1811964"/>
          </a:xfrm>
          <a:prstGeom prst="roundRect">
            <a:avLst/>
          </a:prstGeom>
          <a:noFill/>
          <a:ln w="57150">
            <a:solidFill>
              <a:srgbClr val="143A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440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自分のための</a:t>
            </a:r>
            <a:r>
              <a:rPr lang="en-US" altLang="ja-JP" sz="440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AI</a:t>
            </a:r>
            <a:r>
              <a:rPr lang="ja-JP" altLang="en-US" sz="440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がいたら？？</a:t>
            </a:r>
            <a:endParaRPr lang="ja-JP" altLang="en-US" sz="44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</p:txBody>
      </p:sp>
    </p:spTree>
    <p:extLst>
      <p:ext uri="{BB962C8B-B14F-4D97-AF65-F5344CB8AC3E}">
        <p14:creationId xmlns:p14="http://schemas.microsoft.com/office/powerpoint/2010/main" val="3117256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906BA-60CB-3CA6-5F72-F5F5A2AF6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6FBA390-3F92-335F-CCCD-DA9FE807B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E20E20-F178-DE37-75DE-C4C632793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73F1598-D74E-160B-A158-F26A1AC35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05961DA-E1F4-FD9D-F72D-9646BE65A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8C4B5FC-6310-14CE-D5D2-B6E5D1945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3F1A1B2-B2F7-5F29-007A-CF9497B78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AB3553A-9C8E-8AD6-1378-845C78325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B099AFC-9B2D-C7F8-DD29-918DA511A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C7FC22-940E-F41C-CE30-93D2FECDA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33CD27C-171B-01D4-C29D-D448406CB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58E6AE3-82B1-97C5-AB53-3301321A1C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C73C4A7-3692-4500-C910-DC1EE81F3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タイトル 1">
            <a:extLst>
              <a:ext uri="{FF2B5EF4-FFF2-40B4-BE49-F238E27FC236}">
                <a16:creationId xmlns:a16="http://schemas.microsoft.com/office/drawing/2014/main" id="{DBC7B625-B460-48D7-AD2E-2006388344AC}"/>
              </a:ext>
            </a:extLst>
          </p:cNvPr>
          <p:cNvSpPr txBox="1">
            <a:spLocks/>
          </p:cNvSpPr>
          <p:nvPr/>
        </p:nvSpPr>
        <p:spPr>
          <a:xfrm>
            <a:off x="2103404" y="1248363"/>
            <a:ext cx="4451032" cy="8098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0" lang="en-US" altLang="ja-JP" sz="2800" u="sng" dirty="0">
                <a:solidFill>
                  <a:srgbClr val="42B0E3"/>
                </a:solidFill>
                <a:latin typeface="HGP創英角ｺﾞｼｯｸUB"/>
                <a:ea typeface="HGP創英角ｺﾞｼｯｸUB"/>
              </a:rPr>
              <a:t>Y</a:t>
            </a:r>
            <a:r>
              <a:rPr kumimoji="0" lang="en-US" altLang="ja-JP" sz="28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our </a:t>
            </a:r>
            <a:r>
              <a:rPr kumimoji="0" lang="en-US" altLang="ja-JP" sz="2800" u="sng" dirty="0">
                <a:solidFill>
                  <a:srgbClr val="42B0E3"/>
                </a:solidFill>
                <a:latin typeface="HGP創英角ｺﾞｼｯｸUB"/>
                <a:ea typeface="HGP創英角ｺﾞｼｯｸUB"/>
              </a:rPr>
              <a:t>U</a:t>
            </a:r>
            <a:r>
              <a:rPr kumimoji="0" lang="en-US" altLang="ja-JP" sz="28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nique </a:t>
            </a:r>
            <a:r>
              <a:rPr kumimoji="0" lang="en-US" altLang="ja-JP" sz="2800" u="sng" dirty="0">
                <a:solidFill>
                  <a:srgbClr val="42B0E3"/>
                </a:solidFill>
                <a:latin typeface="HGP創英角ｺﾞｼｯｸUB"/>
                <a:ea typeface="HGP創英角ｺﾞｼｯｸUB"/>
              </a:rPr>
              <a:t>K</a:t>
            </a:r>
            <a:r>
              <a:rPr kumimoji="0" lang="en-US" altLang="ja-JP" sz="28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ind </a:t>
            </a:r>
            <a:r>
              <a:rPr kumimoji="0" lang="en-US" altLang="ja-JP" sz="2800" u="sng" dirty="0">
                <a:solidFill>
                  <a:srgbClr val="42B0E3"/>
                </a:solidFill>
                <a:latin typeface="HGP創英角ｺﾞｼｯｸUB"/>
                <a:ea typeface="HGP創英角ｺﾞｼｯｸUB"/>
              </a:rPr>
              <a:t>A</a:t>
            </a:r>
            <a:r>
              <a:rPr kumimoji="0" lang="en-US" altLang="ja-JP" sz="28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I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0761372E-2399-408B-9D8B-02CF10F3D2C0}"/>
              </a:ext>
            </a:extLst>
          </p:cNvPr>
          <p:cNvSpPr txBox="1"/>
          <p:nvPr/>
        </p:nvSpPr>
        <p:spPr>
          <a:xfrm>
            <a:off x="4881393" y="4320400"/>
            <a:ext cx="61004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ja-JP" altLang="en-US" sz="2800" dirty="0">
                <a:solidFill>
                  <a:srgbClr val="42B0E3"/>
                </a:solidFill>
                <a:latin typeface="HGP創英角ｺﾞｼｯｸUB"/>
                <a:ea typeface="HGP創英角ｺﾞｼｯｸUB"/>
              </a:rPr>
              <a:t>あなた</a:t>
            </a:r>
            <a:r>
              <a:rPr kumimoji="0" lang="ja-JP" altLang="en-US" sz="24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の</a:t>
            </a:r>
            <a:r>
              <a:rPr kumimoji="0" lang="ja-JP" altLang="en-US" sz="28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ため</a:t>
            </a:r>
            <a:r>
              <a:rPr kumimoji="0" lang="ja-JP" altLang="en-US" sz="24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の</a:t>
            </a:r>
            <a:r>
              <a:rPr kumimoji="0" lang="ja-JP" altLang="en-US" sz="2800" dirty="0">
                <a:solidFill>
                  <a:srgbClr val="42B0E3"/>
                </a:solidFill>
                <a:latin typeface="HGP創英角ｺﾞｼｯｸUB"/>
                <a:ea typeface="HGP創英角ｺﾞｼｯｸUB"/>
              </a:rPr>
              <a:t>優</a:t>
            </a:r>
            <a:r>
              <a:rPr kumimoji="0" lang="ja-JP" altLang="en-US" sz="2400" dirty="0">
                <a:solidFill>
                  <a:srgbClr val="42B0E3"/>
                </a:solidFill>
                <a:latin typeface="HGP創英角ｺﾞｼｯｸUB"/>
                <a:ea typeface="HGP創英角ｺﾞｼｯｸUB"/>
              </a:rPr>
              <a:t>しい</a:t>
            </a:r>
            <a:r>
              <a:rPr kumimoji="0" lang="en-US" altLang="ja-JP" sz="2800" dirty="0">
                <a:solidFill>
                  <a:srgbClr val="42B0E3"/>
                </a:solidFill>
                <a:latin typeface="HGP創英角ｺﾞｼｯｸUB"/>
                <a:ea typeface="HGP創英角ｺﾞｼｯｸUB"/>
              </a:rPr>
              <a:t>AI</a:t>
            </a:r>
            <a:endParaRPr kumimoji="0" lang="ja-JP" altLang="ja-JP" sz="2400" dirty="0">
              <a:solidFill>
                <a:srgbClr val="42B0E3"/>
              </a:solidFill>
              <a:latin typeface="HGP創英角ｺﾞｼｯｸUB"/>
              <a:ea typeface="HGP創英角ｺﾞｼｯｸUB"/>
            </a:endParaRPr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EAC31F73-0B9D-4FEC-8176-0C584B88F849}"/>
              </a:ext>
            </a:extLst>
          </p:cNvPr>
          <p:cNvCxnSpPr>
            <a:cxnSpLocks/>
          </p:cNvCxnSpPr>
          <p:nvPr/>
        </p:nvCxnSpPr>
        <p:spPr>
          <a:xfrm>
            <a:off x="5970485" y="4922794"/>
            <a:ext cx="638660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9B722E9D-AC4C-47E0-BBC2-645EA46A6938}"/>
              </a:ext>
            </a:extLst>
          </p:cNvPr>
          <p:cNvCxnSpPr>
            <a:cxnSpLocks/>
          </p:cNvCxnSpPr>
          <p:nvPr/>
        </p:nvCxnSpPr>
        <p:spPr>
          <a:xfrm flipV="1">
            <a:off x="0" y="1961814"/>
            <a:ext cx="7705809" cy="2866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6CA6A67E-1726-4E4D-88B4-3E08C20BA6D6}"/>
              </a:ext>
            </a:extLst>
          </p:cNvPr>
          <p:cNvGrpSpPr/>
          <p:nvPr/>
        </p:nvGrpSpPr>
        <p:grpSpPr>
          <a:xfrm>
            <a:off x="2876583" y="2093882"/>
            <a:ext cx="6965103" cy="2210100"/>
            <a:chOff x="2885548" y="2093882"/>
            <a:chExt cx="6965103" cy="2210100"/>
          </a:xfrm>
        </p:grpSpPr>
        <p:pic>
          <p:nvPicPr>
            <p:cNvPr id="33" name="図 32" descr="ロゴ が含まれている画像">
              <a:extLst>
                <a:ext uri="{FF2B5EF4-FFF2-40B4-BE49-F238E27FC236}">
                  <a16:creationId xmlns:a16="http://schemas.microsoft.com/office/drawing/2014/main" id="{6D6A9AFA-7BCC-41CE-B713-6357C860D9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012"/>
            <a:stretch/>
          </p:blipFill>
          <p:spPr>
            <a:xfrm>
              <a:off x="2885548" y="2093882"/>
              <a:ext cx="1883886" cy="2210100"/>
            </a:xfrm>
            <a:prstGeom prst="rect">
              <a:avLst/>
            </a:prstGeom>
          </p:spPr>
        </p:pic>
        <p:pic>
          <p:nvPicPr>
            <p:cNvPr id="36" name="図 35" descr="ロゴ が含まれている画像">
              <a:extLst>
                <a:ext uri="{FF2B5EF4-FFF2-40B4-BE49-F238E27FC236}">
                  <a16:creationId xmlns:a16="http://schemas.microsoft.com/office/drawing/2014/main" id="{BB99BD2B-4387-40D6-B6A6-1E7DE5BBFD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879" t="23241" r="4728" b="29028"/>
            <a:stretch/>
          </p:blipFill>
          <p:spPr>
            <a:xfrm>
              <a:off x="4673679" y="2527897"/>
              <a:ext cx="5176972" cy="1679383"/>
            </a:xfrm>
            <a:prstGeom prst="rect">
              <a:avLst/>
            </a:prstGeom>
          </p:spPr>
        </p:pic>
      </p:grpSp>
      <p:pic>
        <p:nvPicPr>
          <p:cNvPr id="28" name="図 27" descr="ロゴ が含まれている画像">
            <a:extLst>
              <a:ext uri="{FF2B5EF4-FFF2-40B4-BE49-F238E27FC236}">
                <a16:creationId xmlns:a16="http://schemas.microsoft.com/office/drawing/2014/main" id="{8DA82C5B-E2D4-49E4-B304-5C67C20F76D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012"/>
          <a:stretch/>
        </p:blipFill>
        <p:spPr>
          <a:xfrm>
            <a:off x="2876583" y="2094897"/>
            <a:ext cx="1883886" cy="2210100"/>
          </a:xfrm>
          <a:prstGeom prst="rect">
            <a:avLst/>
          </a:prstGeom>
        </p:spPr>
      </p:pic>
      <p:sp>
        <p:nvSpPr>
          <p:cNvPr id="29" name="楕円 28">
            <a:extLst>
              <a:ext uri="{FF2B5EF4-FFF2-40B4-BE49-F238E27FC236}">
                <a16:creationId xmlns:a16="http://schemas.microsoft.com/office/drawing/2014/main" id="{264CC45C-AD84-41AE-90AE-373F1776825F}"/>
              </a:ext>
            </a:extLst>
          </p:cNvPr>
          <p:cNvSpPr/>
          <p:nvPr/>
        </p:nvSpPr>
        <p:spPr>
          <a:xfrm>
            <a:off x="4278945" y="3685188"/>
            <a:ext cx="304183" cy="303499"/>
          </a:xfrm>
          <a:prstGeom prst="ellipse">
            <a:avLst/>
          </a:prstGeom>
          <a:solidFill>
            <a:srgbClr val="ECC9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2836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8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"/>
                            </p:stCondLst>
                            <p:childTnLst>
                              <p:par>
                                <p:cTn id="1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B5A10D49-60D4-4082-BF19-2758AFCE6107}"/>
              </a:ext>
            </a:extLst>
          </p:cNvPr>
          <p:cNvSpPr/>
          <p:nvPr/>
        </p:nvSpPr>
        <p:spPr>
          <a:xfrm>
            <a:off x="1531550" y="1510174"/>
            <a:ext cx="9265921" cy="4471526"/>
          </a:xfrm>
          <a:prstGeom prst="roundRect">
            <a:avLst>
              <a:gd name="adj" fmla="val 3034"/>
            </a:avLst>
          </a:prstGeom>
          <a:solidFill>
            <a:schemeClr val="bg1">
              <a:lumMod val="85000"/>
              <a:alpha val="16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50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B4B2330-6168-9876-D2E9-424977F00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54" y="2036381"/>
            <a:ext cx="8047896" cy="418012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1371600" indent="-1371600">
              <a:buFont typeface="+mj-ea"/>
              <a:buAutoNum type="circleNumDbPlain"/>
            </a:pPr>
            <a:r>
              <a:rPr lang="en-US" altLang="ja-JP" sz="4400" b="1" dirty="0">
                <a:solidFill>
                  <a:srgbClr val="143A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YUKA</a:t>
            </a:r>
            <a:r>
              <a:rPr lang="ja-JP" altLang="en-US" sz="4400" b="1" dirty="0">
                <a:solidFill>
                  <a:srgbClr val="143A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の強み</a:t>
            </a:r>
            <a:endParaRPr lang="en-US" altLang="ja-JP" sz="4400" b="1" dirty="0">
              <a:solidFill>
                <a:srgbClr val="143A66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1371600" indent="-1371600">
              <a:buFont typeface="+mj-ea"/>
              <a:buAutoNum type="circleNumDbPlain"/>
            </a:pPr>
            <a:r>
              <a:rPr lang="en-US" altLang="ja-JP" sz="4400" b="1" dirty="0">
                <a:solidFill>
                  <a:srgbClr val="143A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YUKA</a:t>
            </a:r>
            <a:r>
              <a:rPr lang="ja-JP" altLang="en-US" sz="4400" b="1" dirty="0">
                <a:solidFill>
                  <a:srgbClr val="143A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に聞いてみよう！</a:t>
            </a:r>
            <a:endParaRPr lang="en-US" altLang="ja-JP" sz="4400" b="1" dirty="0">
              <a:solidFill>
                <a:srgbClr val="143A66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1371600" indent="-1371600">
              <a:buFont typeface="+mj-ea"/>
              <a:buAutoNum type="circleNumDbPlain"/>
            </a:pPr>
            <a:r>
              <a:rPr lang="en-US" altLang="ja-JP" sz="4400" b="1" dirty="0">
                <a:solidFill>
                  <a:srgbClr val="143A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YUKA</a:t>
            </a:r>
            <a:r>
              <a:rPr lang="ja-JP" altLang="en-US" sz="4400" b="1" dirty="0">
                <a:solidFill>
                  <a:srgbClr val="143A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の今後</a:t>
            </a:r>
            <a:endParaRPr lang="en-US" altLang="ja-JP" sz="4400" b="1" dirty="0">
              <a:solidFill>
                <a:srgbClr val="143A66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9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883757A3-BE02-427E-83C9-77B5B22AB83B}"/>
              </a:ext>
            </a:extLst>
          </p:cNvPr>
          <p:cNvSpPr/>
          <p:nvPr/>
        </p:nvSpPr>
        <p:spPr>
          <a:xfrm>
            <a:off x="1531550" y="1510174"/>
            <a:ext cx="9265921" cy="730204"/>
          </a:xfrm>
          <a:prstGeom prst="roundRect">
            <a:avLst/>
          </a:prstGeom>
          <a:noFill/>
          <a:ln w="57150">
            <a:solidFill>
              <a:srgbClr val="143A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4400" b="1" dirty="0">
                <a:solidFill>
                  <a:srgbClr val="143A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アウトライン</a:t>
            </a:r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DC9DF339-8A2C-4502-B628-43BBF3A6285E}"/>
              </a:ext>
            </a:extLst>
          </p:cNvPr>
          <p:cNvGrpSpPr>
            <a:grpSpLocks noChangeAspect="1"/>
          </p:cNvGrpSpPr>
          <p:nvPr/>
        </p:nvGrpSpPr>
        <p:grpSpPr>
          <a:xfrm>
            <a:off x="9898911" y="137161"/>
            <a:ext cx="2300173" cy="730204"/>
            <a:chOff x="1787687" y="4112124"/>
            <a:chExt cx="6965103" cy="2211115"/>
          </a:xfrm>
        </p:grpSpPr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220548D6-E989-4622-BBAA-BF9DA02ABC64}"/>
                </a:ext>
              </a:extLst>
            </p:cNvPr>
            <p:cNvGrpSpPr/>
            <p:nvPr/>
          </p:nvGrpSpPr>
          <p:grpSpPr>
            <a:xfrm>
              <a:off x="1787687" y="4112124"/>
              <a:ext cx="6965103" cy="2210100"/>
              <a:chOff x="2885548" y="2093882"/>
              <a:chExt cx="6965103" cy="2210100"/>
            </a:xfrm>
          </p:grpSpPr>
          <p:pic>
            <p:nvPicPr>
              <p:cNvPr id="31" name="図 30" descr="ロゴ が含まれている画像">
                <a:extLst>
                  <a:ext uri="{FF2B5EF4-FFF2-40B4-BE49-F238E27FC236}">
                    <a16:creationId xmlns:a16="http://schemas.microsoft.com/office/drawing/2014/main" id="{5B74401D-FE47-44EB-A624-2053FDCB077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5012"/>
              <a:stretch/>
            </p:blipFill>
            <p:spPr>
              <a:xfrm>
                <a:off x="2885548" y="2093882"/>
                <a:ext cx="1883886" cy="2210100"/>
              </a:xfrm>
              <a:prstGeom prst="rect">
                <a:avLst/>
              </a:prstGeom>
            </p:spPr>
          </p:pic>
          <p:pic>
            <p:nvPicPr>
              <p:cNvPr id="32" name="図 31" descr="ロゴ が含まれている画像">
                <a:extLst>
                  <a:ext uri="{FF2B5EF4-FFF2-40B4-BE49-F238E27FC236}">
                    <a16:creationId xmlns:a16="http://schemas.microsoft.com/office/drawing/2014/main" id="{65EE1619-5D47-44B1-A131-B3E649CFB8C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879" t="23241" r="4728" b="29028"/>
              <a:stretch/>
            </p:blipFill>
            <p:spPr>
              <a:xfrm>
                <a:off x="4673679" y="2527897"/>
                <a:ext cx="5176972" cy="1679383"/>
              </a:xfrm>
              <a:prstGeom prst="rect">
                <a:avLst/>
              </a:prstGeom>
            </p:spPr>
          </p:pic>
        </p:grpSp>
        <p:pic>
          <p:nvPicPr>
            <p:cNvPr id="29" name="図 28" descr="ロゴ が含まれている画像">
              <a:extLst>
                <a:ext uri="{FF2B5EF4-FFF2-40B4-BE49-F238E27FC236}">
                  <a16:creationId xmlns:a16="http://schemas.microsoft.com/office/drawing/2014/main" id="{95DE996B-9E5C-4A33-B4D9-64A2E92C6C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012"/>
            <a:stretch/>
          </p:blipFill>
          <p:spPr>
            <a:xfrm>
              <a:off x="1787687" y="4113139"/>
              <a:ext cx="1883886" cy="2210100"/>
            </a:xfrm>
            <a:prstGeom prst="rect">
              <a:avLst/>
            </a:prstGeom>
          </p:spPr>
        </p:pic>
        <p:sp>
          <p:nvSpPr>
            <p:cNvPr id="30" name="楕円 29">
              <a:extLst>
                <a:ext uri="{FF2B5EF4-FFF2-40B4-BE49-F238E27FC236}">
                  <a16:creationId xmlns:a16="http://schemas.microsoft.com/office/drawing/2014/main" id="{7BAF0BFA-7E46-44FB-8C32-AD748F3934F4}"/>
                </a:ext>
              </a:extLst>
            </p:cNvPr>
            <p:cNvSpPr/>
            <p:nvPr/>
          </p:nvSpPr>
          <p:spPr>
            <a:xfrm>
              <a:off x="3190049" y="5703430"/>
              <a:ext cx="304183" cy="303499"/>
            </a:xfrm>
            <a:prstGeom prst="ellipse">
              <a:avLst/>
            </a:prstGeom>
            <a:solidFill>
              <a:srgbClr val="ECC9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42677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906BA-60CB-3CA6-5F72-F5F5A2AF6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6FBA390-3F92-335F-CCCD-DA9FE807B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E20E20-F178-DE37-75DE-C4C632793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73F1598-D74E-160B-A158-F26A1AC35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05961DA-E1F4-FD9D-F72D-9646BE65A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8C4B5FC-6310-14CE-D5D2-B6E5D1945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3F1A1B2-B2F7-5F29-007A-CF9497B78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AB3553A-9C8E-8AD6-1378-845C78325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B099AFC-9B2D-C7F8-DD29-918DA511A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C7FC22-940E-F41C-CE30-93D2FECDA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33CD27C-171B-01D4-C29D-D448406CB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58E6AE3-82B1-97C5-AB53-3301321A1C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C73C4A7-3692-4500-C910-DC1EE81F3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8D68BE50-7E33-46D8-8517-088011F60627}"/>
              </a:ext>
            </a:extLst>
          </p:cNvPr>
          <p:cNvSpPr/>
          <p:nvPr/>
        </p:nvSpPr>
        <p:spPr>
          <a:xfrm>
            <a:off x="3230728" y="754834"/>
            <a:ext cx="5974080" cy="837572"/>
          </a:xfrm>
          <a:prstGeom prst="roundRect">
            <a:avLst/>
          </a:prstGeom>
          <a:noFill/>
          <a:ln w="57150">
            <a:solidFill>
              <a:srgbClr val="143A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3600" b="1" dirty="0">
                <a:solidFill>
                  <a:srgbClr val="143A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一般的な</a:t>
            </a:r>
            <a:r>
              <a:rPr lang="en-US" altLang="ja-JP" sz="3600" b="1" dirty="0">
                <a:solidFill>
                  <a:srgbClr val="143A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lang="ja-JP" altLang="en-US" sz="3600" b="1" dirty="0">
                <a:solidFill>
                  <a:srgbClr val="143A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アプリ</a:t>
            </a: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A1840A30-78EA-48A7-8801-DB76871BB6CC}"/>
              </a:ext>
            </a:extLst>
          </p:cNvPr>
          <p:cNvSpPr/>
          <p:nvPr/>
        </p:nvSpPr>
        <p:spPr>
          <a:xfrm>
            <a:off x="3545888" y="1958618"/>
            <a:ext cx="5099916" cy="4331327"/>
          </a:xfrm>
          <a:prstGeom prst="ellipse">
            <a:avLst/>
          </a:prstGeom>
          <a:solidFill>
            <a:schemeClr val="bg2">
              <a:lumMod val="90000"/>
            </a:schemeClr>
          </a:solidFill>
          <a:ln w="76200">
            <a:solidFill>
              <a:srgbClr val="143A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ja-JP" altLang="en-US" sz="4800" dirty="0">
                <a:solidFill>
                  <a:schemeClr val="accent4">
                    <a:lumMod val="76000"/>
                  </a:schemeClr>
                </a:solidFill>
                <a:latin typeface="HGP創英角ｺﾞｼｯｸUB"/>
                <a:ea typeface="HGP創英角ｺﾞｼｯｸUB"/>
              </a:rPr>
              <a:t>情報源が</a:t>
            </a:r>
            <a:endParaRPr lang="en-US" altLang="ja-JP" sz="4800" dirty="0">
              <a:solidFill>
                <a:schemeClr val="accent4">
                  <a:lumMod val="76000"/>
                </a:schemeClr>
              </a:solidFill>
              <a:latin typeface="HGP創英角ｺﾞｼｯｸUB"/>
              <a:ea typeface="HGP創英角ｺﾞｼｯｸUB"/>
            </a:endParaRPr>
          </a:p>
          <a:p>
            <a:pPr algn="ctr"/>
            <a:r>
              <a:rPr kumimoji="1" lang="ja-JP" altLang="en-US" sz="4800" dirty="0">
                <a:solidFill>
                  <a:schemeClr val="accent4">
                    <a:lumMod val="76000"/>
                  </a:schemeClr>
                </a:solidFill>
                <a:latin typeface="HGP創英角ｺﾞｼｯｸUB"/>
                <a:ea typeface="HGP創英角ｺﾞｼｯｸUB"/>
              </a:rPr>
              <a:t>インターネット</a:t>
            </a:r>
            <a:endParaRPr lang="ja-JP" altLang="en-US" sz="4800" dirty="0">
              <a:solidFill>
                <a:schemeClr val="accent4">
                  <a:lumMod val="76000"/>
                </a:schemeClr>
              </a:solidFill>
              <a:latin typeface="HGP創英角ｺﾞｼｯｸUB"/>
              <a:ea typeface="HGP創英角ｺﾞｼｯｸUB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C28D052F-F400-4C36-91E0-39EF9BA3C3A0}"/>
              </a:ext>
            </a:extLst>
          </p:cNvPr>
          <p:cNvSpPr/>
          <p:nvPr/>
        </p:nvSpPr>
        <p:spPr>
          <a:xfrm>
            <a:off x="3230423" y="778950"/>
            <a:ext cx="5974080" cy="837572"/>
          </a:xfrm>
          <a:prstGeom prst="roundRect">
            <a:avLst/>
          </a:prstGeom>
          <a:noFill/>
          <a:ln w="57150">
            <a:solidFill>
              <a:srgbClr val="143A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ja-JP" sz="3600" b="1" dirty="0">
                <a:solidFill>
                  <a:srgbClr val="143A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YUKA</a:t>
            </a:r>
            <a:endParaRPr lang="ja-JP" altLang="en-US" sz="3600" b="1" dirty="0">
              <a:solidFill>
                <a:srgbClr val="143A66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" name="円柱 27">
            <a:extLst>
              <a:ext uri="{FF2B5EF4-FFF2-40B4-BE49-F238E27FC236}">
                <a16:creationId xmlns:a16="http://schemas.microsoft.com/office/drawing/2014/main" id="{534A2045-85FD-4454-9AAF-183AECD70A32}"/>
              </a:ext>
            </a:extLst>
          </p:cNvPr>
          <p:cNvSpPr/>
          <p:nvPr/>
        </p:nvSpPr>
        <p:spPr>
          <a:xfrm>
            <a:off x="4193519" y="2061105"/>
            <a:ext cx="3804653" cy="4126351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 w="76200">
            <a:solidFill>
              <a:srgbClr val="143A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ja-JP" altLang="en-US" sz="48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情報源が</a:t>
            </a:r>
            <a:endParaRPr kumimoji="1" lang="en-US" altLang="ja-JP" sz="48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  <a:p>
            <a:pPr algn="ctr"/>
            <a:r>
              <a:rPr kumimoji="1" lang="ja-JP" altLang="en-US" sz="48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データベース</a:t>
            </a:r>
            <a:endParaRPr lang="ja-JP" altLang="en-US" sz="48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</p:txBody>
      </p:sp>
      <p:sp>
        <p:nvSpPr>
          <p:cNvPr id="33" name="コンテンツ プレースホルダー 2">
            <a:extLst>
              <a:ext uri="{FF2B5EF4-FFF2-40B4-BE49-F238E27FC236}">
                <a16:creationId xmlns:a16="http://schemas.microsoft.com/office/drawing/2014/main" id="{784E2B81-81E3-4889-8315-DA3D5959A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0" y="3332250"/>
            <a:ext cx="6126480" cy="2004714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kumimoji="1" lang="ja-JP" altLang="en-US" sz="2800" b="1" dirty="0">
                <a:solidFill>
                  <a:srgbClr val="143A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確実な情報を格納できる</a:t>
            </a:r>
            <a:endParaRPr kumimoji="1" lang="en-US" altLang="ja-JP" sz="2800" b="1" dirty="0">
              <a:solidFill>
                <a:srgbClr val="143A66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buNone/>
            </a:pPr>
            <a:r>
              <a:rPr kumimoji="1" lang="ja-JP" altLang="en-US" sz="2800" b="1" dirty="0">
                <a:solidFill>
                  <a:srgbClr val="143A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好きなデータを入れることができる</a:t>
            </a:r>
            <a:endParaRPr kumimoji="1" lang="en-US" altLang="ja-JP" sz="2800" b="1" dirty="0">
              <a:solidFill>
                <a:srgbClr val="143A66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buNone/>
            </a:pPr>
            <a:r>
              <a:rPr kumimoji="1" lang="ja-JP" altLang="en-US" sz="2800" b="1" dirty="0">
                <a:solidFill>
                  <a:srgbClr val="143A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唯一のＡＩを作ることができる</a:t>
            </a:r>
            <a:endParaRPr kumimoji="1" lang="en-US" altLang="ja-JP" sz="2800" b="1" dirty="0">
              <a:solidFill>
                <a:srgbClr val="143A66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81767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0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2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3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906BA-60CB-3CA6-5F72-F5F5A2AF6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6FBA390-3F92-335F-CCCD-DA9FE807B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E20E20-F178-DE37-75DE-C4C632793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73F1598-D74E-160B-A158-F26A1AC35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05961DA-E1F4-FD9D-F72D-9646BE65A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8C4B5FC-6310-14CE-D5D2-B6E5D1945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3F1A1B2-B2F7-5F29-007A-CF9497B78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AB3553A-9C8E-8AD6-1378-845C78325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B099AFC-9B2D-C7F8-DD29-918DA511A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C7FC22-940E-F41C-CE30-93D2FECDA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33CD27C-171B-01D4-C29D-D448406CB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58E6AE3-82B1-97C5-AB53-3301321A1C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C73C4A7-3692-4500-C910-DC1EE81F3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DE31675D-9455-46FF-9F9F-910E5FEFAECC}"/>
              </a:ext>
            </a:extLst>
          </p:cNvPr>
          <p:cNvSpPr/>
          <p:nvPr/>
        </p:nvSpPr>
        <p:spPr>
          <a:xfrm>
            <a:off x="1711818" y="2739460"/>
            <a:ext cx="8768058" cy="1218920"/>
          </a:xfrm>
          <a:prstGeom prst="roundRect">
            <a:avLst/>
          </a:prstGeom>
          <a:noFill/>
          <a:ln w="57150">
            <a:solidFill>
              <a:srgbClr val="143A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4400" b="1" dirty="0">
                <a:solidFill>
                  <a:srgbClr val="143A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実演！！！！</a:t>
            </a:r>
          </a:p>
        </p:txBody>
      </p: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23402581-5931-4B01-A1CC-8A1BF87A79CA}"/>
              </a:ext>
            </a:extLst>
          </p:cNvPr>
          <p:cNvGrpSpPr>
            <a:grpSpLocks noChangeAspect="1"/>
          </p:cNvGrpSpPr>
          <p:nvPr/>
        </p:nvGrpSpPr>
        <p:grpSpPr>
          <a:xfrm>
            <a:off x="9898911" y="137161"/>
            <a:ext cx="2300173" cy="730204"/>
            <a:chOff x="1787687" y="4112124"/>
            <a:chExt cx="6965103" cy="2211115"/>
          </a:xfrm>
        </p:grpSpPr>
        <p:grpSp>
          <p:nvGrpSpPr>
            <p:cNvPr id="38" name="グループ化 37">
              <a:extLst>
                <a:ext uri="{FF2B5EF4-FFF2-40B4-BE49-F238E27FC236}">
                  <a16:creationId xmlns:a16="http://schemas.microsoft.com/office/drawing/2014/main" id="{AAA40277-2E36-4CCA-8A73-44250F9AF0B3}"/>
                </a:ext>
              </a:extLst>
            </p:cNvPr>
            <p:cNvGrpSpPr/>
            <p:nvPr/>
          </p:nvGrpSpPr>
          <p:grpSpPr>
            <a:xfrm>
              <a:off x="1787687" y="4112124"/>
              <a:ext cx="6965103" cy="2210100"/>
              <a:chOff x="2885548" y="2093882"/>
              <a:chExt cx="6965103" cy="2210100"/>
            </a:xfrm>
          </p:grpSpPr>
          <p:pic>
            <p:nvPicPr>
              <p:cNvPr id="41" name="図 40" descr="ロゴ が含まれている画像">
                <a:extLst>
                  <a:ext uri="{FF2B5EF4-FFF2-40B4-BE49-F238E27FC236}">
                    <a16:creationId xmlns:a16="http://schemas.microsoft.com/office/drawing/2014/main" id="{899E4E41-F5AE-4DE0-9129-8D8FB3D3460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5012"/>
              <a:stretch/>
            </p:blipFill>
            <p:spPr>
              <a:xfrm>
                <a:off x="2885548" y="2093882"/>
                <a:ext cx="1883886" cy="2210100"/>
              </a:xfrm>
              <a:prstGeom prst="rect">
                <a:avLst/>
              </a:prstGeom>
            </p:spPr>
          </p:pic>
          <p:pic>
            <p:nvPicPr>
              <p:cNvPr id="42" name="図 41" descr="ロゴ が含まれている画像">
                <a:extLst>
                  <a:ext uri="{FF2B5EF4-FFF2-40B4-BE49-F238E27FC236}">
                    <a16:creationId xmlns:a16="http://schemas.microsoft.com/office/drawing/2014/main" id="{9469EBFB-B1E0-4F5F-9B81-C089D1E637A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879" t="23241" r="4728" b="29028"/>
              <a:stretch/>
            </p:blipFill>
            <p:spPr>
              <a:xfrm>
                <a:off x="4673679" y="2527897"/>
                <a:ext cx="5176972" cy="1679383"/>
              </a:xfrm>
              <a:prstGeom prst="rect">
                <a:avLst/>
              </a:prstGeom>
            </p:spPr>
          </p:pic>
        </p:grpSp>
        <p:pic>
          <p:nvPicPr>
            <p:cNvPr id="39" name="図 38" descr="ロゴ が含まれている画像">
              <a:extLst>
                <a:ext uri="{FF2B5EF4-FFF2-40B4-BE49-F238E27FC236}">
                  <a16:creationId xmlns:a16="http://schemas.microsoft.com/office/drawing/2014/main" id="{00F2B764-3C55-498F-BF0F-81ABAF8F55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012"/>
            <a:stretch/>
          </p:blipFill>
          <p:spPr>
            <a:xfrm>
              <a:off x="1787687" y="4113139"/>
              <a:ext cx="1883886" cy="2210100"/>
            </a:xfrm>
            <a:prstGeom prst="rect">
              <a:avLst/>
            </a:prstGeom>
          </p:spPr>
        </p:pic>
        <p:sp>
          <p:nvSpPr>
            <p:cNvPr id="40" name="楕円 39">
              <a:extLst>
                <a:ext uri="{FF2B5EF4-FFF2-40B4-BE49-F238E27FC236}">
                  <a16:creationId xmlns:a16="http://schemas.microsoft.com/office/drawing/2014/main" id="{5CEF2A7D-5D19-4027-9210-553BD155BD07}"/>
                </a:ext>
              </a:extLst>
            </p:cNvPr>
            <p:cNvSpPr/>
            <p:nvPr/>
          </p:nvSpPr>
          <p:spPr>
            <a:xfrm>
              <a:off x="3190049" y="5703430"/>
              <a:ext cx="304183" cy="303499"/>
            </a:xfrm>
            <a:prstGeom prst="ellipse">
              <a:avLst/>
            </a:prstGeom>
            <a:solidFill>
              <a:srgbClr val="ECC9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60057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B5A10D49-60D4-4082-BF19-2758AFCE6107}"/>
              </a:ext>
            </a:extLst>
          </p:cNvPr>
          <p:cNvSpPr/>
          <p:nvPr/>
        </p:nvSpPr>
        <p:spPr>
          <a:xfrm>
            <a:off x="1531550" y="1510174"/>
            <a:ext cx="9265921" cy="4471526"/>
          </a:xfrm>
          <a:prstGeom prst="roundRect">
            <a:avLst>
              <a:gd name="adj" fmla="val 3034"/>
            </a:avLst>
          </a:prstGeom>
          <a:solidFill>
            <a:schemeClr val="bg1">
              <a:lumMod val="85000"/>
              <a:alpha val="16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50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B4B2330-6168-9876-D2E9-424977F00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465" y="2036381"/>
            <a:ext cx="9265921" cy="418012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r>
              <a:rPr kumimoji="1" lang="ja-JP" altLang="en-US" sz="4400" b="1" dirty="0">
                <a:solidFill>
                  <a:srgbClr val="143A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企業への配布</a:t>
            </a:r>
            <a:endParaRPr kumimoji="1" lang="en-US" altLang="ja-JP" sz="4400" b="1" dirty="0">
              <a:solidFill>
                <a:srgbClr val="143A66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 algn="ctr">
              <a:buNone/>
            </a:pPr>
            <a:r>
              <a:rPr kumimoji="1" lang="ja-JP" altLang="en-US" sz="3600" b="1" dirty="0">
                <a:solidFill>
                  <a:srgbClr val="143A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好きな情報を入れられるので企業</a:t>
            </a:r>
            <a:r>
              <a:rPr kumimoji="1" lang="en-US" altLang="ja-JP" sz="3600" b="1" dirty="0">
                <a:solidFill>
                  <a:srgbClr val="143A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wiki</a:t>
            </a:r>
            <a:r>
              <a:rPr kumimoji="1" lang="ja-JP" altLang="en-US" sz="3600" b="1" dirty="0">
                <a:solidFill>
                  <a:srgbClr val="143A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など</a:t>
            </a:r>
            <a:endParaRPr kumimoji="1" lang="en-US" altLang="ja-JP" sz="3600" b="1" dirty="0">
              <a:solidFill>
                <a:srgbClr val="143A66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9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883757A3-BE02-427E-83C9-77B5B22AB83B}"/>
              </a:ext>
            </a:extLst>
          </p:cNvPr>
          <p:cNvSpPr/>
          <p:nvPr/>
        </p:nvSpPr>
        <p:spPr>
          <a:xfrm>
            <a:off x="1531550" y="1510174"/>
            <a:ext cx="9265921" cy="730204"/>
          </a:xfrm>
          <a:prstGeom prst="roundRect">
            <a:avLst/>
          </a:prstGeom>
          <a:noFill/>
          <a:ln w="57150">
            <a:solidFill>
              <a:srgbClr val="143A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4400" b="1" dirty="0">
                <a:solidFill>
                  <a:srgbClr val="143A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今後の展望</a:t>
            </a:r>
            <a:endParaRPr lang="ja-JP" altLang="en-US" sz="1600" b="1" dirty="0">
              <a:solidFill>
                <a:srgbClr val="143A66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DC9DF339-8A2C-4502-B628-43BBF3A6285E}"/>
              </a:ext>
            </a:extLst>
          </p:cNvPr>
          <p:cNvGrpSpPr>
            <a:grpSpLocks noChangeAspect="1"/>
          </p:cNvGrpSpPr>
          <p:nvPr/>
        </p:nvGrpSpPr>
        <p:grpSpPr>
          <a:xfrm>
            <a:off x="9898911" y="137161"/>
            <a:ext cx="2300173" cy="730204"/>
            <a:chOff x="1787687" y="4112124"/>
            <a:chExt cx="6965103" cy="2211115"/>
          </a:xfrm>
        </p:grpSpPr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220548D6-E989-4622-BBAA-BF9DA02ABC64}"/>
                </a:ext>
              </a:extLst>
            </p:cNvPr>
            <p:cNvGrpSpPr/>
            <p:nvPr/>
          </p:nvGrpSpPr>
          <p:grpSpPr>
            <a:xfrm>
              <a:off x="1787687" y="4112124"/>
              <a:ext cx="6965103" cy="2210100"/>
              <a:chOff x="2885548" y="2093882"/>
              <a:chExt cx="6965103" cy="2210100"/>
            </a:xfrm>
          </p:grpSpPr>
          <p:pic>
            <p:nvPicPr>
              <p:cNvPr id="31" name="図 30" descr="ロゴ が含まれている画像">
                <a:extLst>
                  <a:ext uri="{FF2B5EF4-FFF2-40B4-BE49-F238E27FC236}">
                    <a16:creationId xmlns:a16="http://schemas.microsoft.com/office/drawing/2014/main" id="{5B74401D-FE47-44EB-A624-2053FDCB077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5012"/>
              <a:stretch/>
            </p:blipFill>
            <p:spPr>
              <a:xfrm>
                <a:off x="2885548" y="2093882"/>
                <a:ext cx="1883886" cy="2210100"/>
              </a:xfrm>
              <a:prstGeom prst="rect">
                <a:avLst/>
              </a:prstGeom>
            </p:spPr>
          </p:pic>
          <p:pic>
            <p:nvPicPr>
              <p:cNvPr id="32" name="図 31" descr="ロゴ が含まれている画像">
                <a:extLst>
                  <a:ext uri="{FF2B5EF4-FFF2-40B4-BE49-F238E27FC236}">
                    <a16:creationId xmlns:a16="http://schemas.microsoft.com/office/drawing/2014/main" id="{65EE1619-5D47-44B1-A131-B3E649CFB8C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879" t="23241" r="4728" b="29028"/>
              <a:stretch/>
            </p:blipFill>
            <p:spPr>
              <a:xfrm>
                <a:off x="4673679" y="2527897"/>
                <a:ext cx="5176972" cy="1679383"/>
              </a:xfrm>
              <a:prstGeom prst="rect">
                <a:avLst/>
              </a:prstGeom>
            </p:spPr>
          </p:pic>
        </p:grpSp>
        <p:pic>
          <p:nvPicPr>
            <p:cNvPr id="29" name="図 28" descr="ロゴ が含まれている画像">
              <a:extLst>
                <a:ext uri="{FF2B5EF4-FFF2-40B4-BE49-F238E27FC236}">
                  <a16:creationId xmlns:a16="http://schemas.microsoft.com/office/drawing/2014/main" id="{95DE996B-9E5C-4A33-B4D9-64A2E92C6C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012"/>
            <a:stretch/>
          </p:blipFill>
          <p:spPr>
            <a:xfrm>
              <a:off x="1787687" y="4113139"/>
              <a:ext cx="1883886" cy="2210100"/>
            </a:xfrm>
            <a:prstGeom prst="rect">
              <a:avLst/>
            </a:prstGeom>
          </p:spPr>
        </p:pic>
        <p:sp>
          <p:nvSpPr>
            <p:cNvPr id="30" name="楕円 29">
              <a:extLst>
                <a:ext uri="{FF2B5EF4-FFF2-40B4-BE49-F238E27FC236}">
                  <a16:creationId xmlns:a16="http://schemas.microsoft.com/office/drawing/2014/main" id="{7BAF0BFA-7E46-44FB-8C32-AD748F3934F4}"/>
                </a:ext>
              </a:extLst>
            </p:cNvPr>
            <p:cNvSpPr/>
            <p:nvPr/>
          </p:nvSpPr>
          <p:spPr>
            <a:xfrm>
              <a:off x="3190049" y="5703430"/>
              <a:ext cx="304183" cy="303499"/>
            </a:xfrm>
            <a:prstGeom prst="ellipse">
              <a:avLst/>
            </a:prstGeom>
            <a:solidFill>
              <a:srgbClr val="ECC9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77785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906BA-60CB-3CA6-5F72-F5F5A2AF6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6FBA390-3F92-335F-CCCD-DA9FE807B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E20E20-F178-DE37-75DE-C4C632793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73F1598-D74E-160B-A158-F26A1AC35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05961DA-E1F4-FD9D-F72D-9646BE65A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8C4B5FC-6310-14CE-D5D2-B6E5D1945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3F1A1B2-B2F7-5F29-007A-CF9497B78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AB3553A-9C8E-8AD6-1378-845C78325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B099AFC-9B2D-C7F8-DD29-918DA511A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C7FC22-940E-F41C-CE30-93D2FECDA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33CD27C-171B-01D4-C29D-D448406CB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58E6AE3-82B1-97C5-AB53-3301321A1C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C73C4A7-3692-4500-C910-DC1EE81F3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タイトル 1">
            <a:extLst>
              <a:ext uri="{FF2B5EF4-FFF2-40B4-BE49-F238E27FC236}">
                <a16:creationId xmlns:a16="http://schemas.microsoft.com/office/drawing/2014/main" id="{DBC7B625-B460-48D7-AD2E-2006388344AC}"/>
              </a:ext>
            </a:extLst>
          </p:cNvPr>
          <p:cNvSpPr txBox="1">
            <a:spLocks/>
          </p:cNvSpPr>
          <p:nvPr/>
        </p:nvSpPr>
        <p:spPr>
          <a:xfrm>
            <a:off x="2103404" y="1248363"/>
            <a:ext cx="4451032" cy="8098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0" lang="en-US" altLang="ja-JP" sz="2800" u="sng" dirty="0">
                <a:solidFill>
                  <a:srgbClr val="42B0E3"/>
                </a:solidFill>
                <a:latin typeface="HGP創英角ｺﾞｼｯｸUB"/>
                <a:ea typeface="HGP創英角ｺﾞｼｯｸUB"/>
              </a:rPr>
              <a:t>Y</a:t>
            </a:r>
            <a:r>
              <a:rPr kumimoji="0" lang="en-US" altLang="ja-JP" sz="28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our </a:t>
            </a:r>
            <a:r>
              <a:rPr kumimoji="0" lang="en-US" altLang="ja-JP" sz="2800" u="sng" dirty="0">
                <a:solidFill>
                  <a:srgbClr val="42B0E3"/>
                </a:solidFill>
                <a:latin typeface="HGP創英角ｺﾞｼｯｸUB"/>
                <a:ea typeface="HGP創英角ｺﾞｼｯｸUB"/>
              </a:rPr>
              <a:t>U</a:t>
            </a:r>
            <a:r>
              <a:rPr kumimoji="0" lang="en-US" altLang="ja-JP" sz="28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nique </a:t>
            </a:r>
            <a:r>
              <a:rPr kumimoji="0" lang="en-US" altLang="ja-JP" sz="2800" u="sng" dirty="0">
                <a:solidFill>
                  <a:srgbClr val="42B0E3"/>
                </a:solidFill>
                <a:latin typeface="HGP創英角ｺﾞｼｯｸUB"/>
                <a:ea typeface="HGP創英角ｺﾞｼｯｸUB"/>
              </a:rPr>
              <a:t>K</a:t>
            </a:r>
            <a:r>
              <a:rPr kumimoji="0" lang="en-US" altLang="ja-JP" sz="28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ind </a:t>
            </a:r>
            <a:r>
              <a:rPr kumimoji="0" lang="en-US" altLang="ja-JP" sz="2800" u="sng" dirty="0">
                <a:solidFill>
                  <a:srgbClr val="42B0E3"/>
                </a:solidFill>
                <a:latin typeface="HGP創英角ｺﾞｼｯｸUB"/>
                <a:ea typeface="HGP創英角ｺﾞｼｯｸUB"/>
              </a:rPr>
              <a:t>A</a:t>
            </a:r>
            <a:r>
              <a:rPr kumimoji="0" lang="en-US" altLang="ja-JP" sz="28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I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0761372E-2399-408B-9D8B-02CF10F3D2C0}"/>
              </a:ext>
            </a:extLst>
          </p:cNvPr>
          <p:cNvSpPr txBox="1"/>
          <p:nvPr/>
        </p:nvSpPr>
        <p:spPr>
          <a:xfrm>
            <a:off x="4881393" y="4320400"/>
            <a:ext cx="61004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ja-JP" altLang="en-US" sz="2800" dirty="0">
                <a:solidFill>
                  <a:srgbClr val="42B0E3"/>
                </a:solidFill>
                <a:latin typeface="HGP創英角ｺﾞｼｯｸUB"/>
                <a:ea typeface="HGP創英角ｺﾞｼｯｸUB"/>
              </a:rPr>
              <a:t>あなた</a:t>
            </a:r>
            <a:r>
              <a:rPr kumimoji="0" lang="ja-JP" altLang="en-US" sz="24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の</a:t>
            </a:r>
            <a:r>
              <a:rPr kumimoji="0" lang="ja-JP" altLang="en-US" sz="28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ため</a:t>
            </a:r>
            <a:r>
              <a:rPr kumimoji="0" lang="ja-JP" altLang="en-US" sz="24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の</a:t>
            </a:r>
            <a:r>
              <a:rPr kumimoji="0" lang="ja-JP" altLang="en-US" sz="2800" dirty="0">
                <a:solidFill>
                  <a:srgbClr val="42B0E3"/>
                </a:solidFill>
                <a:latin typeface="HGP創英角ｺﾞｼｯｸUB"/>
                <a:ea typeface="HGP創英角ｺﾞｼｯｸUB"/>
              </a:rPr>
              <a:t>優</a:t>
            </a:r>
            <a:r>
              <a:rPr kumimoji="0" lang="ja-JP" altLang="en-US" sz="2400" dirty="0">
                <a:solidFill>
                  <a:srgbClr val="42B0E3"/>
                </a:solidFill>
                <a:latin typeface="HGP創英角ｺﾞｼｯｸUB"/>
                <a:ea typeface="HGP創英角ｺﾞｼｯｸUB"/>
              </a:rPr>
              <a:t>しい</a:t>
            </a:r>
            <a:r>
              <a:rPr kumimoji="0" lang="en-US" altLang="ja-JP" sz="2800" dirty="0">
                <a:solidFill>
                  <a:srgbClr val="42B0E3"/>
                </a:solidFill>
                <a:latin typeface="HGP創英角ｺﾞｼｯｸUB"/>
                <a:ea typeface="HGP創英角ｺﾞｼｯｸUB"/>
              </a:rPr>
              <a:t>AI</a:t>
            </a:r>
            <a:endParaRPr kumimoji="0" lang="ja-JP" altLang="ja-JP" sz="2400" dirty="0">
              <a:solidFill>
                <a:srgbClr val="42B0E3"/>
              </a:solidFill>
              <a:latin typeface="HGP創英角ｺﾞｼｯｸUB"/>
              <a:ea typeface="HGP創英角ｺﾞｼｯｸUB"/>
            </a:endParaRPr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EAC31F73-0B9D-4FEC-8176-0C584B88F849}"/>
              </a:ext>
            </a:extLst>
          </p:cNvPr>
          <p:cNvCxnSpPr>
            <a:cxnSpLocks/>
          </p:cNvCxnSpPr>
          <p:nvPr/>
        </p:nvCxnSpPr>
        <p:spPr>
          <a:xfrm>
            <a:off x="5970485" y="4922794"/>
            <a:ext cx="638660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9B722E9D-AC4C-47E0-BBC2-645EA46A6938}"/>
              </a:ext>
            </a:extLst>
          </p:cNvPr>
          <p:cNvCxnSpPr>
            <a:cxnSpLocks/>
          </p:cNvCxnSpPr>
          <p:nvPr/>
        </p:nvCxnSpPr>
        <p:spPr>
          <a:xfrm flipV="1">
            <a:off x="0" y="1961814"/>
            <a:ext cx="7705809" cy="2866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6CA6A67E-1726-4E4D-88B4-3E08C20BA6D6}"/>
              </a:ext>
            </a:extLst>
          </p:cNvPr>
          <p:cNvGrpSpPr/>
          <p:nvPr/>
        </p:nvGrpSpPr>
        <p:grpSpPr>
          <a:xfrm>
            <a:off x="2876583" y="2093882"/>
            <a:ext cx="6965103" cy="2210100"/>
            <a:chOff x="2885548" y="2093882"/>
            <a:chExt cx="6965103" cy="2210100"/>
          </a:xfrm>
        </p:grpSpPr>
        <p:pic>
          <p:nvPicPr>
            <p:cNvPr id="33" name="図 32" descr="ロゴ が含まれている画像">
              <a:extLst>
                <a:ext uri="{FF2B5EF4-FFF2-40B4-BE49-F238E27FC236}">
                  <a16:creationId xmlns:a16="http://schemas.microsoft.com/office/drawing/2014/main" id="{6D6A9AFA-7BCC-41CE-B713-6357C860D9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012"/>
            <a:stretch/>
          </p:blipFill>
          <p:spPr>
            <a:xfrm>
              <a:off x="2885548" y="2093882"/>
              <a:ext cx="1883886" cy="2210100"/>
            </a:xfrm>
            <a:prstGeom prst="rect">
              <a:avLst/>
            </a:prstGeom>
          </p:spPr>
        </p:pic>
        <p:pic>
          <p:nvPicPr>
            <p:cNvPr id="36" name="図 35" descr="ロゴ が含まれている画像">
              <a:extLst>
                <a:ext uri="{FF2B5EF4-FFF2-40B4-BE49-F238E27FC236}">
                  <a16:creationId xmlns:a16="http://schemas.microsoft.com/office/drawing/2014/main" id="{BB99BD2B-4387-40D6-B6A6-1E7DE5BBFD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879" t="23241" r="4728" b="29028"/>
            <a:stretch/>
          </p:blipFill>
          <p:spPr>
            <a:xfrm>
              <a:off x="4673679" y="2527897"/>
              <a:ext cx="5176972" cy="1679383"/>
            </a:xfrm>
            <a:prstGeom prst="rect">
              <a:avLst/>
            </a:prstGeom>
          </p:spPr>
        </p:pic>
      </p:grpSp>
      <p:pic>
        <p:nvPicPr>
          <p:cNvPr id="28" name="図 27" descr="ロゴ が含まれている画像">
            <a:extLst>
              <a:ext uri="{FF2B5EF4-FFF2-40B4-BE49-F238E27FC236}">
                <a16:creationId xmlns:a16="http://schemas.microsoft.com/office/drawing/2014/main" id="{8DA82C5B-E2D4-49E4-B304-5C67C20F76D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012"/>
          <a:stretch/>
        </p:blipFill>
        <p:spPr>
          <a:xfrm>
            <a:off x="2876583" y="2094897"/>
            <a:ext cx="1883886" cy="2210100"/>
          </a:xfrm>
          <a:prstGeom prst="rect">
            <a:avLst/>
          </a:prstGeom>
        </p:spPr>
      </p:pic>
      <p:sp>
        <p:nvSpPr>
          <p:cNvPr id="29" name="楕円 28">
            <a:extLst>
              <a:ext uri="{FF2B5EF4-FFF2-40B4-BE49-F238E27FC236}">
                <a16:creationId xmlns:a16="http://schemas.microsoft.com/office/drawing/2014/main" id="{264CC45C-AD84-41AE-90AE-373F1776825F}"/>
              </a:ext>
            </a:extLst>
          </p:cNvPr>
          <p:cNvSpPr/>
          <p:nvPr/>
        </p:nvSpPr>
        <p:spPr>
          <a:xfrm>
            <a:off x="4278945" y="3685188"/>
            <a:ext cx="304183" cy="303499"/>
          </a:xfrm>
          <a:prstGeom prst="ellipse">
            <a:avLst/>
          </a:prstGeom>
          <a:solidFill>
            <a:srgbClr val="ECC9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6" name="字幕 2">
            <a:extLst>
              <a:ext uri="{FF2B5EF4-FFF2-40B4-BE49-F238E27FC236}">
                <a16:creationId xmlns:a16="http://schemas.microsoft.com/office/drawing/2014/main" id="{02B79644-87B2-4911-924C-11B12C77946E}"/>
              </a:ext>
            </a:extLst>
          </p:cNvPr>
          <p:cNvSpPr txBox="1">
            <a:spLocks/>
          </p:cNvSpPr>
          <p:nvPr/>
        </p:nvSpPr>
        <p:spPr>
          <a:xfrm>
            <a:off x="-3858" y="6035040"/>
            <a:ext cx="12191998" cy="856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ja-JP" altLang="en-US" b="1" dirty="0">
                <a:solidFill>
                  <a:srgbClr val="143A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ホワイトハッカー専攻</a:t>
            </a:r>
            <a:endParaRPr kumimoji="1" lang="en-US" altLang="ja-JP" b="1" dirty="0">
              <a:solidFill>
                <a:srgbClr val="143A66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 algn="ctr">
              <a:buNone/>
            </a:pPr>
            <a:r>
              <a:rPr kumimoji="1" lang="ja-JP" altLang="en-US" sz="2400" b="1" dirty="0">
                <a:solidFill>
                  <a:srgbClr val="143A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梅津亮介 岡本篤希 北野善聖 辻本悠仁</a:t>
            </a:r>
            <a:endParaRPr kumimoji="0" lang="ja-JP" altLang="en-US" sz="2400" b="1" dirty="0">
              <a:solidFill>
                <a:srgbClr val="143A66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3704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4D8F154-3183-DB7B-C84C-CCDEBE9F9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DA6D363-E23A-B1CE-6F98-6F5F2673B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0FDF3EE-5D35-E801-F5C6-E0310355A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BEAC4D1-0CB7-C4CD-3C0D-93C3E9323E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480F50D-8AA3-CFC2-0429-D2FE586E8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8B8606B-8084-54A8-C510-F8DD7574AF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C0299AE-4B58-F25A-1869-EE0797B48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FBCCD87-267A-8A15-797A-8AA7F373A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63F7024-AA99-73FE-3C02-20C1CA3D2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7829AD3-D284-578C-CAE8-286B1E6143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AD1AE5F-123C-0684-BDBC-7716BE27A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図 7" descr="ロゴ が含まれている画像">
            <a:extLst>
              <a:ext uri="{FF2B5EF4-FFF2-40B4-BE49-F238E27FC236}">
                <a16:creationId xmlns:a16="http://schemas.microsoft.com/office/drawing/2014/main" id="{4E811DF0-67DF-AB39-0D0C-1795BFC260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1264"/>
            <a:ext cx="2826385" cy="1160125"/>
          </a:xfrm>
          <a:prstGeom prst="rect">
            <a:avLst/>
          </a:prstGeom>
        </p:spPr>
      </p:pic>
      <p:sp>
        <p:nvSpPr>
          <p:cNvPr id="13" name="タイトル 1">
            <a:extLst>
              <a:ext uri="{FF2B5EF4-FFF2-40B4-BE49-F238E27FC236}">
                <a16:creationId xmlns:a16="http://schemas.microsoft.com/office/drawing/2014/main" id="{CB42727F-FD7F-5EC8-A192-7C37A62E0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30073" y="-195148"/>
            <a:ext cx="10654284" cy="2151670"/>
          </a:xfrm>
        </p:spPr>
        <p:txBody>
          <a:bodyPr anchor="ctr">
            <a:noAutofit/>
          </a:bodyPr>
          <a:lstStyle/>
          <a:p>
            <a:pPr algn="ctr"/>
            <a:r>
              <a:rPr lang="ja-JP" altLang="en-US" sz="72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スクレイピングの仕組み</a:t>
            </a:r>
          </a:p>
        </p:txBody>
      </p:sp>
      <p:sp>
        <p:nvSpPr>
          <p:cNvPr id="2" name="コンテンツ プレースホルダー 2">
            <a:extLst>
              <a:ext uri="{FF2B5EF4-FFF2-40B4-BE49-F238E27FC236}">
                <a16:creationId xmlns:a16="http://schemas.microsoft.com/office/drawing/2014/main" id="{B73B4758-7872-579D-7393-A8F1727A9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848" y="1357801"/>
            <a:ext cx="11576304" cy="4994222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914400" indent="-914400">
              <a:buFont typeface="+mj-ea"/>
              <a:buAutoNum type="circleNumDbPlain"/>
            </a:pPr>
            <a:r>
              <a:rPr lang="ja-JP" altLang="en-US" sz="60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模擬サイトを作る</a:t>
            </a:r>
            <a:endParaRPr lang="en-US" altLang="ja-JP" sz="60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  <a:p>
            <a:pPr marL="914400" indent="-914400">
              <a:buFont typeface="+mj-ea"/>
              <a:buAutoNum type="circleNumDbPlain"/>
            </a:pPr>
            <a:r>
              <a:rPr lang="ja-JP" altLang="en-US" sz="60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模擬サイトにスクレイピングをかける</a:t>
            </a:r>
            <a:endParaRPr lang="en-US" altLang="ja-JP" sz="60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  <a:p>
            <a:pPr marL="914400" indent="-914400">
              <a:buFont typeface="+mj-ea"/>
              <a:buAutoNum type="circleNumDbPlain"/>
            </a:pPr>
            <a:r>
              <a:rPr lang="ja-JP" altLang="en-US" sz="60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とれたデータをデータベースに格納</a:t>
            </a:r>
          </a:p>
        </p:txBody>
      </p:sp>
    </p:spTree>
    <p:extLst>
      <p:ext uri="{BB962C8B-B14F-4D97-AF65-F5344CB8AC3E}">
        <p14:creationId xmlns:p14="http://schemas.microsoft.com/office/powerpoint/2010/main" val="4150974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1B0EB1-1139-B771-65FF-7FC011A37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1BEED9D9-949A-DC15-B0F9-E6F9168F1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65060A0-39C7-85F4-D5AB-B36822452C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914D390-190F-ACE8-9EA0-5053C4D9C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75179E4-B461-18D7-D8DC-4AC1321BCA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C60FA7D-3DDC-6C29-3575-318041CE5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E794D80-FC76-84D9-ABD1-4C5FEC20F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8F19BA9-4604-01D2-B26D-68329FDEB4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4B43C34-4D52-4EEC-26B4-F09353256D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AE85F69-1FE5-D7C3-E29C-55EC02D3E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E558809-22A4-7099-5954-7C06F076E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図 7" descr="ロゴ が含まれている画像">
            <a:extLst>
              <a:ext uri="{FF2B5EF4-FFF2-40B4-BE49-F238E27FC236}">
                <a16:creationId xmlns:a16="http://schemas.microsoft.com/office/drawing/2014/main" id="{26C288B9-B7E1-D199-6478-D68406D000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5168" y="1264"/>
            <a:ext cx="2853817" cy="1171385"/>
          </a:xfrm>
          <a:prstGeom prst="rect">
            <a:avLst/>
          </a:prstGeom>
        </p:spPr>
      </p:pic>
      <p:sp>
        <p:nvSpPr>
          <p:cNvPr id="13" name="タイトル 1">
            <a:extLst>
              <a:ext uri="{FF2B5EF4-FFF2-40B4-BE49-F238E27FC236}">
                <a16:creationId xmlns:a16="http://schemas.microsoft.com/office/drawing/2014/main" id="{762B0702-1034-E4AC-5A44-8749A2870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466" y="178522"/>
            <a:ext cx="9227706" cy="1621420"/>
          </a:xfrm>
        </p:spPr>
        <p:txBody>
          <a:bodyPr>
            <a:normAutofit/>
          </a:bodyPr>
          <a:lstStyle/>
          <a:p>
            <a:pPr algn="ctr"/>
            <a:r>
              <a:rPr lang="ja-JP" altLang="en-US" sz="96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カラムについて</a:t>
            </a:r>
          </a:p>
        </p:txBody>
      </p:sp>
      <p:sp>
        <p:nvSpPr>
          <p:cNvPr id="2" name="コンテンツ プレースホルダー 2">
            <a:extLst>
              <a:ext uri="{FF2B5EF4-FFF2-40B4-BE49-F238E27FC236}">
                <a16:creationId xmlns:a16="http://schemas.microsoft.com/office/drawing/2014/main" id="{49A459E4-C97F-FFF2-9FE5-43EB2D656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3312" y="1721908"/>
            <a:ext cx="5532120" cy="4793398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r>
              <a:rPr lang="en-US" altLang="ja-JP" sz="66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Id</a:t>
            </a:r>
          </a:p>
          <a:p>
            <a:r>
              <a:rPr lang="en-US" altLang="ja-JP" sz="6600" dirty="0" err="1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Url</a:t>
            </a:r>
            <a:endParaRPr lang="en-US" altLang="ja-JP" sz="66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  <a:p>
            <a:r>
              <a:rPr lang="en-US" altLang="ja-JP" sz="66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Title</a:t>
            </a:r>
          </a:p>
          <a:p>
            <a:r>
              <a:rPr lang="en-US" altLang="ja-JP" sz="66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Text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EDB6F67-10F3-ECA8-E7C8-E096AC632DFE}"/>
              </a:ext>
            </a:extLst>
          </p:cNvPr>
          <p:cNvSpPr txBox="1">
            <a:spLocks/>
          </p:cNvSpPr>
          <p:nvPr/>
        </p:nvSpPr>
        <p:spPr>
          <a:xfrm>
            <a:off x="5727670" y="1721908"/>
            <a:ext cx="5532120" cy="47933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altLang="ja-JP" sz="66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Category</a:t>
            </a:r>
          </a:p>
          <a:p>
            <a:r>
              <a:rPr kumimoji="0" lang="en-US" altLang="ja-JP" sz="66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Subcategory</a:t>
            </a:r>
          </a:p>
          <a:p>
            <a:r>
              <a:rPr kumimoji="0" lang="en-US" altLang="ja-JP" sz="6600" dirty="0" err="1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Updated_at</a:t>
            </a:r>
            <a:endParaRPr kumimoji="0" lang="en-US" altLang="ja-JP" sz="66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  <a:p>
            <a:endParaRPr kumimoji="0" lang="en-US" altLang="ja-JP" sz="66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</p:txBody>
      </p:sp>
    </p:spTree>
    <p:extLst>
      <p:ext uri="{BB962C8B-B14F-4D97-AF65-F5344CB8AC3E}">
        <p14:creationId xmlns:p14="http://schemas.microsoft.com/office/powerpoint/2010/main" val="1193134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672C5EC-CC6A-C4AC-CCCA-53047D23F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9924432-5577-4D66-E92F-7969D1971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BCE3A94-3F05-13A9-2361-688C7D9FC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568BCD-E3CC-E49D-9458-AA6E11C54E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1C96288-2001-890D-C895-9B014082C9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C7A328E-F870-25FB-2DF8-516D6ED384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A8C8CA1-BCC8-7B7C-AB8D-05E02AEF0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906E1A0-D46E-C359-10FC-55DB813832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1CBC3D-A322-3BED-F7D2-2B34AD5E41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7F01D49-5EAD-A1D0-3504-F75ED37D9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2FFAD54-F764-AE5E-8F8C-A52CC0DE2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図 7" descr="ロゴ が含まれている画像">
            <a:extLst>
              <a:ext uri="{FF2B5EF4-FFF2-40B4-BE49-F238E27FC236}">
                <a16:creationId xmlns:a16="http://schemas.microsoft.com/office/drawing/2014/main" id="{2B9033B9-3B4B-A916-8DFD-434D19EA01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3456" y="1264"/>
            <a:ext cx="2835529" cy="1163878"/>
          </a:xfrm>
          <a:prstGeom prst="rect">
            <a:avLst/>
          </a:prstGeom>
        </p:spPr>
      </p:pic>
      <p:sp>
        <p:nvSpPr>
          <p:cNvPr id="13" name="タイトル 1">
            <a:extLst>
              <a:ext uri="{FF2B5EF4-FFF2-40B4-BE49-F238E27FC236}">
                <a16:creationId xmlns:a16="http://schemas.microsoft.com/office/drawing/2014/main" id="{FB9E2FC3-CE1C-658D-8509-BDA6ACE5D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22361" y="10258"/>
            <a:ext cx="11353800" cy="1835784"/>
          </a:xfrm>
        </p:spPr>
        <p:txBody>
          <a:bodyPr anchor="ctr">
            <a:noAutofit/>
          </a:bodyPr>
          <a:lstStyle/>
          <a:p>
            <a:pPr algn="ctr"/>
            <a:r>
              <a:rPr lang="en-US" altLang="ja-JP" sz="96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AI</a:t>
            </a:r>
            <a:r>
              <a:rPr lang="ja-JP" altLang="en-US" sz="96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の話させ方</a:t>
            </a:r>
          </a:p>
        </p:txBody>
      </p:sp>
      <p:sp>
        <p:nvSpPr>
          <p:cNvPr id="2" name="コンテンツ プレースホルダー 2">
            <a:extLst>
              <a:ext uri="{FF2B5EF4-FFF2-40B4-BE49-F238E27FC236}">
                <a16:creationId xmlns:a16="http://schemas.microsoft.com/office/drawing/2014/main" id="{1C6CE88C-8596-67DC-5D00-9B7C1233F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1" y="1389888"/>
            <a:ext cx="11667745" cy="49854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z="60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モデルは</a:t>
            </a:r>
            <a:r>
              <a:rPr lang="en-US" altLang="ja-JP" sz="60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Gemini2.5flush</a:t>
            </a:r>
          </a:p>
          <a:p>
            <a:r>
              <a:rPr lang="ja-JP" altLang="en-US" sz="60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データベースから</a:t>
            </a:r>
            <a:r>
              <a:rPr lang="en-US" altLang="ja-JP" sz="60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JSON</a:t>
            </a:r>
            <a:r>
              <a:rPr lang="ja-JP" altLang="en-US" sz="60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ファイルに</a:t>
            </a:r>
            <a:endParaRPr lang="en-US" altLang="ja-JP" sz="60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  <a:p>
            <a:r>
              <a:rPr lang="ja-JP" altLang="en-US" sz="6000" dirty="0">
                <a:solidFill>
                  <a:srgbClr val="143A66"/>
                </a:solidFill>
                <a:latin typeface="HGP創英角ｺﾞｼｯｸUB"/>
                <a:ea typeface="HGP創英角ｺﾞｼｯｸUB"/>
              </a:rPr>
              <a:t>データを要約→解答を作成</a:t>
            </a:r>
            <a:endParaRPr lang="en-US" altLang="ja-JP" sz="6000" dirty="0">
              <a:solidFill>
                <a:srgbClr val="143A66"/>
              </a:solidFill>
              <a:latin typeface="HGP創英角ｺﾞｼｯｸUB"/>
              <a:ea typeface="HGP創英角ｺﾞｼｯｸUB"/>
            </a:endParaRPr>
          </a:p>
        </p:txBody>
      </p:sp>
    </p:spTree>
    <p:extLst>
      <p:ext uri="{BB962C8B-B14F-4D97-AF65-F5344CB8AC3E}">
        <p14:creationId xmlns:p14="http://schemas.microsoft.com/office/powerpoint/2010/main" val="2285366840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876</Words>
  <Application>Microsoft Office PowerPoint</Application>
  <PresentationFormat>ワイド画面</PresentationFormat>
  <Paragraphs>144</Paragraphs>
  <Slides>15</Slides>
  <Notes>15</Notes>
  <HiddenSlides>3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2" baseType="lpstr">
      <vt:lpstr>HGP創英角ｺﾞｼｯｸUB</vt:lpstr>
      <vt:lpstr>メイリオ</vt:lpstr>
      <vt:lpstr>游ゴシック</vt:lpstr>
      <vt:lpstr>Arial</vt:lpstr>
      <vt:lpstr>Calibri</vt:lpstr>
      <vt:lpstr>Neue Haas Grotesk Text Pro</vt:lpstr>
      <vt:lpstr>VanillaVTI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スクレイピングの仕組み</vt:lpstr>
      <vt:lpstr>カラムについて</vt:lpstr>
      <vt:lpstr>AIの話させ方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AIチャットボット </dc:title>
  <dc:creator>善聖 北野</dc:creator>
  <cp:lastModifiedBy>cre</cp:lastModifiedBy>
  <cp:revision>429</cp:revision>
  <dcterms:created xsi:type="dcterms:W3CDTF">2025-11-17T09:06:02Z</dcterms:created>
  <dcterms:modified xsi:type="dcterms:W3CDTF">2025-12-10T06:10:05Z</dcterms:modified>
</cp:coreProperties>
</file>