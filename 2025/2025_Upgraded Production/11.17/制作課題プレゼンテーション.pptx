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65" r:id="rId5"/>
    <p:sldId id="264" r:id="rId6"/>
    <p:sldId id="266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3A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3FB3CB-F716-9058-F8BC-6D721D847CB6}" v="228" dt="2025-11-17T14:45:11.763"/>
    <p1510:client id="{4DAA3B3B-4937-4A88-8574-71E5BFE3E81B}" v="1424" dt="2025-11-17T14:47:18.756"/>
    <p1510:client id="{7F116808-5237-0E9E-CF52-10F8DAA46977}" v="234" dt="2025-11-17T11:23:35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6" d="100"/>
          <a:sy n="56" d="100"/>
        </p:scale>
        <p:origin x="104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46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742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41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47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60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3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06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34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8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75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69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72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7DA81A-12E2-1F85-79E8-34A9A4866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16" y="1010371"/>
            <a:ext cx="12191998" cy="342392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r>
              <a:rPr kumimoji="1" lang="en-US" altLang="ja-JP" sz="8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AI</a:t>
            </a:r>
            <a:r>
              <a:rPr kumimoji="1" lang="ja-JP" altLang="en-US" sz="8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チャットボット</a:t>
            </a:r>
            <a:br>
              <a:rPr kumimoji="1" lang="en-US" altLang="ja-JP" sz="13800" dirty="0">
                <a:latin typeface="HGP創英角ｺﾞｼｯｸUB"/>
                <a:ea typeface="HGP創英角ｺﾞｼｯｸUB"/>
              </a:rPr>
            </a:br>
            <a:endParaRPr lang="en-US" altLang="ja-JP" sz="13800" dirty="0">
              <a:solidFill>
                <a:schemeClr val="tx2">
                  <a:lumMod val="90000"/>
                  <a:lumOff val="10000"/>
                </a:schemeClr>
              </a:solidFill>
              <a:latin typeface="HGP創英角ｺﾞｼｯｸUB"/>
              <a:ea typeface="HGP創英角ｺﾞｼｯｸUB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1B768E2-BFD6-ED49-A1C8-EAAC5AFEF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5040" y="4434291"/>
            <a:ext cx="10281920" cy="2153602"/>
          </a:xfrm>
        </p:spPr>
        <p:txBody>
          <a:bodyPr anchor="ctr">
            <a:normAutofit/>
          </a:bodyPr>
          <a:lstStyle/>
          <a:p>
            <a:r>
              <a:rPr kumimoji="1" lang="ja-JP" altLang="en-US" sz="4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ホワイトハッカー専攻</a:t>
            </a:r>
            <a:endParaRPr lang="en-US" altLang="ja-JP" sz="40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r>
              <a:rPr kumimoji="1" lang="ja-JP" altLang="en-US" sz="4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梅津亮介、岡本篤希、北野善聖、辻本悠仁</a:t>
            </a:r>
            <a:endParaRPr lang="ja-JP" altLang="en-US" sz="40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  <p:pic>
        <p:nvPicPr>
          <p:cNvPr id="5" name="図 4" descr="ロゴ が含まれている画像">
            <a:extLst>
              <a:ext uri="{FF2B5EF4-FFF2-40B4-BE49-F238E27FC236}">
                <a16:creationId xmlns:a16="http://schemas.microsoft.com/office/drawing/2014/main" id="{947DAACB-70B6-ACB6-CC39-F99D61856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091" y="2167250"/>
            <a:ext cx="5697783" cy="234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08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D976584-8575-0D80-391C-DE6D2BFCF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831" y="378654"/>
            <a:ext cx="9829800" cy="175700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kumimoji="1" lang="ja-JP" altLang="en-US" sz="138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目次</a:t>
            </a:r>
            <a:endParaRPr lang="ja-JP" sz="1380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50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4B2330-6168-9876-D2E9-424977F00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4672" y="2287670"/>
            <a:ext cx="8047896" cy="4180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1371600" indent="-1371600">
              <a:buFont typeface="+mj-ea"/>
              <a:buAutoNum type="circleNumDbPlain"/>
            </a:pPr>
            <a:r>
              <a:rPr kumimoji="1" lang="en-US" altLang="ja-JP" sz="72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YUKA</a:t>
            </a:r>
            <a:r>
              <a:rPr kumimoji="1" lang="ja-JP" altLang="en-US" sz="72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について</a:t>
            </a:r>
            <a:endParaRPr lang="en-US" altLang="ja-JP" sz="720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pPr marL="1371600" indent="-1371600">
              <a:buFont typeface="+mj-ea"/>
              <a:buAutoNum type="circleNumDbPlain"/>
            </a:pPr>
            <a:r>
              <a:rPr lang="ja-JP" altLang="en-US" sz="72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実演</a:t>
            </a:r>
            <a:endParaRPr lang="en-US" altLang="ja-JP" sz="720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pPr marL="1371600" indent="-1371600">
              <a:buFont typeface="+mj-ea"/>
              <a:buAutoNum type="circleNumDbPlain"/>
            </a:pPr>
            <a:r>
              <a:rPr lang="ja-JP" altLang="en-US" sz="72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今後の展望</a:t>
            </a:r>
            <a:endParaRPr lang="en-US" altLang="ja-JP" sz="720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9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図 4" descr="ロゴ が含まれている画像">
            <a:extLst>
              <a:ext uri="{FF2B5EF4-FFF2-40B4-BE49-F238E27FC236}">
                <a16:creationId xmlns:a16="http://schemas.microsoft.com/office/drawing/2014/main" id="{1F26A6A5-0246-555A-6A9D-464924D10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450" y="1264"/>
            <a:ext cx="3361535" cy="137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58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06BA-60CB-3CA6-5F72-F5F5A2AF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FBA390-3F92-335F-CCCD-DA9FE807B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E20E20-F178-DE37-75DE-C4C632793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3F1598-D74E-160B-A158-F26A1AC35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5961DA-E1F4-FD9D-F72D-9646BE65A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8C4B5FC-6310-14CE-D5D2-B6E5D1945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F1A1B2-B2F7-5F29-007A-CF9497B78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B3553A-9C8E-8AD6-1378-845C78325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099AFC-9B2D-C7F8-DD29-918DA511A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C7FC22-940E-F41C-CE30-93D2FECDA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33CD27C-171B-01D4-C29D-D448406CB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58E6AE3-82B1-97C5-AB53-3301321A1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C73C4A7-3692-4500-C910-DC1EE81F3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354F1D8-A208-1FE4-C8CF-C48432E679EB}"/>
              </a:ext>
            </a:extLst>
          </p:cNvPr>
          <p:cNvSpPr/>
          <p:nvPr/>
        </p:nvSpPr>
        <p:spPr>
          <a:xfrm>
            <a:off x="658899" y="3210336"/>
            <a:ext cx="4411223" cy="339434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en-US" altLang="ja-JP" sz="4800" dirty="0">
                <a:solidFill>
                  <a:schemeClr val="accent4">
                    <a:lumMod val="76000"/>
                  </a:schemeClr>
                </a:solidFill>
                <a:latin typeface="HGS創英角ｺﾞｼｯｸUB"/>
                <a:ea typeface="HGS創英角ｺﾞｼｯｸUB"/>
              </a:rPr>
              <a:t>Web</a:t>
            </a:r>
            <a:r>
              <a:rPr lang="ja-JP" altLang="en-US" sz="4800" dirty="0">
                <a:solidFill>
                  <a:schemeClr val="accent4">
                    <a:lumMod val="76000"/>
                  </a:schemeClr>
                </a:solidFill>
                <a:latin typeface="HGS創英角ｺﾞｼｯｸUB"/>
                <a:ea typeface="HGS創英角ｺﾞｼｯｸUB"/>
              </a:rPr>
              <a:t>サイトを</a:t>
            </a:r>
            <a:br>
              <a:rPr lang="en-US" altLang="ja-JP" sz="4800" dirty="0">
                <a:solidFill>
                  <a:schemeClr val="accent4">
                    <a:lumMod val="76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</a:br>
            <a:r>
              <a:rPr lang="ja-JP" altLang="en-US" sz="4800" dirty="0">
                <a:solidFill>
                  <a:schemeClr val="accent4">
                    <a:lumMod val="76000"/>
                  </a:schemeClr>
                </a:solidFill>
                <a:latin typeface="HGS創英角ｺﾞｼｯｸUB"/>
                <a:ea typeface="HGS創英角ｺﾞｼｯｸUB"/>
              </a:rPr>
              <a:t>読み解くのは困難</a:t>
            </a:r>
            <a:endParaRPr kumimoji="1" lang="ja-JP" altLang="en-US" sz="4800" dirty="0">
              <a:solidFill>
                <a:schemeClr val="accent4">
                  <a:lumMod val="76000"/>
                </a:schemeClr>
              </a:solidFill>
              <a:latin typeface="HGS創英角ｺﾞｼｯｸUB"/>
              <a:ea typeface="HGS創英角ｺﾞｼｯｸUB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49C1AA6E-DEFC-E2DF-1AA4-A78D8911DE14}"/>
              </a:ext>
            </a:extLst>
          </p:cNvPr>
          <p:cNvSpPr/>
          <p:nvPr/>
        </p:nvSpPr>
        <p:spPr>
          <a:xfrm>
            <a:off x="7121878" y="3210335"/>
            <a:ext cx="4411223" cy="33943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4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話すだけで</a:t>
            </a:r>
            <a:endParaRPr lang="en-US" altLang="ja-JP" sz="48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pPr algn="ctr"/>
            <a:r>
              <a:rPr lang="ja-JP" altLang="en-US" sz="4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情報が</a:t>
            </a:r>
            <a:endParaRPr lang="en-US" altLang="ja-JP" sz="48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pPr algn="ctr"/>
            <a:r>
              <a:rPr lang="ja-JP" altLang="en-US" sz="4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得られる</a:t>
            </a:r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3D3AAACD-BCFE-AE59-AC98-1DD1A5D3AB89}"/>
              </a:ext>
            </a:extLst>
          </p:cNvPr>
          <p:cNvSpPr/>
          <p:nvPr/>
        </p:nvSpPr>
        <p:spPr>
          <a:xfrm>
            <a:off x="5314188" y="4133088"/>
            <a:ext cx="1563624" cy="1453896"/>
          </a:xfrm>
          <a:prstGeom prst="rightArrow">
            <a:avLst/>
          </a:prstGeom>
          <a:solidFill>
            <a:srgbClr val="143A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28" name="タイトル 1">
            <a:extLst>
              <a:ext uri="{FF2B5EF4-FFF2-40B4-BE49-F238E27FC236}">
                <a16:creationId xmlns:a16="http://schemas.microsoft.com/office/drawing/2014/main" id="{99EC981D-DE1D-D06E-F178-EB6D3B0B9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92" y="519330"/>
            <a:ext cx="10820400" cy="290614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kumimoji="1" lang="ja-JP" altLang="en-US" sz="16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「</a:t>
            </a:r>
            <a:r>
              <a:rPr kumimoji="1" lang="en-US" altLang="ja-JP" sz="16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YUKA</a:t>
            </a:r>
            <a:r>
              <a:rPr kumimoji="1" lang="ja-JP" altLang="en-US" sz="16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」</a:t>
            </a:r>
            <a:endParaRPr lang="ja-JP" sz="166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  <p:pic>
        <p:nvPicPr>
          <p:cNvPr id="32" name="図 31" descr="ロゴ が含まれている画像">
            <a:extLst>
              <a:ext uri="{FF2B5EF4-FFF2-40B4-BE49-F238E27FC236}">
                <a16:creationId xmlns:a16="http://schemas.microsoft.com/office/drawing/2014/main" id="{96A3AD81-BD46-EB88-EF21-54A3838EC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450" y="1264"/>
            <a:ext cx="3361535" cy="137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36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2D5B5-9B44-85E8-1C9D-B641BF22A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A9470FB-F9D8-B58C-66EE-610F9ED92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4AEA2AE-3C70-5BE4-E237-084BC3932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D85DDC-C201-5C03-1C44-C992ADB4D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2594E6D-97E8-786D-7FD2-B9558D034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CD70B5-879F-EE95-CA96-6202C598F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4B4E5A1-7EAE-93F5-526B-BF825F51A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24D512A-2338-EEF1-D9C2-C6B4B0AE4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99795DB-B5F2-D069-72E8-162695BEE3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198A059-4FEF-F07F-FFB2-E8AF78483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223829B-BEE7-4D4C-23BD-79659E613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楕円 2">
            <a:extLst>
              <a:ext uri="{FF2B5EF4-FFF2-40B4-BE49-F238E27FC236}">
                <a16:creationId xmlns:a16="http://schemas.microsoft.com/office/drawing/2014/main" id="{B5F49300-91A8-B366-D0BD-ABDE23483F2F}"/>
              </a:ext>
            </a:extLst>
          </p:cNvPr>
          <p:cNvSpPr/>
          <p:nvPr/>
        </p:nvSpPr>
        <p:spPr>
          <a:xfrm>
            <a:off x="63853" y="1848229"/>
            <a:ext cx="5118913" cy="4663441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4800">
                <a:solidFill>
                  <a:schemeClr val="accent4">
                    <a:lumMod val="76000"/>
                  </a:schemeClr>
                </a:solidFill>
                <a:latin typeface="HGP創英角ｺﾞｼｯｸUB"/>
                <a:ea typeface="HGP創英角ｺﾞｼｯｸUB"/>
              </a:rPr>
              <a:t>ソースが</a:t>
            </a:r>
            <a:endParaRPr lang="en-US" altLang="ja-JP" sz="4800">
              <a:solidFill>
                <a:schemeClr val="accent4">
                  <a:lumMod val="76000"/>
                </a:schemeClr>
              </a:solidFill>
              <a:latin typeface="HGP創英角ｺﾞｼｯｸUB"/>
              <a:ea typeface="HGP創英角ｺﾞｼｯｸUB"/>
            </a:endParaRPr>
          </a:p>
          <a:p>
            <a:pPr algn="ctr"/>
            <a:r>
              <a:rPr kumimoji="1" lang="ja-JP" altLang="en-US" sz="4800">
                <a:solidFill>
                  <a:schemeClr val="accent4">
                    <a:lumMod val="76000"/>
                  </a:schemeClr>
                </a:solidFill>
                <a:latin typeface="HGP創英角ｺﾞｼｯｸUB"/>
                <a:ea typeface="HGP創英角ｺﾞｼｯｸUB"/>
              </a:rPr>
              <a:t>インターネット</a:t>
            </a:r>
            <a:endParaRPr lang="ja-JP" altLang="en-US" sz="4800">
              <a:solidFill>
                <a:schemeClr val="accent4">
                  <a:lumMod val="76000"/>
                </a:schemeClr>
              </a:solidFill>
              <a:latin typeface="HGP創英角ｺﾞｼｯｸUB"/>
              <a:ea typeface="HGP創英角ｺﾞｼｯｸUB"/>
            </a:endParaRPr>
          </a:p>
        </p:txBody>
      </p:sp>
      <p:sp>
        <p:nvSpPr>
          <p:cNvPr id="6" name="円柱 5">
            <a:extLst>
              <a:ext uri="{FF2B5EF4-FFF2-40B4-BE49-F238E27FC236}">
                <a16:creationId xmlns:a16="http://schemas.microsoft.com/office/drawing/2014/main" id="{457847C3-F02B-1B71-E15C-28C124BA5CB2}"/>
              </a:ext>
            </a:extLst>
          </p:cNvPr>
          <p:cNvSpPr/>
          <p:nvPr/>
        </p:nvSpPr>
        <p:spPr>
          <a:xfrm>
            <a:off x="7397496" y="1848231"/>
            <a:ext cx="4233672" cy="4663440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7620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ソースが</a:t>
            </a:r>
            <a:endParaRPr lang="en-US" altLang="ja-JP" sz="60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pPr algn="ctr"/>
            <a:r>
              <a:rPr kumimoji="1" lang="ja-JP" altLang="en-US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データベース</a:t>
            </a:r>
            <a:endParaRPr lang="ja-JP" altLang="en-US" sz="60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729E2F3F-948C-46CE-CC70-C3076F6DFCFA}"/>
              </a:ext>
            </a:extLst>
          </p:cNvPr>
          <p:cNvSpPr/>
          <p:nvPr/>
        </p:nvSpPr>
        <p:spPr>
          <a:xfrm>
            <a:off x="5391149" y="2794635"/>
            <a:ext cx="1794153" cy="2770632"/>
          </a:xfrm>
          <a:prstGeom prst="rightArrow">
            <a:avLst/>
          </a:prstGeom>
          <a:solidFill>
            <a:srgbClr val="143A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D7C20E00-A003-86A4-64B4-82F7AD0E6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8328" y="1851990"/>
            <a:ext cx="5548836" cy="4914709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altLang="ja-JP" sz="44600" dirty="0">
                <a:solidFill>
                  <a:srgbClr val="FF0000"/>
                </a:solidFill>
                <a:latin typeface="HGP創英角ｺﾞｼｯｸUB"/>
                <a:ea typeface="HGP創英角ｺﾞｼｯｸUB"/>
              </a:rPr>
              <a:t>×</a:t>
            </a:r>
            <a:endParaRPr lang="ja-JP" altLang="en-US" sz="44600" dirty="0">
              <a:solidFill>
                <a:srgbClr val="FF0000"/>
              </a:solidFill>
              <a:latin typeface="HGP創英角ｺﾞｼｯｸUB"/>
              <a:ea typeface="HGP創英角ｺﾞｼｯｸUB"/>
            </a:endParaRPr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1E0FD194-235A-101E-B8E6-95F4E5C6C3D8}"/>
              </a:ext>
            </a:extLst>
          </p:cNvPr>
          <p:cNvSpPr txBox="1">
            <a:spLocks/>
          </p:cNvSpPr>
          <p:nvPr/>
        </p:nvSpPr>
        <p:spPr>
          <a:xfrm>
            <a:off x="1373325" y="85725"/>
            <a:ext cx="9829800" cy="18919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0" lang="ja-JP" altLang="en-US" sz="138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相違点</a:t>
            </a:r>
            <a:endParaRPr kumimoji="0" lang="ja-JP" sz="1150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  <p:pic>
        <p:nvPicPr>
          <p:cNvPr id="26" name="図 25" descr="ロゴ が含まれている画像">
            <a:extLst>
              <a:ext uri="{FF2B5EF4-FFF2-40B4-BE49-F238E27FC236}">
                <a16:creationId xmlns:a16="http://schemas.microsoft.com/office/drawing/2014/main" id="{B0A66A0F-9EFE-85CE-BCFD-30C881A4F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450" y="1264"/>
            <a:ext cx="3361535" cy="137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3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CA2CD-FA6E-6987-B90A-8E92BB6F9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67F54CE-FCB6-0510-6589-66364BF30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787F57C-F079-99DC-EF29-E9EC2260B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9C84F1F-ED09-C6AC-4065-58BFD24AB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0F035FF-FF12-E976-104C-CA227C2E8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5A70B0D-7FD5-9136-C874-9B5217430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B278FCF-096A-CF1F-C9E4-03523DF93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12ACDC9-6CF2-3186-7CF6-7AFD0B99F9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B00BE2E-454A-B013-80D8-9F8F8FE7F7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33E7E93-1DF3-4F29-1F68-316200CF4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B303687-C5CC-C3D7-712F-A9ED9AC9E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図 7" descr="ロゴ が含まれている画像">
            <a:extLst>
              <a:ext uri="{FF2B5EF4-FFF2-40B4-BE49-F238E27FC236}">
                <a16:creationId xmlns:a16="http://schemas.microsoft.com/office/drawing/2014/main" id="{540EA068-B2D0-44DA-115E-00D803276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450" y="1264"/>
            <a:ext cx="3361535" cy="1379784"/>
          </a:xfrm>
          <a:prstGeom prst="rect">
            <a:avLst/>
          </a:prstGeom>
        </p:spPr>
      </p:pic>
      <p:sp>
        <p:nvSpPr>
          <p:cNvPr id="13" name="タイトル 1">
            <a:extLst>
              <a:ext uri="{FF2B5EF4-FFF2-40B4-BE49-F238E27FC236}">
                <a16:creationId xmlns:a16="http://schemas.microsoft.com/office/drawing/2014/main" id="{32B690C3-C1A4-1FC5-8CB6-C9D90E620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54" y="2513998"/>
            <a:ext cx="11353800" cy="1835784"/>
          </a:xfrm>
        </p:spPr>
        <p:txBody>
          <a:bodyPr>
            <a:normAutofit/>
          </a:bodyPr>
          <a:lstStyle/>
          <a:p>
            <a:pPr algn="ctr"/>
            <a:r>
              <a:rPr lang="ja-JP" altLang="en-US" sz="115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実演！！！！</a:t>
            </a:r>
          </a:p>
        </p:txBody>
      </p:sp>
    </p:spTree>
    <p:extLst>
      <p:ext uri="{BB962C8B-B14F-4D97-AF65-F5344CB8AC3E}">
        <p14:creationId xmlns:p14="http://schemas.microsoft.com/office/powerpoint/2010/main" val="1254788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FE753-0796-1D52-C119-4ABD56216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A59D17A-551A-C3E1-CAB4-2BD0619DA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BD9267D-8247-953B-542C-AAF96801DB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C24ED87-1842-77D2-C8BB-C98948355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0A4659A-1D1E-BB82-4B3E-D5450090BC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CA0BE68-0B40-70A7-F146-605E8E052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C4EF96-F9BF-40A6-07EA-7DFC8D81C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B52E8D-1A0D-3B62-C384-B048F72B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97229CA-E4E0-D3FC-32F3-88AAC18987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63202AE-A98F-9268-C223-0BCEC455C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54B6FA2-7478-9484-3D01-B4D2B084A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図 7" descr="ロゴ が含まれている画像">
            <a:extLst>
              <a:ext uri="{FF2B5EF4-FFF2-40B4-BE49-F238E27FC236}">
                <a16:creationId xmlns:a16="http://schemas.microsoft.com/office/drawing/2014/main" id="{0B5D006B-7194-A280-3F49-DACAFE3F7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450" y="1264"/>
            <a:ext cx="3361535" cy="1379784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35633672-1B5A-470D-ED27-04476C579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482690"/>
            <a:ext cx="10653578" cy="1525450"/>
          </a:xfrm>
        </p:spPr>
        <p:txBody>
          <a:bodyPr anchor="ctr">
            <a:normAutofit/>
          </a:bodyPr>
          <a:lstStyle/>
          <a:p>
            <a:r>
              <a:rPr lang="ja-JP" altLang="en-US" sz="96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今後の展望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280A4523-C9D6-9882-E19D-69038E9A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1781482"/>
            <a:ext cx="11247121" cy="45938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z="54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内部の人たちでも役に立つように</a:t>
            </a:r>
          </a:p>
          <a:p>
            <a:r>
              <a:rPr lang="ja-JP" altLang="en-US" sz="54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完全に自分専用のAIと機能するように</a:t>
            </a:r>
            <a:endParaRPr lang="en-US" altLang="ja-JP" sz="540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r>
              <a:rPr lang="ja-JP" altLang="en-US" sz="5400">
                <a:solidFill>
                  <a:srgbClr val="143A66"/>
                </a:solidFill>
                <a:uFill>
                  <a:solidFill>
                    <a:srgbClr val="FF0000"/>
                  </a:solidFill>
                </a:uFill>
                <a:latin typeface="HGP創英角ｺﾞｼｯｸUB"/>
                <a:ea typeface="HGP創英角ｺﾞｼｯｸUB"/>
              </a:rPr>
              <a:t>会社のホームページ</a:t>
            </a:r>
            <a:r>
              <a:rPr lang="ja-JP" altLang="en-US" sz="54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でも使えるように</a:t>
            </a:r>
          </a:p>
        </p:txBody>
      </p:sp>
    </p:spTree>
    <p:extLst>
      <p:ext uri="{BB962C8B-B14F-4D97-AF65-F5344CB8AC3E}">
        <p14:creationId xmlns:p14="http://schemas.microsoft.com/office/powerpoint/2010/main" val="1828704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E58D88-7646-7039-805E-C5BB05F8A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145D8F-148C-AAE9-B638-DE1CCAF7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/>
          </a:p>
        </p:txBody>
      </p:sp>
      <p:pic>
        <p:nvPicPr>
          <p:cNvPr id="10" name="図 9" descr="ロゴ, 会社名&#10;&#10;AI 生成コンテンツは誤りを含む可能性があります。">
            <a:extLst>
              <a:ext uri="{FF2B5EF4-FFF2-40B4-BE49-F238E27FC236}">
                <a16:creationId xmlns:a16="http://schemas.microsoft.com/office/drawing/2014/main" id="{30E713F4-4992-635C-E863-0DF80FBC2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3390" y="-937260"/>
            <a:ext cx="13098780" cy="873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58651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Microsoft Office PowerPoint</Application>
  <PresentationFormat>ワイド画面</PresentationFormat>
  <Paragraphs>25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HGP創英角ｺﾞｼｯｸUB</vt:lpstr>
      <vt:lpstr>HGS創英角ｺﾞｼｯｸUB</vt:lpstr>
      <vt:lpstr>Arial</vt:lpstr>
      <vt:lpstr>Neue Haas Grotesk Text Pro</vt:lpstr>
      <vt:lpstr>VanillaVTI</vt:lpstr>
      <vt:lpstr>AIチャットボット </vt:lpstr>
      <vt:lpstr>目次</vt:lpstr>
      <vt:lpstr>「YUKA」</vt:lpstr>
      <vt:lpstr>×</vt:lpstr>
      <vt:lpstr>実演！！！！</vt:lpstr>
      <vt:lpstr>今後の展望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善聖 北野</dc:creator>
  <cp:lastModifiedBy>善聖 北野</cp:lastModifiedBy>
  <cp:revision>2</cp:revision>
  <dcterms:created xsi:type="dcterms:W3CDTF">2025-11-17T09:06:02Z</dcterms:created>
  <dcterms:modified xsi:type="dcterms:W3CDTF">2025-11-17T14:47:18Z</dcterms:modified>
</cp:coreProperties>
</file>