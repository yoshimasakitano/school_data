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3" r:id="rId6"/>
    <p:sldId id="266" r:id="rId7"/>
    <p:sldId id="264" r:id="rId8"/>
    <p:sldId id="268" r:id="rId9"/>
    <p:sldId id="269" r:id="rId10"/>
    <p:sldId id="261" r:id="rId11"/>
    <p:sldId id="260" r:id="rId12"/>
    <p:sldId id="265" r:id="rId13"/>
    <p:sldId id="267" r:id="rId14"/>
  </p:sldIdLst>
  <p:sldSz cx="18288000" cy="10287000"/>
  <p:notesSz cx="6858000" cy="9144000"/>
  <p:embeddedFontLst>
    <p:embeddedFont>
      <p:font typeface="Cooper BT Light" panose="020B0604020202020204" charset="0"/>
      <p:regular r:id="rId15"/>
    </p:embeddedFont>
    <p:embeddedFont>
      <p:font typeface="Cooper BT Medium" panose="020B0604020202020204" charset="0"/>
      <p:regular r:id="rId16"/>
    </p:embeddedFont>
    <p:embeddedFont>
      <p:font typeface="TT Interphases" panose="020B0604020202020204" charset="0"/>
      <p:regular r:id="rId17"/>
    </p:embeddedFont>
    <p:embeddedFont>
      <p:font typeface="TT Interphase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E50701-AAF4-8239-88E6-D0F6D8E8060C}" v="1" dt="2025-11-11T00:35: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54" y="6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ゲスト ユーザー" userId="S::urn:spo:tenantanon#e534246b-737e-47fa-8aa7-2ddfb6af57c6::" providerId="AD" clId="Web-{E7E50701-AAF4-8239-88E6-D0F6D8E8060C}"/>
    <pc:docChg chg="sldOrd">
      <pc:chgData name="ゲスト ユーザー" userId="S::urn:spo:tenantanon#e534246b-737e-47fa-8aa7-2ddfb6af57c6::" providerId="AD" clId="Web-{E7E50701-AAF4-8239-88E6-D0F6D8E8060C}" dt="2025-11-11T00:35:10" v="0"/>
      <pc:docMkLst>
        <pc:docMk/>
      </pc:docMkLst>
      <pc:sldChg chg="ord">
        <pc:chgData name="ゲスト ユーザー" userId="S::urn:spo:tenantanon#e534246b-737e-47fa-8aa7-2ddfb6af57c6::" providerId="AD" clId="Web-{E7E50701-AAF4-8239-88E6-D0F6D8E8060C}" dt="2025-11-11T00:35:10" v="0"/>
        <pc:sldMkLst>
          <pc:docMk/>
          <pc:sldMk cId="0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97EA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582025" y="2476500"/>
            <a:ext cx="9448800" cy="28329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1499"/>
              </a:lnSpc>
            </a:pPr>
            <a:r>
              <a:rPr lang="en-US" sz="9200" spc="-229" dirty="0" err="1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AIチャットボット開発</a:t>
            </a:r>
            <a:r>
              <a:rPr lang="ja-JP" altLang="en-US" sz="9200" spc="-229" dirty="0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と進捗報告</a:t>
            </a:r>
            <a:endParaRPr lang="en-US" sz="9200" spc="-229" dirty="0">
              <a:solidFill>
                <a:srgbClr val="497EA6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9144000" y="7505700"/>
            <a:ext cx="8324850" cy="944693"/>
            <a:chOff x="0" y="-19050"/>
            <a:chExt cx="11099800" cy="1259589"/>
          </a:xfrm>
        </p:grpSpPr>
        <p:sp>
          <p:nvSpPr>
            <p:cNvPr id="9" name="TextBox 9"/>
            <p:cNvSpPr txBox="1"/>
            <p:nvPr/>
          </p:nvSpPr>
          <p:spPr>
            <a:xfrm>
              <a:off x="0" y="659184"/>
              <a:ext cx="11099800" cy="581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ja-JP" altLang="en-US" sz="3200" dirty="0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梅津亮介、岡本篤希、北野善聖、辻本悠仁</a:t>
              </a:r>
              <a:endParaRPr lang="en-US" sz="3200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1099800" cy="581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800" b="1" dirty="0">
                  <a:solidFill>
                    <a:srgbClr val="27496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[Presenter Name]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81000" y="3351118"/>
            <a:ext cx="15742024" cy="3584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</a:pPr>
            <a:r>
              <a:rPr lang="ja-JP" altLang="en-US" sz="5400" u="none" strike="noStrike" spc="-47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・</a:t>
            </a:r>
            <a:r>
              <a:rPr lang="en-US" sz="5400" u="none" strike="noStrike" spc="-47" dirty="0" err="1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入学希望者や新入生が学校について</a:t>
            </a:r>
            <a:r>
              <a:rPr lang="ja-JP" altLang="en-US" sz="5400" u="none" strike="noStrike" spc="-47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、　</a:t>
            </a:r>
            <a:endParaRPr lang="en-US" altLang="ja-JP" sz="5400" u="none" strike="noStrike" spc="-47" dirty="0">
              <a:solidFill>
                <a:srgbClr val="27496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marL="0" lvl="0" indent="0" algn="l">
              <a:lnSpc>
                <a:spcPct val="150000"/>
              </a:lnSpc>
            </a:pPr>
            <a:r>
              <a:rPr lang="ja-JP" altLang="en-US" sz="5400" spc="-47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　</a:t>
            </a:r>
            <a:r>
              <a:rPr lang="en-US" sz="5400" u="none" strike="noStrike" spc="-47" dirty="0" err="1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気軽に質問できる仕組みを</a:t>
            </a:r>
            <a:r>
              <a:rPr lang="ja-JP" altLang="en-US" sz="5400" u="none" strike="noStrike" spc="-47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提供すること</a:t>
            </a:r>
            <a:endParaRPr lang="en-US" sz="5400" u="none" strike="noStrike" spc="-47" dirty="0">
              <a:solidFill>
                <a:srgbClr val="27496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marL="0" lvl="0" indent="0" algn="l">
              <a:lnSpc>
                <a:spcPct val="150000"/>
              </a:lnSpc>
            </a:pPr>
            <a:r>
              <a:rPr lang="ja-JP" altLang="en-US" sz="5400" u="none" strike="noStrike" spc="-47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・</a:t>
            </a:r>
            <a:r>
              <a:rPr lang="en-US" sz="5400" u="none" strike="noStrike" spc="-47" dirty="0" err="1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情報収集と自然な応答を実現すること</a:t>
            </a:r>
            <a:endParaRPr lang="en-US" sz="5400" u="none" strike="noStrike" spc="-47" dirty="0">
              <a:solidFill>
                <a:srgbClr val="27496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048000" y="1257300"/>
            <a:ext cx="12192000" cy="129022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l">
              <a:lnSpc>
                <a:spcPts val="9874"/>
              </a:lnSpc>
              <a:spcBef>
                <a:spcPct val="0"/>
              </a:spcBef>
            </a:pPr>
            <a:r>
              <a:rPr lang="en-US" sz="11800" u="none" strike="noStrike" spc="-197" dirty="0" err="1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プロジェクト目的</a:t>
            </a:r>
            <a:endParaRPr lang="en-US" sz="11800" u="none" strike="noStrike" spc="-197" dirty="0">
              <a:solidFill>
                <a:srgbClr val="497EA6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428144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63000" y="2552700"/>
            <a:ext cx="9214597" cy="5832991"/>
            <a:chOff x="-16222" y="180975"/>
            <a:chExt cx="11116022" cy="5639423"/>
          </a:xfrm>
        </p:grpSpPr>
        <p:sp>
          <p:nvSpPr>
            <p:cNvPr id="3" name="TextBox 3"/>
            <p:cNvSpPr txBox="1"/>
            <p:nvPr/>
          </p:nvSpPr>
          <p:spPr>
            <a:xfrm>
              <a:off x="0" y="4260838"/>
              <a:ext cx="110998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 dirty="0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自然な対話を通じて、入学希望者は学校の特徴や魅力を簡単に知ることができます。このチャットボットは、情報収集から応答までを自動化することを目指しています。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0975"/>
              <a:ext cx="11099800" cy="1356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200" u="none" strike="noStrike" spc="-190" dirty="0" err="1">
                  <a:solidFill>
                    <a:srgbClr val="497EA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AIチャットボット</a:t>
              </a:r>
              <a:endParaRPr lang="en-US" sz="9200" u="none" strike="noStrike" spc="-190" dirty="0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6222" y="2853124"/>
              <a:ext cx="11099800" cy="5680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4000" b="1" u="none" strike="noStrike" spc="-48" dirty="0" err="1">
                  <a:solidFill>
                    <a:srgbClr val="27496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学校概要を自動で説明する</a:t>
              </a:r>
              <a:r>
                <a:rPr lang="ja-JP" altLang="en-US" sz="4000" b="1" u="none" strike="noStrike" spc="-48" dirty="0">
                  <a:solidFill>
                    <a:srgbClr val="27496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こと</a:t>
              </a:r>
              <a:endParaRPr lang="en-US" sz="4000" b="1" u="none" strike="noStrike" spc="-48" dirty="0">
                <a:solidFill>
                  <a:srgbClr val="27496D"/>
                </a:solidFill>
                <a:latin typeface="TT Interphases Bold"/>
                <a:ea typeface="TT Interphases Bold"/>
                <a:cs typeface="TT Interphases Bold"/>
                <a:sym typeface="TT Interphases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97EA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9099" y="1286002"/>
            <a:ext cx="17449800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9600" u="none" strike="noStrike" spc="-169" dirty="0" err="1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AIチャットボット開発</a:t>
            </a:r>
            <a:endParaRPr lang="en-US" sz="9600" u="none" strike="noStrike" spc="-169" dirty="0">
              <a:solidFill>
                <a:srgbClr val="497EA6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9600" u="none" strike="noStrike" spc="-169" dirty="0" err="1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仕組みと特徴</a:t>
            </a:r>
            <a:endParaRPr lang="en-US" sz="9600" u="none" strike="noStrike" spc="-169" dirty="0">
              <a:solidFill>
                <a:srgbClr val="497EA6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66750" y="4248150"/>
            <a:ext cx="5448300" cy="5372100"/>
            <a:chOff x="0" y="0"/>
            <a:chExt cx="1434943" cy="14148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4943" cy="1414874"/>
            </a:xfrm>
            <a:custGeom>
              <a:avLst/>
              <a:gdLst/>
              <a:ahLst/>
              <a:cxnLst/>
              <a:rect l="l" t="t" r="r" b="b"/>
              <a:pathLst>
                <a:path w="1434943" h="141487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19850" y="4245909"/>
            <a:ext cx="5448300" cy="5372100"/>
            <a:chOff x="0" y="0"/>
            <a:chExt cx="1434943" cy="14148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4943" cy="1414874"/>
            </a:xfrm>
            <a:custGeom>
              <a:avLst/>
              <a:gdLst/>
              <a:ahLst/>
              <a:cxnLst/>
              <a:rect l="l" t="t" r="r" b="b"/>
              <a:pathLst>
                <a:path w="1434943" h="141487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72950" y="4248150"/>
            <a:ext cx="5448300" cy="5372100"/>
            <a:chOff x="0" y="0"/>
            <a:chExt cx="1434943" cy="14148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4943" cy="1414874"/>
            </a:xfrm>
            <a:custGeom>
              <a:avLst/>
              <a:gdLst/>
              <a:ahLst/>
              <a:cxnLst/>
              <a:rect l="l" t="t" r="r" b="b"/>
              <a:pathLst>
                <a:path w="1434943" h="141487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892087" y="6541487"/>
            <a:ext cx="4010025" cy="159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3200" u="none" strike="noStrike" spc="-48" dirty="0" err="1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OpenAI</a:t>
            </a:r>
            <a:r>
              <a:rPr lang="en-US" sz="3200" u="none" strike="noStrike" spc="-48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200" u="none" strike="noStrike" spc="-48" dirty="0" err="1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APIを利用し、収集したデータに基づいて、自然な質問応答を実現します</a:t>
            </a:r>
            <a:r>
              <a:rPr lang="en-US" sz="3200" u="none" strike="noStrike" spc="-48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34900" y="5130355"/>
            <a:ext cx="4724400" cy="528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  <a:spcBef>
                <a:spcPct val="0"/>
              </a:spcBef>
            </a:pPr>
            <a:r>
              <a:rPr lang="en-US" sz="5400" u="none" strike="noStrike" dirty="0" err="1">
                <a:solidFill>
                  <a:srgbClr val="27496D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質問応答機能</a:t>
            </a:r>
            <a:endParaRPr lang="en-US" sz="5400" u="none" strike="noStrike" dirty="0">
              <a:solidFill>
                <a:srgbClr val="27496D"/>
              </a:solidFill>
              <a:latin typeface="Cooper BT Medium"/>
              <a:ea typeface="Cooper BT Medium"/>
              <a:cs typeface="Cooper BT Medium"/>
              <a:sym typeface="Cooper BT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158037" y="6396380"/>
            <a:ext cx="3971925" cy="1987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3200" u="none" strike="noStrike" spc="-48" dirty="0" err="1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AIによる自動的なカテゴリ分類が行われ、学校概要や専攻情報などの情報が整理されます</a:t>
            </a:r>
            <a:r>
              <a:rPr lang="en-US" sz="3200" u="none" strike="noStrike" spc="-48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00067" y="5130354"/>
            <a:ext cx="5087865" cy="528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  <a:spcBef>
                <a:spcPct val="0"/>
              </a:spcBef>
            </a:pPr>
            <a:r>
              <a:rPr lang="en-US" sz="5400" u="none" strike="noStrike" dirty="0" err="1">
                <a:solidFill>
                  <a:srgbClr val="27496D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カテゴリ分類</a:t>
            </a:r>
            <a:endParaRPr lang="en-US" sz="5400" u="none" strike="noStrike" dirty="0">
              <a:solidFill>
                <a:srgbClr val="27496D"/>
              </a:solidFill>
              <a:latin typeface="Cooper BT Medium"/>
              <a:ea typeface="Cooper BT Medium"/>
              <a:cs typeface="Cooper BT Medium"/>
              <a:sym typeface="Cooper BT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30557" y="6398547"/>
            <a:ext cx="4010025" cy="1987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3200" u="none" strike="noStrike" spc="-48" dirty="0" err="1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Webスクレイピングを用いた短文情報の抽出によって、必要なデータを効率よく収集します</a:t>
            </a:r>
            <a:r>
              <a:rPr lang="en-US" sz="3200" u="none" strike="noStrike" spc="-48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6299" y="5058885"/>
            <a:ext cx="5029199" cy="528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  <a:spcBef>
                <a:spcPct val="0"/>
              </a:spcBef>
            </a:pPr>
            <a:r>
              <a:rPr lang="en-US" sz="5400" u="none" strike="noStrike" dirty="0" err="1">
                <a:solidFill>
                  <a:srgbClr val="27496D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情報収集</a:t>
            </a:r>
            <a:endParaRPr lang="en-US" sz="5400" u="none" strike="noStrike" dirty="0">
              <a:solidFill>
                <a:srgbClr val="27496D"/>
              </a:solidFill>
              <a:latin typeface="Cooper BT Medium"/>
              <a:ea typeface="Cooper BT Medium"/>
              <a:cs typeface="Cooper BT Medium"/>
              <a:sym typeface="Cooper BT Medium"/>
            </a:endParaRPr>
          </a:p>
        </p:txBody>
      </p:sp>
      <p:sp>
        <p:nvSpPr>
          <p:cNvPr id="18" name="Freeform 18"/>
          <p:cNvSpPr/>
          <p:nvPr/>
        </p:nvSpPr>
        <p:spPr>
          <a:xfrm rot="10445243" flipH="1">
            <a:off x="-689073" y="5800140"/>
            <a:ext cx="1876083" cy="1497455"/>
          </a:xfrm>
          <a:custGeom>
            <a:avLst/>
            <a:gdLst/>
            <a:ahLst/>
            <a:cxnLst/>
            <a:rect l="l" t="t" r="r" b="b"/>
            <a:pathLst>
              <a:path w="1876083" h="1497455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10600" y="2863734"/>
            <a:ext cx="9296400" cy="5699762"/>
            <a:chOff x="0" y="180975"/>
            <a:chExt cx="11099800" cy="5724022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11678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 dirty="0" err="1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現在、私たちのプロジェクトはAIチャットボットのための</a:t>
              </a:r>
              <a:r>
                <a:rPr lang="en-US" sz="2400" b="1" u="none" strike="noStrike" spc="-48" dirty="0" err="1">
                  <a:solidFill>
                    <a:srgbClr val="27496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直感的な操作環境</a:t>
              </a:r>
              <a:r>
                <a:rPr lang="en-US" sz="2400" u="none" strike="noStrike" spc="-48" dirty="0" err="1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を</a:t>
              </a:r>
              <a:r>
                <a:rPr lang="ja-JP" altLang="en-US" sz="2400" spc="-48" dirty="0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構築</a:t>
              </a:r>
              <a:r>
                <a:rPr lang="en-US" sz="2400" u="none" strike="noStrike" spc="-48" dirty="0" err="1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中です。ユーザーがスムーズに利用できるUIを目指しています</a:t>
              </a:r>
              <a:r>
                <a:rPr lang="en-US" sz="2400" u="none" strike="noStrike" spc="-48" dirty="0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0975"/>
              <a:ext cx="11099800" cy="3341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 dirty="0" err="1">
                  <a:solidFill>
                    <a:srgbClr val="497EA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フロントエンド構築</a:t>
              </a:r>
              <a:endParaRPr lang="en-US" sz="9500" u="none" strike="noStrike" spc="-190" dirty="0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314080"/>
              <a:ext cx="11099800" cy="416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4000" b="1" u="none" strike="noStrike" spc="-48" dirty="0" err="1">
                  <a:solidFill>
                    <a:srgbClr val="27496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AI利用のための操作環境整備</a:t>
              </a:r>
              <a:endParaRPr lang="en-US" sz="4000" b="1" u="none" strike="noStrike" spc="-48" dirty="0">
                <a:solidFill>
                  <a:srgbClr val="27496D"/>
                </a:solidFill>
                <a:latin typeface="TT Interphases Bold"/>
                <a:ea typeface="TT Interphases Bold"/>
                <a:cs typeface="TT Interphases Bold"/>
                <a:sym typeface="TT Interphases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97EA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0" y="5143500"/>
            <a:ext cx="5448300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19"/>
              </a:lnSpc>
            </a:pPr>
            <a:r>
              <a:rPr lang="en-US" sz="9600" spc="-480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50%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05025" y="5143500"/>
            <a:ext cx="5448300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519"/>
              </a:lnSpc>
            </a:pPr>
            <a:r>
              <a:rPr lang="en-US" sz="9600" spc="-480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75%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795338"/>
            <a:ext cx="14954250" cy="2988123"/>
            <a:chOff x="0" y="171451"/>
            <a:chExt cx="19939000" cy="3984165"/>
          </a:xfrm>
        </p:grpSpPr>
        <p:sp>
          <p:nvSpPr>
            <p:cNvPr id="5" name="TextBox 5"/>
            <p:cNvSpPr txBox="1"/>
            <p:nvPr/>
          </p:nvSpPr>
          <p:spPr>
            <a:xfrm>
              <a:off x="0" y="171451"/>
              <a:ext cx="19939000" cy="14533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8499"/>
                </a:lnSpc>
                <a:spcBef>
                  <a:spcPct val="0"/>
                </a:spcBef>
              </a:pPr>
              <a:r>
                <a:rPr lang="en-US" sz="8499" u="none" strike="noStrike" spc="-169" dirty="0" err="1">
                  <a:solidFill>
                    <a:srgbClr val="497EA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フロントエンド構築の進捗報告</a:t>
              </a:r>
              <a:endParaRPr lang="en-US" sz="8499" u="none" strike="noStrike" spc="-169" dirty="0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603157"/>
              <a:ext cx="18770600" cy="552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4000" b="1" u="none" strike="noStrike" spc="-48" dirty="0" err="1">
                  <a:solidFill>
                    <a:srgbClr val="27496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現在の実装状況を示します</a:t>
              </a:r>
              <a:endParaRPr lang="en-US" sz="4000" b="1" u="none" strike="noStrike" spc="-48" dirty="0">
                <a:solidFill>
                  <a:srgbClr val="27496D"/>
                </a:solidFill>
                <a:latin typeface="TT Interphases Bold"/>
                <a:ea typeface="TT Interphases Bold"/>
                <a:cs typeface="TT Interphases Bold"/>
                <a:sym typeface="TT Interphases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105025" y="7829550"/>
            <a:ext cx="6886575" cy="1031014"/>
            <a:chOff x="0" y="0"/>
            <a:chExt cx="9182100" cy="1374685"/>
          </a:xfrm>
        </p:grpSpPr>
        <p:sp>
          <p:nvSpPr>
            <p:cNvPr id="8" name="TextBox 8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7496D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実装済み機能の進捗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854346"/>
              <a:ext cx="9182100" cy="5203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  <a:spcBef>
                  <a:spcPct val="0"/>
                </a:spcBef>
              </a:pPr>
              <a:r>
                <a:rPr lang="en-US" sz="2399" u="none" strike="noStrike" spc="-47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主要機能が75%完了しています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96400" y="7829550"/>
            <a:ext cx="6886575" cy="1031014"/>
            <a:chOff x="0" y="0"/>
            <a:chExt cx="9182100" cy="137468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7496D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UIデザインの進行状況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854346"/>
              <a:ext cx="9182100" cy="5203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  <a:spcBef>
                  <a:spcPct val="0"/>
                </a:spcBef>
              </a:pPr>
              <a:r>
                <a:rPr lang="en-US" sz="2399" u="none" strike="noStrike" spc="-47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現在50%のデザインが完成しています</a:t>
              </a:r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16850868" y="692349"/>
            <a:ext cx="1876083" cy="1497455"/>
          </a:xfrm>
          <a:custGeom>
            <a:avLst/>
            <a:gdLst/>
            <a:ahLst/>
            <a:cxnLst/>
            <a:rect l="l" t="t" r="r" b="b"/>
            <a:pathLst>
              <a:path w="1876083" h="1497455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9828254" flipH="1">
            <a:off x="-696564" y="7785594"/>
            <a:ext cx="1876083" cy="1497455"/>
          </a:xfrm>
          <a:custGeom>
            <a:avLst/>
            <a:gdLst/>
            <a:ahLst/>
            <a:cxnLst/>
            <a:rect l="l" t="t" r="r" b="b"/>
            <a:pathLst>
              <a:path w="1876083" h="1497455">
                <a:moveTo>
                  <a:pt x="1876083" y="0"/>
                </a:moveTo>
                <a:lnTo>
                  <a:pt x="0" y="0"/>
                </a:lnTo>
                <a:lnTo>
                  <a:pt x="0" y="1497456"/>
                </a:lnTo>
                <a:lnTo>
                  <a:pt x="1876083" y="1497456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7FD5D173-AFF5-458A-9AAD-94CC1937D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887" y="692349"/>
            <a:ext cx="18278475" cy="8715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5448300" cy="6267450"/>
            <a:chOff x="0" y="0"/>
            <a:chExt cx="1434943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3352800"/>
            <a:ext cx="5448300" cy="6267450"/>
            <a:chOff x="0" y="0"/>
            <a:chExt cx="1434943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3352800"/>
            <a:ext cx="5448300" cy="6267450"/>
            <a:chOff x="0" y="0"/>
            <a:chExt cx="1434943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7589" y="838200"/>
            <a:ext cx="16952821" cy="112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実装済み機能リスト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05025" y="4248262"/>
            <a:ext cx="2571750" cy="3436434"/>
            <a:chOff x="0" y="0"/>
            <a:chExt cx="3429000" cy="458191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42875"/>
              <a:ext cx="3429000" cy="1474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497EA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749326"/>
              <a:ext cx="34290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27496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ログイン機能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543052"/>
              <a:ext cx="34290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ユーザー認証の実装済み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8125" y="4248150"/>
            <a:ext cx="2571750" cy="3436471"/>
            <a:chOff x="0" y="0"/>
            <a:chExt cx="3429000" cy="4581962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42875"/>
              <a:ext cx="3429000" cy="1474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497EA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749326"/>
              <a:ext cx="34290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7496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ユーザー作成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3543102"/>
              <a:ext cx="34290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新規アカウント作成が可能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11225" y="4248150"/>
            <a:ext cx="2571750" cy="3436620"/>
            <a:chOff x="0" y="0"/>
            <a:chExt cx="3429000" cy="458216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142875"/>
              <a:ext cx="3429000" cy="1474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160">
                  <a:solidFill>
                    <a:srgbClr val="497EA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749326"/>
              <a:ext cx="34290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7496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アプリ連結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543300"/>
              <a:ext cx="34290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他アプリとの接続が実現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0" y="5143500"/>
            <a:ext cx="5448300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19"/>
              </a:lnSpc>
            </a:pPr>
            <a:r>
              <a:rPr lang="en-US" sz="9600" spc="-480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50%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05025" y="5143500"/>
            <a:ext cx="5448300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519"/>
              </a:lnSpc>
            </a:pPr>
            <a:r>
              <a:rPr lang="en-US" sz="9600" spc="-480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75%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795338"/>
            <a:ext cx="14954250" cy="2988123"/>
            <a:chOff x="0" y="171451"/>
            <a:chExt cx="19939000" cy="3984165"/>
          </a:xfrm>
        </p:grpSpPr>
        <p:sp>
          <p:nvSpPr>
            <p:cNvPr id="5" name="TextBox 5"/>
            <p:cNvSpPr txBox="1"/>
            <p:nvPr/>
          </p:nvSpPr>
          <p:spPr>
            <a:xfrm>
              <a:off x="0" y="171451"/>
              <a:ext cx="19939000" cy="14533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8499"/>
                </a:lnSpc>
                <a:spcBef>
                  <a:spcPct val="0"/>
                </a:spcBef>
              </a:pPr>
              <a:r>
                <a:rPr lang="en-US" sz="8499" u="none" strike="noStrike" spc="-169" dirty="0" err="1">
                  <a:solidFill>
                    <a:srgbClr val="497EA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フロントエンド構築の進捗報告</a:t>
              </a:r>
              <a:endParaRPr lang="en-US" sz="8499" u="none" strike="noStrike" spc="-169" dirty="0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603157"/>
              <a:ext cx="18770600" cy="552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4000" b="1" u="none" strike="noStrike" spc="-48" dirty="0" err="1">
                  <a:solidFill>
                    <a:srgbClr val="27496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現在の実装状況を示します</a:t>
              </a:r>
              <a:endParaRPr lang="en-US" sz="4000" b="1" u="none" strike="noStrike" spc="-48" dirty="0">
                <a:solidFill>
                  <a:srgbClr val="27496D"/>
                </a:solidFill>
                <a:latin typeface="TT Interphases Bold"/>
                <a:ea typeface="TT Interphases Bold"/>
                <a:cs typeface="TT Interphases Bold"/>
                <a:sym typeface="TT Interphases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105025" y="7829550"/>
            <a:ext cx="6886575" cy="1031014"/>
            <a:chOff x="0" y="0"/>
            <a:chExt cx="9182100" cy="1374685"/>
          </a:xfrm>
        </p:grpSpPr>
        <p:sp>
          <p:nvSpPr>
            <p:cNvPr id="8" name="TextBox 8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7496D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実装済み機能の進捗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854346"/>
              <a:ext cx="9182100" cy="5203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  <a:spcBef>
                  <a:spcPct val="0"/>
                </a:spcBef>
              </a:pPr>
              <a:r>
                <a:rPr lang="en-US" sz="2399" u="none" strike="noStrike" spc="-47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主要機能が75%完了しています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96400" y="7829550"/>
            <a:ext cx="6886575" cy="1031014"/>
            <a:chOff x="0" y="0"/>
            <a:chExt cx="9182100" cy="137468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28575"/>
              <a:ext cx="91821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7496D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UIデザインの進行状況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854346"/>
              <a:ext cx="9182100" cy="5203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  <a:spcBef>
                  <a:spcPct val="0"/>
                </a:spcBef>
              </a:pPr>
              <a:r>
                <a:rPr lang="en-US" sz="2399" u="none" strike="noStrike" spc="-47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現在50%のデザインが完成しています</a:t>
              </a:r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16850868" y="692349"/>
            <a:ext cx="1876083" cy="1497455"/>
          </a:xfrm>
          <a:custGeom>
            <a:avLst/>
            <a:gdLst/>
            <a:ahLst/>
            <a:cxnLst/>
            <a:rect l="l" t="t" r="r" b="b"/>
            <a:pathLst>
              <a:path w="1876083" h="1497455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9828254" flipH="1">
            <a:off x="-696564" y="7785594"/>
            <a:ext cx="1876083" cy="1497455"/>
          </a:xfrm>
          <a:custGeom>
            <a:avLst/>
            <a:gdLst/>
            <a:ahLst/>
            <a:cxnLst/>
            <a:rect l="l" t="t" r="r" b="b"/>
            <a:pathLst>
              <a:path w="1876083" h="1497455">
                <a:moveTo>
                  <a:pt x="1876083" y="0"/>
                </a:moveTo>
                <a:lnTo>
                  <a:pt x="0" y="0"/>
                </a:lnTo>
                <a:lnTo>
                  <a:pt x="0" y="1497456"/>
                </a:lnTo>
                <a:lnTo>
                  <a:pt x="1876083" y="1497456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3763718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81000" y="3351118"/>
            <a:ext cx="15742024" cy="4831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</a:pPr>
            <a:r>
              <a:rPr lang="ja-JP" altLang="en-US" sz="5400" u="none" strike="noStrike" spc="-47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・デザインや操作性を改善</a:t>
            </a:r>
            <a:endParaRPr lang="en-US" altLang="ja-JP" sz="5400" u="none" strike="noStrike" spc="-47" dirty="0">
              <a:solidFill>
                <a:srgbClr val="27496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marL="0" lvl="0" indent="0" algn="l">
              <a:lnSpc>
                <a:spcPct val="150000"/>
              </a:lnSpc>
            </a:pPr>
            <a:r>
              <a:rPr lang="ja-JP" altLang="en-US" sz="5400" u="none" strike="noStrike" spc="-47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・</a:t>
            </a:r>
            <a:r>
              <a:rPr lang="en-US" altLang="ja-JP" sz="5400" u="none" strike="noStrike" spc="-47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AI</a:t>
            </a:r>
            <a:r>
              <a:rPr lang="ja-JP" altLang="en-US" sz="5400" spc="-47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がより自然に応答できるように改善</a:t>
            </a:r>
            <a:endParaRPr lang="en-US" altLang="ja-JP" sz="5400" spc="-47" dirty="0">
              <a:solidFill>
                <a:srgbClr val="27496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>
              <a:lnSpc>
                <a:spcPct val="150000"/>
              </a:lnSpc>
            </a:pPr>
            <a:r>
              <a:rPr lang="ja-JP" altLang="en-US" sz="5400" u="none" strike="noStrike" spc="-47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・</a:t>
            </a:r>
            <a:r>
              <a:rPr lang="en-US" altLang="ja-JP" sz="5400" spc="-47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WEB</a:t>
            </a:r>
            <a:r>
              <a:rPr lang="ja-JP" altLang="en-US" sz="5400" spc="-47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だけではなく、他のファイルからもデータベースを作成できる機能</a:t>
            </a:r>
            <a:r>
              <a:rPr lang="ja-JP" altLang="en-US" sz="5400" spc="-47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の追加</a:t>
            </a:r>
            <a:endParaRPr lang="en-US" altLang="ja-JP" sz="5400" spc="-47">
              <a:solidFill>
                <a:srgbClr val="27496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38200" y="1257300"/>
            <a:ext cx="15925800" cy="129022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ctr">
              <a:lnSpc>
                <a:spcPts val="9874"/>
              </a:lnSpc>
              <a:spcBef>
                <a:spcPct val="0"/>
              </a:spcBef>
            </a:pPr>
            <a:r>
              <a:rPr lang="ja-JP" altLang="en-US" sz="11800" spc="-197" dirty="0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プロジェクト最終目標</a:t>
            </a:r>
            <a:endParaRPr lang="en-US" sz="11800" u="none" strike="noStrike" spc="-197" dirty="0">
              <a:solidFill>
                <a:srgbClr val="497EA6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428144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34416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4722495"/>
            <a:chOff x="0" y="0"/>
            <a:chExt cx="11099800" cy="6296660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本チャットボットは、1URLから多情報を取得し、文脈に沿った柔軟な回答を提供します。これにより、利用者の理解を深められます。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0975"/>
              <a:ext cx="11099800" cy="3341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497EA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AIチャットボットの特徴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27496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利用者の理解を促進するアプローチ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97EA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5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8324850" cy="6267450"/>
            <a:chOff x="0" y="0"/>
            <a:chExt cx="2192553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650686"/>
            </a:xfrm>
            <a:custGeom>
              <a:avLst/>
              <a:gdLst/>
              <a:ahLst/>
              <a:cxnLst/>
              <a:rect l="l" t="t" r="r" b="b"/>
              <a:pathLst>
                <a:path w="2192553" h="1650686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3352800"/>
            <a:ext cx="8324850" cy="6267450"/>
            <a:chOff x="0" y="0"/>
            <a:chExt cx="2192553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2553" cy="1650686"/>
            </a:xfrm>
            <a:custGeom>
              <a:avLst/>
              <a:gdLst/>
              <a:ahLst/>
              <a:cxnLst/>
              <a:rect l="l" t="t" r="r" b="b"/>
              <a:pathLst>
                <a:path w="2192553" h="1650686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05025" y="828675"/>
            <a:ext cx="14077950" cy="2165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3"/>
              </a:lnSpc>
              <a:spcBef>
                <a:spcPct val="0"/>
              </a:spcBef>
            </a:pPr>
            <a:r>
              <a:rPr lang="en-US" sz="8393" u="none" strike="noStrike" spc="-167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AIチャットボット開発のプロセス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800225" y="4248150"/>
            <a:ext cx="5753100" cy="2036371"/>
            <a:chOff x="0" y="0"/>
            <a:chExt cx="7670800" cy="271516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55601"/>
              <a:ext cx="76708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Webスクレイピング技術を用いて、学校の公式サイトから最新情報を短文形式で効率的に抽出し、データベースに整理します。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767080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7496D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情報収集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77716" y="4248150"/>
            <a:ext cx="5705259" cy="2036371"/>
            <a:chOff x="0" y="0"/>
            <a:chExt cx="7607012" cy="2715161"/>
          </a:xfrm>
        </p:grpSpPr>
        <p:sp>
          <p:nvSpPr>
            <p:cNvPr id="13" name="TextBox 13"/>
            <p:cNvSpPr txBox="1"/>
            <p:nvPr/>
          </p:nvSpPr>
          <p:spPr>
            <a:xfrm>
              <a:off x="4934" y="1155601"/>
              <a:ext cx="7585392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AIが収集したデータを基に、情報をカテゴリ別に分類し、ユーザーが求める内容に応じた自然な応答を生成します。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7607012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27496D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カテゴリ分類</a:t>
              </a:r>
            </a:p>
          </p:txBody>
        </p:sp>
      </p:grpSp>
      <p:sp>
        <p:nvSpPr>
          <p:cNvPr id="15" name="Freeform 15"/>
          <p:cNvSpPr/>
          <p:nvPr/>
        </p:nvSpPr>
        <p:spPr>
          <a:xfrm flipH="1" flipV="1">
            <a:off x="16683209" y="3726256"/>
            <a:ext cx="1876083" cy="1497455"/>
          </a:xfrm>
          <a:custGeom>
            <a:avLst/>
            <a:gdLst/>
            <a:ahLst/>
            <a:cxnLst/>
            <a:rect l="l" t="t" r="r" b="b"/>
            <a:pathLst>
              <a:path w="1876083" h="1497455">
                <a:moveTo>
                  <a:pt x="1876082" y="1497455"/>
                </a:moveTo>
                <a:lnTo>
                  <a:pt x="0" y="1497455"/>
                </a:lnTo>
                <a:lnTo>
                  <a:pt x="0" y="0"/>
                </a:lnTo>
                <a:lnTo>
                  <a:pt x="1876082" y="0"/>
                </a:lnTo>
                <a:lnTo>
                  <a:pt x="1876082" y="14974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4217670"/>
            <a:chOff x="0" y="0"/>
            <a:chExt cx="11099800" cy="5623560"/>
          </a:xfrm>
        </p:grpSpPr>
        <p:sp>
          <p:nvSpPr>
            <p:cNvPr id="3" name="TextBox 3"/>
            <p:cNvSpPr txBox="1"/>
            <p:nvPr/>
          </p:nvSpPr>
          <p:spPr>
            <a:xfrm>
              <a:off x="0" y="35433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 spc="-48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UI画面のスクリーンショットでは、ユーザーが直感的に操作できるようデザインされたインターフェースを示しています。進捗状況を可視化するため、重要な機能が搭載されています。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0975"/>
              <a:ext cx="11099800" cy="3341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497EA6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フロントエンド進捗報告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97EA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274696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6963" cy="2709333"/>
            </a:xfrm>
            <a:custGeom>
              <a:avLst/>
              <a:gdLst/>
              <a:ahLst/>
              <a:cxnLst/>
              <a:rect l="l" t="t" r="r" b="b"/>
              <a:pathLst>
                <a:path w="2746963" h="270933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97EA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4696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934200"/>
            <a:ext cx="4010025" cy="2712720"/>
            <a:chOff x="0" y="0"/>
            <a:chExt cx="1056138" cy="7144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714461"/>
            </a:xfrm>
            <a:custGeom>
              <a:avLst/>
              <a:gdLst/>
              <a:ahLst/>
              <a:cxnLst/>
              <a:rect l="l" t="t" r="r" b="b"/>
              <a:pathLst>
                <a:path w="1056138" h="714461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637236"/>
                  </a:lnTo>
                  <a:cubicBezTo>
                    <a:pt x="1056138" y="679886"/>
                    <a:pt x="1021563" y="714461"/>
                    <a:pt x="978913" y="714461"/>
                  </a:cubicBezTo>
                  <a:lnTo>
                    <a:pt x="77226" y="714461"/>
                  </a:lnTo>
                  <a:cubicBezTo>
                    <a:pt x="34575" y="714461"/>
                    <a:pt x="0" y="679886"/>
                    <a:pt x="0" y="637236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056138" cy="743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611225" y="6934200"/>
            <a:ext cx="4010025" cy="2686050"/>
            <a:chOff x="0" y="0"/>
            <a:chExt cx="1056138" cy="7074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707437"/>
            </a:xfrm>
            <a:custGeom>
              <a:avLst/>
              <a:gdLst/>
              <a:ahLst/>
              <a:cxnLst/>
              <a:rect l="l" t="t" r="r" b="b"/>
              <a:pathLst>
                <a:path w="1056138" h="707437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630211"/>
                  </a:lnTo>
                  <a:cubicBezTo>
                    <a:pt x="1056138" y="672862"/>
                    <a:pt x="1021563" y="707437"/>
                    <a:pt x="978913" y="707437"/>
                  </a:cubicBezTo>
                  <a:lnTo>
                    <a:pt x="77226" y="707437"/>
                  </a:lnTo>
                  <a:cubicBezTo>
                    <a:pt x="34575" y="707437"/>
                    <a:pt x="0" y="672862"/>
                    <a:pt x="0" y="630211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056138" cy="736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66750"/>
            <a:ext cx="4010025" cy="5956430"/>
            <a:chOff x="0" y="0"/>
            <a:chExt cx="812800" cy="12073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207321"/>
            </a:xfrm>
            <a:custGeom>
              <a:avLst/>
              <a:gdLst/>
              <a:ahLst/>
              <a:cxnLst/>
              <a:rect l="l" t="t" r="r" b="b"/>
              <a:pathLst>
                <a:path w="812800" h="1207321">
                  <a:moveTo>
                    <a:pt x="77226" y="0"/>
                  </a:moveTo>
                  <a:lnTo>
                    <a:pt x="735574" y="0"/>
                  </a:lnTo>
                  <a:cubicBezTo>
                    <a:pt x="778225" y="0"/>
                    <a:pt x="812800" y="34575"/>
                    <a:pt x="812800" y="77226"/>
                  </a:cubicBezTo>
                  <a:lnTo>
                    <a:pt x="812800" y="1130095"/>
                  </a:lnTo>
                  <a:cubicBezTo>
                    <a:pt x="812800" y="1172746"/>
                    <a:pt x="778225" y="1207321"/>
                    <a:pt x="735574" y="1207321"/>
                  </a:cubicBezTo>
                  <a:lnTo>
                    <a:pt x="77226" y="1207321"/>
                  </a:lnTo>
                  <a:cubicBezTo>
                    <a:pt x="34575" y="1207321"/>
                    <a:pt x="0" y="1172746"/>
                    <a:pt x="0" y="1130095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2"/>
              <a:stretch>
                <a:fillRect t="-428" b="-428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3611225" y="666750"/>
            <a:ext cx="4010025" cy="5956430"/>
            <a:chOff x="0" y="0"/>
            <a:chExt cx="812800" cy="120732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207321"/>
            </a:xfrm>
            <a:custGeom>
              <a:avLst/>
              <a:gdLst/>
              <a:ahLst/>
              <a:cxnLst/>
              <a:rect l="l" t="t" r="r" b="b"/>
              <a:pathLst>
                <a:path w="812800" h="1207321">
                  <a:moveTo>
                    <a:pt x="77226" y="0"/>
                  </a:moveTo>
                  <a:lnTo>
                    <a:pt x="735574" y="0"/>
                  </a:lnTo>
                  <a:cubicBezTo>
                    <a:pt x="778225" y="0"/>
                    <a:pt x="812800" y="34575"/>
                    <a:pt x="812800" y="77226"/>
                  </a:cubicBezTo>
                  <a:lnTo>
                    <a:pt x="812800" y="1130095"/>
                  </a:lnTo>
                  <a:cubicBezTo>
                    <a:pt x="812800" y="1172746"/>
                    <a:pt x="778225" y="1207321"/>
                    <a:pt x="735574" y="1207321"/>
                  </a:cubicBezTo>
                  <a:lnTo>
                    <a:pt x="77226" y="1207321"/>
                  </a:lnTo>
                  <a:cubicBezTo>
                    <a:pt x="34575" y="1207321"/>
                    <a:pt x="0" y="1172746"/>
                    <a:pt x="0" y="1130095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3"/>
              <a:stretch>
                <a:fillRect t="-428" b="-428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66750" y="838200"/>
            <a:ext cx="6886575" cy="219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 dirty="0" err="1">
                <a:solidFill>
                  <a:srgbClr val="497EA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今後の課題と展望</a:t>
            </a:r>
            <a:endParaRPr lang="en-US" sz="8499" u="none" strike="noStrike" spc="-169" dirty="0">
              <a:solidFill>
                <a:srgbClr val="497EA6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9684671" y="7454265"/>
            <a:ext cx="3257550" cy="1672590"/>
            <a:chOff x="0" y="0"/>
            <a:chExt cx="4343400" cy="223012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0"/>
              <a:ext cx="4343400" cy="60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27496D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統合実装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136650"/>
              <a:ext cx="4343400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 err="1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フロントエンドとチャットボットの統合予定</a:t>
              </a:r>
              <a:endParaRPr lang="en-US" sz="2400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7462" y="7454265"/>
            <a:ext cx="3257550" cy="1672590"/>
            <a:chOff x="0" y="0"/>
            <a:chExt cx="4343400" cy="223012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0"/>
              <a:ext cx="4343400" cy="609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27496D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UX向上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136650"/>
              <a:ext cx="4343400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 err="1">
                  <a:solidFill>
                    <a:srgbClr val="27496D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利用者体験の改善施策を検討中</a:t>
              </a:r>
              <a:endParaRPr lang="en-US" sz="2400" dirty="0">
                <a:solidFill>
                  <a:srgbClr val="27496D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-700808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216</Words>
  <Application>Microsoft Office PowerPoint</Application>
  <PresentationFormat>Custom</PresentationFormat>
  <Paragraphs>66</Paragraphs>
  <Slides>13</Slides>
  <Notes>0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プレゼンテーション - AIチャットボット開発の進捗発表</dc:title>
  <dc:creator>cre</dc:creator>
  <dc:description>プレゼンテーション - AIチャットボット開発の進捗発表</dc:description>
  <cp:lastModifiedBy>岡本 篤希</cp:lastModifiedBy>
  <cp:revision>15</cp:revision>
  <dcterms:created xsi:type="dcterms:W3CDTF">2006-08-16T00:00:00Z</dcterms:created>
  <dcterms:modified xsi:type="dcterms:W3CDTF">2025-11-11T00:44:25Z</dcterms:modified>
  <dc:identifier>DAG3uf7bRk0</dc:identifier>
</cp:coreProperties>
</file>